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  <p:sldMasterId id="2147483655" r:id="rId4"/>
    <p:sldMasterId id="2147483657" r:id="rId5"/>
    <p:sldMasterId id="2147483658" r:id="rId6"/>
    <p:sldMasterId id="2147483659" r:id="rId7"/>
    <p:sldMasterId id="2147483660" r:id="rId8"/>
    <p:sldMasterId id="2147483661" r:id="rId9"/>
    <p:sldMasterId id="2147483662" r:id="rId10"/>
    <p:sldMasterId id="2147483663" r:id="rId11"/>
    <p:sldMasterId id="2147483664" r:id="rId12"/>
    <p:sldMasterId id="2147483665" r:id="rId13"/>
  </p:sldMasterIdLst>
  <p:sldIdLst>
    <p:sldId id="256" r:id="rId14"/>
    <p:sldId id="257" r:id="rId15"/>
    <p:sldId id="258" r:id="rId16"/>
    <p:sldId id="264" r:id="rId17"/>
    <p:sldId id="259" r:id="rId18"/>
    <p:sldId id="265" r:id="rId19"/>
    <p:sldId id="266" r:id="rId20"/>
    <p:sldId id="267" r:id="rId21"/>
    <p:sldId id="260" r:id="rId22"/>
    <p:sldId id="268" r:id="rId23"/>
    <p:sldId id="261" r:id="rId24"/>
    <p:sldId id="262" r:id="rId25"/>
    <p:sldId id="263" r:id="rId26"/>
  </p:sldIdLst>
  <p:sldSz cx="12193588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0" autoAdjust="0"/>
    <p:restoredTop sz="94660"/>
  </p:normalViewPr>
  <p:slideViewPr>
    <p:cSldViewPr snapToGrid="0">
      <p:cViewPr>
        <p:scale>
          <a:sx n="66" d="100"/>
          <a:sy n="66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C3867-8679-B760-B0F8-CAB2212CF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B36891-594A-41A7-F5AD-C9CCE61E9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DFC438-A472-6A39-87DB-B24A777D936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68E0F28-702F-4909-8BE5-CC46EE50BC2C}" type="slidenum">
              <a:rPr lang="es-419" sz="1300" b="0" strike="noStrike" spc="-1" smtClean="0">
                <a:solidFill>
                  <a:srgbClr val="FFFFFF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CDE3E-F998-E250-196F-9D96FC3F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735B10-8C5E-E2B0-6A42-94A272C6D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BBB60C-AE54-DDC4-17EC-091B27CEF0E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68E0F28-702F-4909-8BE5-CC46EE50BC2C}" type="slidenum">
              <a:rPr lang="es-419" sz="1300" b="0" strike="noStrike" spc="-1" smtClean="0">
                <a:solidFill>
                  <a:srgbClr val="FFFFFF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Master1-Layout1-titl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97400" y="2869920"/>
            <a:ext cx="10963800" cy="111852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F09975F-1DFE-457A-A996-FE8B8CB3A15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DC747-66CF-1F5A-F70D-9774CA336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20AE35-F8B3-441A-BBA3-E7A9C4807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ADDE06-3B36-AB97-64DA-7F74E011A76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68E0F28-702F-4909-8BE5-CC46EE50BC2C}" type="slidenum">
              <a:rPr lang="es-419" sz="1300" b="0" strike="noStrike" spc="-1" smtClean="0">
                <a:solidFill>
                  <a:srgbClr val="FFFFFF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Master1-Layout3-tx-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97400" y="2869920"/>
            <a:ext cx="10963800" cy="111852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140E340E-074B-4907-AEE4-694B0E5B22EC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15800" y="546840"/>
            <a:ext cx="11361960" cy="81036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15800" y="1639800"/>
            <a:ext cx="11361960" cy="44521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8E0F28-702F-4909-8BE5-CC46EE50BC2C}" type="slidenum">
              <a:rPr lang="es-419" sz="1300" b="0" strike="noStrike" spc="-1">
                <a:solidFill>
                  <a:srgbClr val="FFFFFF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;p2"/>
          <p:cNvSpPr/>
          <p:nvPr/>
        </p:nvSpPr>
        <p:spPr>
          <a:xfrm>
            <a:off x="5602320" y="-25200"/>
            <a:ext cx="6589800" cy="6908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326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Google Shape;11;p2"/>
          <p:cNvSpPr/>
          <p:nvPr/>
        </p:nvSpPr>
        <p:spPr>
          <a:xfrm>
            <a:off x="11248560" y="-9000"/>
            <a:ext cx="943560" cy="882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3C1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12;p2"/>
          <p:cNvSpPr/>
          <p:nvPr/>
        </p:nvSpPr>
        <p:spPr>
          <a:xfrm>
            <a:off x="10617480" y="552240"/>
            <a:ext cx="943560" cy="882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>
              <a:alpha val="88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906160" y="1887120"/>
            <a:ext cx="5776200" cy="15400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2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09C4472-C38D-4961-8E20-09D0B1E2235B}" type="slidenum">
              <a:rPr lang="es-419" sz="1300" b="0" strike="noStrike" spc="-1">
                <a:solidFill>
                  <a:srgbClr val="FFFFFF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Google Shape;16;p2"/>
          <p:cNvSpPr txBox="1"/>
          <p:nvPr/>
        </p:nvSpPr>
        <p:spPr>
          <a:xfrm>
            <a:off x="5906160" y="6428520"/>
            <a:ext cx="4240080" cy="338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419" sz="1600" b="1" i="1" strike="noStrike" spc="-1">
                <a:solidFill>
                  <a:srgbClr val="F3C133"/>
                </a:solidFill>
                <a:latin typeface="Calibri"/>
                <a:ea typeface="Calibri"/>
              </a:rPr>
              <a:t>Sé Íntegro, Sé Misionero, Sé Innovador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8;p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3264">
              <a:alpha val="91000"/>
            </a:srgbClr>
          </a:solidFill>
          <a:ln w="12600">
            <a:solidFill>
              <a:srgbClr val="005E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97400" y="2869920"/>
            <a:ext cx="10963800" cy="11185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3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031350-F900-476C-9E2D-7C697C45CC9B}" type="slidenum">
              <a:rPr lang="es-419" sz="1300" b="0" strike="noStrike" spc="-1">
                <a:solidFill>
                  <a:srgbClr val="FFFFFF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919880" y="294120"/>
            <a:ext cx="5754960" cy="7009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 anchorCtr="1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Google Shape;23;p4"/>
          <p:cNvPicPr/>
          <p:nvPr/>
        </p:nvPicPr>
        <p:blipFill>
          <a:blip r:embed="rId3"/>
          <a:stretch/>
        </p:blipFill>
        <p:spPr>
          <a:xfrm>
            <a:off x="10046520" y="6111000"/>
            <a:ext cx="1505520" cy="857880"/>
          </a:xfrm>
          <a:prstGeom prst="rect">
            <a:avLst/>
          </a:prstGeom>
          <a:ln w="25560">
            <a:noFill/>
          </a:ln>
        </p:spPr>
      </p:pic>
      <p:grpSp>
        <p:nvGrpSpPr>
          <p:cNvPr id="25" name="Google Shape;24;p4"/>
          <p:cNvGrpSpPr/>
          <p:nvPr/>
        </p:nvGrpSpPr>
        <p:grpSpPr>
          <a:xfrm>
            <a:off x="7716600" y="568440"/>
            <a:ext cx="4109760" cy="173160"/>
            <a:chOff x="7716600" y="568440"/>
            <a:chExt cx="4109760" cy="173160"/>
          </a:xfrm>
        </p:grpSpPr>
        <p:cxnSp>
          <p:nvCxnSpPr>
            <p:cNvPr id="26" name="Google Shape;25;p4"/>
            <p:cNvCxnSpPr>
              <a:endCxn id="27" idx="3"/>
            </p:cNvCxnSpPr>
            <p:nvPr/>
          </p:nvCxnSpPr>
          <p:spPr>
            <a:xfrm flipH="1">
              <a:off x="7803720" y="655200"/>
              <a:ext cx="4023000" cy="360"/>
            </a:xfrm>
            <a:prstGeom prst="straightConnector1">
              <a:avLst/>
            </a:prstGeom>
            <a:ln w="9360">
              <a:solidFill>
                <a:srgbClr val="637D9C"/>
              </a:solidFill>
              <a:miter/>
            </a:ln>
          </p:spPr>
        </p:cxnSp>
        <p:sp>
          <p:nvSpPr>
            <p:cNvPr id="27" name="Google Shape;26;p4"/>
            <p:cNvSpPr/>
            <p:nvPr/>
          </p:nvSpPr>
          <p:spPr>
            <a:xfrm>
              <a:off x="7716600" y="568440"/>
              <a:ext cx="86760" cy="1731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5707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 anchorCtr="1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8" name="Google Shape;27;p4"/>
          <p:cNvSpPr/>
          <p:nvPr/>
        </p:nvSpPr>
        <p:spPr>
          <a:xfrm>
            <a:off x="1191960" y="403560"/>
            <a:ext cx="591480" cy="591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326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Google Shape;28;p4"/>
          <p:cNvSpPr/>
          <p:nvPr/>
        </p:nvSpPr>
        <p:spPr>
          <a:xfrm>
            <a:off x="802080" y="180360"/>
            <a:ext cx="591480" cy="591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3C133">
              <a:alpha val="8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Google Shape;29;p4"/>
          <p:cNvSpPr txBox="1"/>
          <p:nvPr/>
        </p:nvSpPr>
        <p:spPr>
          <a:xfrm>
            <a:off x="172440" y="6375960"/>
            <a:ext cx="5082120" cy="369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419" sz="1800" b="1" i="1" strike="noStrike" spc="-1">
                <a:solidFill>
                  <a:srgbClr val="004692"/>
                </a:solidFill>
                <a:latin typeface="Calibri"/>
                <a:ea typeface="Calibri"/>
              </a:rPr>
              <a:t>Sé</a:t>
            </a:r>
            <a:r>
              <a:rPr lang="es-419" sz="1800" b="1" i="1" strike="noStrike" spc="-1">
                <a:solidFill>
                  <a:srgbClr val="F3C133"/>
                </a:solidFill>
                <a:latin typeface="Calibri"/>
                <a:ea typeface="Calibri"/>
              </a:rPr>
              <a:t> Íntegro, </a:t>
            </a:r>
            <a:r>
              <a:rPr lang="es-419" sz="1800" b="1" i="1" strike="noStrike" spc="-1">
                <a:solidFill>
                  <a:srgbClr val="004692"/>
                </a:solidFill>
                <a:latin typeface="Calibri"/>
                <a:ea typeface="Calibri"/>
              </a:rPr>
              <a:t>Sé</a:t>
            </a:r>
            <a:r>
              <a:rPr lang="es-419" sz="1800" b="1" i="1" strike="noStrike" spc="-1">
                <a:solidFill>
                  <a:srgbClr val="F3C133"/>
                </a:solidFill>
                <a:latin typeface="Calibri"/>
                <a:ea typeface="Calibri"/>
              </a:rPr>
              <a:t> Misionero, </a:t>
            </a:r>
            <a:r>
              <a:rPr lang="es-419" sz="1800" b="1" i="1" strike="noStrike" spc="-1">
                <a:solidFill>
                  <a:srgbClr val="004692"/>
                </a:solidFill>
                <a:latin typeface="Calibri"/>
                <a:ea typeface="Calibri"/>
              </a:rPr>
              <a:t>Sé</a:t>
            </a:r>
            <a:r>
              <a:rPr lang="es-419" sz="1800" b="1" i="1" strike="noStrike" spc="-1">
                <a:solidFill>
                  <a:srgbClr val="F3C133"/>
                </a:solidFill>
                <a:latin typeface="Calibri"/>
                <a:ea typeface="Calibri"/>
              </a:rPr>
              <a:t> Innovador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Google Shape;30;p4"/>
          <p:cNvSpPr/>
          <p:nvPr/>
        </p:nvSpPr>
        <p:spPr>
          <a:xfrm>
            <a:off x="11826000" y="5527800"/>
            <a:ext cx="366120" cy="1348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326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15800" y="1189800"/>
            <a:ext cx="11361960" cy="49021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4"/>
          </p:nvPr>
        </p:nvSpPr>
        <p:spPr>
          <a:xfrm>
            <a:off x="5730840" y="63745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999999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B122D7-80A2-4B97-B0AD-9B1A59E5EE5A}" type="slidenum">
              <a:rPr lang="es-419" sz="1300" b="0" strike="noStrike" spc="-1">
                <a:solidFill>
                  <a:srgbClr val="999999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15800" y="546840"/>
            <a:ext cx="11361960" cy="81036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15800" y="1639800"/>
            <a:ext cx="5333760" cy="44521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444000" y="1639800"/>
            <a:ext cx="5333760" cy="44521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5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434343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D3ACB2-BDF6-4CE0-9D2B-F4032BE04C49}" type="slidenum">
              <a:rPr lang="es-419" sz="1300" b="0" strike="noStrike" spc="-1">
                <a:solidFill>
                  <a:srgbClr val="434343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15800" y="546840"/>
            <a:ext cx="11361960" cy="81036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6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434343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739744-FA78-4BDF-BE3C-17A56FD39E84}" type="slidenum">
              <a:rPr lang="es-419" sz="1300" b="0" strike="noStrike" spc="-1">
                <a:solidFill>
                  <a:srgbClr val="434343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15800" y="740880"/>
            <a:ext cx="3744360" cy="100764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b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15800" y="1954440"/>
            <a:ext cx="3744360" cy="41374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7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434343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7A9553-BFFD-45AE-A473-F852B3487DA1}" type="slidenum">
              <a:rPr lang="es-419" sz="1300" b="0" strike="noStrike" spc="-1">
                <a:solidFill>
                  <a:srgbClr val="434343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8"/>
          <p:cNvGrpSpPr/>
          <p:nvPr/>
        </p:nvGrpSpPr>
        <p:grpSpPr>
          <a:xfrm>
            <a:off x="8131680" y="0"/>
            <a:ext cx="4060800" cy="2707200"/>
            <a:chOff x="8131680" y="0"/>
            <a:chExt cx="4060800" cy="2707200"/>
          </a:xfrm>
        </p:grpSpPr>
        <p:sp>
          <p:nvSpPr>
            <p:cNvPr id="47" name="Google Shape;47;p8"/>
            <p:cNvSpPr/>
            <p:nvPr/>
          </p:nvSpPr>
          <p:spPr>
            <a:xfrm>
              <a:off x="10838880" y="0"/>
              <a:ext cx="1353600" cy="1353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9C254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080" tIns="118080" rIns="118080" bIns="118080" anchor="ctr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Google Shape;48;p8"/>
            <p:cNvSpPr/>
            <p:nvPr/>
          </p:nvSpPr>
          <p:spPr>
            <a:xfrm flipH="1">
              <a:off x="9484920" y="0"/>
              <a:ext cx="1353600" cy="1353600"/>
            </a:xfrm>
            <a:custGeom>
              <a:avLst/>
              <a:gdLst>
                <a:gd name="textAreaLeft" fmla="*/ 112680 w 1353600"/>
                <a:gd name="textAreaRight" fmla="*/ 789480 w 1353600"/>
                <a:gd name="textAreaTop" fmla="*/ 789480 h 1353600"/>
                <a:gd name="textAreaBottom" fmla="*/ 1240920 h 1353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0629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080" tIns="118080" rIns="118080" bIns="118080" anchor="ctr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 rot="10800000" flipH="1">
              <a:off x="9485280" y="0"/>
              <a:ext cx="1353600" cy="1353600"/>
            </a:xfrm>
            <a:custGeom>
              <a:avLst/>
              <a:gdLst>
                <a:gd name="textAreaLeft" fmla="*/ 112680 w 1353600"/>
                <a:gd name="textAreaRight" fmla="*/ 789480 w 1353600"/>
                <a:gd name="textAreaTop" fmla="*/ 789480 h 1353600"/>
                <a:gd name="textAreaBottom" fmla="*/ 1240920 h 1353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9C254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080" tIns="118080" rIns="118080" bIns="118080" anchor="ctr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" name="Google Shape;50;p8"/>
            <p:cNvSpPr/>
            <p:nvPr/>
          </p:nvSpPr>
          <p:spPr>
            <a:xfrm rot="10800000">
              <a:off x="8131680" y="0"/>
              <a:ext cx="1353600" cy="1353600"/>
            </a:xfrm>
            <a:custGeom>
              <a:avLst/>
              <a:gdLst>
                <a:gd name="textAreaLeft" fmla="*/ 112680 w 1353600"/>
                <a:gd name="textAreaRight" fmla="*/ 789480 w 1353600"/>
                <a:gd name="textAreaTop" fmla="*/ 789480 h 1353600"/>
                <a:gd name="textAreaBottom" fmla="*/ 1240920 h 1353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0629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080" tIns="118080" rIns="118080" bIns="118080" anchor="ctr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Google Shape;51;p8"/>
            <p:cNvSpPr/>
            <p:nvPr/>
          </p:nvSpPr>
          <p:spPr>
            <a:xfrm rot="10800000">
              <a:off x="10838880" y="1353240"/>
              <a:ext cx="1353600" cy="1353600"/>
            </a:xfrm>
            <a:custGeom>
              <a:avLst/>
              <a:gdLst>
                <a:gd name="textAreaLeft" fmla="*/ 112680 w 1353600"/>
                <a:gd name="textAreaRight" fmla="*/ 789480 w 1353600"/>
                <a:gd name="textAreaTop" fmla="*/ 789480 h 1353600"/>
                <a:gd name="textAreaBottom" fmla="*/ 1240920 h 1353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0629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080" tIns="118080" rIns="118080" bIns="118080" anchor="ctr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53760" y="701640"/>
            <a:ext cx="7492320" cy="545436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8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310E67-DBF1-4F60-AB0F-8DFF3CFD8DD2}" type="slidenum">
              <a:rPr lang="es-419" sz="1300" b="0" strike="noStrike" spc="-1">
                <a:solidFill>
                  <a:srgbClr val="FFFFFF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5;p9"/>
          <p:cNvSpPr/>
          <p:nvPr/>
        </p:nvSpPr>
        <p:spPr>
          <a:xfrm>
            <a:off x="6096600" y="-360"/>
            <a:ext cx="6096600" cy="685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A399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080" tIns="118080" rIns="118080" bIns="11808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5" name="Google Shape;56;p9"/>
          <p:cNvCxnSpPr/>
          <p:nvPr/>
        </p:nvCxnSpPr>
        <p:spPr>
          <a:xfrm>
            <a:off x="6706800" y="5994000"/>
            <a:ext cx="624960" cy="360"/>
          </a:xfrm>
          <a:prstGeom prst="straightConnector1">
            <a:avLst/>
          </a:prstGeom>
          <a:ln w="19080">
            <a:solidFill>
              <a:srgbClr val="FFFFFF"/>
            </a:solidFill>
            <a:round/>
          </a:ln>
        </p:spPr>
      </p:cxn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53880" y="1534680"/>
            <a:ext cx="5393880" cy="208584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b" anchorCtr="1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586560" y="965520"/>
            <a:ext cx="5116320" cy="492696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9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EF658F-9C16-4ECD-8D16-80A09CA2512B}" type="slidenum">
              <a:rPr lang="es-419" sz="1300" b="0" strike="noStrike" spc="-1">
                <a:solidFill>
                  <a:srgbClr val="FFFFFF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425880" y="5640840"/>
            <a:ext cx="7999200" cy="7984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10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434343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3F03ED-807C-42A9-A2CD-9C3300EF7CC5}" type="slidenum">
              <a:rPr lang="es-419" sz="1300" b="0" strike="noStrike" spc="-1">
                <a:solidFill>
                  <a:srgbClr val="434343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5;p11"/>
          <p:cNvGrpSpPr/>
          <p:nvPr/>
        </p:nvGrpSpPr>
        <p:grpSpPr>
          <a:xfrm>
            <a:off x="8131680" y="0"/>
            <a:ext cx="4060800" cy="2707200"/>
            <a:chOff x="8131680" y="0"/>
            <a:chExt cx="4060800" cy="2707200"/>
          </a:xfrm>
        </p:grpSpPr>
        <p:sp>
          <p:nvSpPr>
            <p:cNvPr id="62" name="Google Shape;66;p11"/>
            <p:cNvSpPr/>
            <p:nvPr/>
          </p:nvSpPr>
          <p:spPr>
            <a:xfrm>
              <a:off x="10838880" y="0"/>
              <a:ext cx="1353600" cy="1353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12D7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080" tIns="118080" rIns="118080" bIns="118080" anchor="ctr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" name="Google Shape;67;p11"/>
            <p:cNvSpPr/>
            <p:nvPr/>
          </p:nvSpPr>
          <p:spPr>
            <a:xfrm flipH="1">
              <a:off x="9484920" y="0"/>
              <a:ext cx="1353600" cy="1353600"/>
            </a:xfrm>
            <a:custGeom>
              <a:avLst/>
              <a:gdLst>
                <a:gd name="textAreaLeft" fmla="*/ 112680 w 1353600"/>
                <a:gd name="textAreaRight" fmla="*/ 789480 w 1353600"/>
                <a:gd name="textAreaTop" fmla="*/ 789480 h 1353600"/>
                <a:gd name="textAreaBottom" fmla="*/ 1240920 h 1353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3949A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080" tIns="118080" rIns="118080" bIns="118080" anchor="ctr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" name="Google Shape;68;p11"/>
            <p:cNvSpPr/>
            <p:nvPr/>
          </p:nvSpPr>
          <p:spPr>
            <a:xfrm rot="10800000" flipH="1">
              <a:off x="9485280" y="0"/>
              <a:ext cx="1353600" cy="1353600"/>
            </a:xfrm>
            <a:custGeom>
              <a:avLst/>
              <a:gdLst>
                <a:gd name="textAreaLeft" fmla="*/ 112680 w 1353600"/>
                <a:gd name="textAreaRight" fmla="*/ 789480 w 1353600"/>
                <a:gd name="textAreaTop" fmla="*/ 789480 h 1353600"/>
                <a:gd name="textAreaBottom" fmla="*/ 1240920 h 1353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7890C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080" tIns="118080" rIns="118080" bIns="118080" anchor="ctr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" name="Google Shape;69;p11"/>
            <p:cNvSpPr/>
            <p:nvPr/>
          </p:nvSpPr>
          <p:spPr>
            <a:xfrm rot="10800000">
              <a:off x="8131680" y="0"/>
              <a:ext cx="1353600" cy="1353600"/>
            </a:xfrm>
            <a:custGeom>
              <a:avLst/>
              <a:gdLst>
                <a:gd name="textAreaLeft" fmla="*/ 112680 w 1353600"/>
                <a:gd name="textAreaRight" fmla="*/ 789480 w 1353600"/>
                <a:gd name="textAreaTop" fmla="*/ 789480 h 1353600"/>
                <a:gd name="textAreaBottom" fmla="*/ 1240920 h 1353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212D7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080" tIns="118080" rIns="118080" bIns="118080" anchor="ctr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" name="Google Shape;70;p11"/>
            <p:cNvSpPr/>
            <p:nvPr/>
          </p:nvSpPr>
          <p:spPr>
            <a:xfrm rot="10800000">
              <a:off x="10838880" y="1353240"/>
              <a:ext cx="1353600" cy="1353600"/>
            </a:xfrm>
            <a:custGeom>
              <a:avLst/>
              <a:gdLst>
                <a:gd name="textAreaLeft" fmla="*/ 112680 w 1353600"/>
                <a:gd name="textAreaRight" fmla="*/ 789480 w 1353600"/>
                <a:gd name="textAreaTop" fmla="*/ 789480 h 1353600"/>
                <a:gd name="textAreaBottom" fmla="*/ 1240920 h 1353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7890C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080" tIns="118080" rIns="118080" bIns="118080" anchor="ctr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15800" y="1674720"/>
            <a:ext cx="11361960" cy="270756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b" anchorCtr="1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15500" b="0" strike="noStrike" spc="-1">
                <a:solidFill>
                  <a:srgbClr val="FFFFFF"/>
                </a:solidFill>
                <a:latin typeface="Roboto"/>
                <a:ea typeface="Roboto"/>
              </a:rPr>
              <a:t>xx%</a:t>
            </a:r>
            <a:endParaRPr lang="en-US" sz="15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15800" y="4492440"/>
            <a:ext cx="11361960" cy="17092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 anchorCtr="1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11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4A876A-2F6D-4370-8B26-1D828AC7DDCA}" type="slidenum">
              <a:rPr lang="es-419" sz="1300" b="0" strike="noStrike" spc="-1">
                <a:solidFill>
                  <a:srgbClr val="FFFFFF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Num" idx="12"/>
          </p:nvPr>
        </p:nvSpPr>
        <p:spPr>
          <a:xfrm>
            <a:off x="11281680" y="6201720"/>
            <a:ext cx="731520" cy="5248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300" b="0" strike="noStrike" spc="-1">
                <a:solidFill>
                  <a:srgbClr val="434343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1C10D4-6DB1-417F-A1E7-EB9F9DC97D40}" type="slidenum">
              <a:rPr lang="es-419" sz="1300" b="0" strike="noStrike" spc="-1">
                <a:solidFill>
                  <a:srgbClr val="434343"/>
                </a:solidFill>
                <a:latin typeface="Roboto"/>
                <a:ea typeface="Roboto"/>
              </a:rPr>
              <a:t>‹Nº›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440" y="696600"/>
            <a:ext cx="9362520" cy="99396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b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838440" y="1825560"/>
            <a:ext cx="9362520" cy="395460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13"/>
          </p:nvPr>
        </p:nvSpPr>
        <p:spPr>
          <a:xfrm>
            <a:off x="838440" y="6356520"/>
            <a:ext cx="2743560" cy="365040"/>
          </a:xfrm>
          <a:prstGeom prst="rect">
            <a:avLst/>
          </a:prstGeom>
          <a:noFill/>
          <a:ln w="2556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14"/>
          </p:nvPr>
        </p:nvSpPr>
        <p:spPr>
          <a:xfrm>
            <a:off x="4038840" y="6356520"/>
            <a:ext cx="4115160" cy="365040"/>
          </a:xfrm>
          <a:prstGeom prst="rect">
            <a:avLst/>
          </a:prstGeom>
          <a:noFill/>
          <a:ln w="25560">
            <a:noFill/>
          </a:ln>
        </p:spPr>
        <p:txBody>
          <a:bodyPr lIns="91440" tIns="91440" rIns="91440" bIns="91440" anchor="ctr" anchorCtr="1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15"/>
          </p:nvPr>
        </p:nvSpPr>
        <p:spPr>
          <a:xfrm>
            <a:off x="8611560" y="6356520"/>
            <a:ext cx="2743560" cy="365040"/>
          </a:xfrm>
          <a:prstGeom prst="rect">
            <a:avLst/>
          </a:prstGeom>
          <a:noFill/>
          <a:ln w="2556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s-419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254A24-9BF2-46A5-8D27-745C341D6616}" type="slidenum">
              <a:rPr lang="es-419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906160" y="1887120"/>
            <a:ext cx="5776200" cy="15400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s-419" sz="2800" b="1" strike="noStrike" spc="-1">
                <a:solidFill>
                  <a:srgbClr val="F3C133"/>
                </a:solidFill>
                <a:latin typeface="Calibri"/>
                <a:ea typeface="Calibri"/>
              </a:rPr>
              <a:t>Adaptación Dinámica de Interfaces Empresariales con GRU y DQN bajo Restricciones RBAC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5906160" y="4639320"/>
            <a:ext cx="5725440" cy="57708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s-419" sz="1500" b="0" strike="noStrike" spc="-1">
                <a:solidFill>
                  <a:srgbClr val="FFFFFF"/>
                </a:solidFill>
                <a:latin typeface="Calibri"/>
                <a:ea typeface="Calibri"/>
              </a:rPr>
              <a:t>Gutierrez Anco Yesenia Alejandra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s-419" sz="1500" b="0" strike="noStrike" spc="-1">
                <a:solidFill>
                  <a:srgbClr val="FFFFFF"/>
                </a:solidFill>
                <a:latin typeface="Calibri"/>
                <a:ea typeface="Calibri"/>
              </a:rPr>
              <a:t>Quispe Huarilloclla Jhosef Antony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s-419" sz="1500" b="0" strike="noStrike" spc="-1">
                <a:solidFill>
                  <a:srgbClr val="FFFFFF"/>
                </a:solidFill>
                <a:latin typeface="Calibri"/>
                <a:ea typeface="Calibri"/>
              </a:rPr>
              <a:t>Turpo Cauna Jose Samuel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Google Shape;88;p14"/>
          <p:cNvPicPr/>
          <p:nvPr/>
        </p:nvPicPr>
        <p:blipFill>
          <a:blip r:embed="rId2">
            <a:alphaModFix amt="50000"/>
          </a:blip>
          <a:srcRect l="55497" t="4706" b="10751"/>
          <a:stretch/>
        </p:blipFill>
        <p:spPr>
          <a:xfrm>
            <a:off x="0" y="0"/>
            <a:ext cx="5602320" cy="6883200"/>
          </a:xfrm>
          <a:prstGeom prst="rect">
            <a:avLst/>
          </a:prstGeom>
          <a:ln w="25560">
            <a:noFill/>
          </a:ln>
        </p:spPr>
      </p:pic>
      <p:sp>
        <p:nvSpPr>
          <p:cNvPr id="79" name="Google Shape;89;p14"/>
          <p:cNvSpPr/>
          <p:nvPr/>
        </p:nvSpPr>
        <p:spPr>
          <a:xfrm>
            <a:off x="8280" y="-25200"/>
            <a:ext cx="5585400" cy="6908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Google Shape;90;p14"/>
          <p:cNvPicPr/>
          <p:nvPr/>
        </p:nvPicPr>
        <p:blipFill>
          <a:blip r:embed="rId3"/>
          <a:stretch/>
        </p:blipFill>
        <p:spPr>
          <a:xfrm>
            <a:off x="110520" y="349920"/>
            <a:ext cx="1464120" cy="829800"/>
          </a:xfrm>
          <a:prstGeom prst="rect">
            <a:avLst/>
          </a:prstGeom>
          <a:ln w="2556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97400" y="2869920"/>
            <a:ext cx="10963800" cy="11185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Google Shape;114;p16"/>
          <p:cNvPicPr/>
          <p:nvPr/>
        </p:nvPicPr>
        <p:blipFill>
          <a:blip r:embed="rId3"/>
          <a:stretch/>
        </p:blipFill>
        <p:spPr>
          <a:xfrm>
            <a:off x="0" y="0"/>
            <a:ext cx="12188520" cy="6858000"/>
          </a:xfrm>
          <a:prstGeom prst="rect">
            <a:avLst/>
          </a:prstGeom>
          <a:ln w="25560">
            <a:noFill/>
          </a:ln>
        </p:spPr>
      </p:pic>
      <p:sp>
        <p:nvSpPr>
          <p:cNvPr id="83" name="Google Shape;115;p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3264">
              <a:alpha val="91000"/>
            </a:srgbClr>
          </a:solidFill>
          <a:ln w="12600">
            <a:solidFill>
              <a:srgbClr val="005E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Google Shape;116;p16"/>
          <p:cNvSpPr/>
          <p:nvPr/>
        </p:nvSpPr>
        <p:spPr>
          <a:xfrm>
            <a:off x="-15480" y="0"/>
            <a:ext cx="7044480" cy="6892560"/>
          </a:xfrm>
          <a:custGeom>
            <a:avLst/>
            <a:gdLst>
              <a:gd name="textAreaLeft" fmla="*/ 0 w 7044480"/>
              <a:gd name="textAreaRight" fmla="*/ 7044840 w 7044480"/>
              <a:gd name="textAreaTop" fmla="*/ 0 h 6892560"/>
              <a:gd name="textAreaBottom" fmla="*/ 6892920 h 6892560"/>
            </a:gdLst>
            <a:ahLst/>
            <a:cxnLst/>
            <a:rect l="textAreaLeft" t="textAreaTop" r="textAreaRight" b="textAreaBottom"/>
            <a:pathLst>
              <a:path w="7044591" h="6892724">
                <a:moveTo>
                  <a:pt x="3281855" y="12700"/>
                </a:moveTo>
                <a:lnTo>
                  <a:pt x="7044591" y="0"/>
                </a:lnTo>
                <a:cubicBezTo>
                  <a:pt x="7036124" y="16933"/>
                  <a:pt x="2877011" y="6878041"/>
                  <a:pt x="2881244" y="6869574"/>
                </a:cubicBezTo>
                <a:lnTo>
                  <a:pt x="272" y="6892724"/>
                </a:lnTo>
                <a:cubicBezTo>
                  <a:pt x="-3211" y="6336925"/>
                  <a:pt x="28029" y="5063495"/>
                  <a:pt x="24546" y="4507696"/>
                </a:cubicBezTo>
                <a:lnTo>
                  <a:pt x="3281855" y="127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117;p16"/>
          <p:cNvSpPr/>
          <p:nvPr/>
        </p:nvSpPr>
        <p:spPr>
          <a:xfrm>
            <a:off x="6299640" y="1045440"/>
            <a:ext cx="643680" cy="636480"/>
          </a:xfrm>
          <a:custGeom>
            <a:avLst/>
            <a:gdLst>
              <a:gd name="textAreaLeft" fmla="*/ 93960 w 643680"/>
              <a:gd name="textAreaRight" fmla="*/ 549720 w 643680"/>
              <a:gd name="textAreaTop" fmla="*/ 93240 h 636480"/>
              <a:gd name="textAreaBottom" fmla="*/ 543240 h 636480"/>
            </a:gdLst>
            <a:ahLst/>
            <a:cxnLst/>
            <a:rect l="textAreaLeft" t="textAreaTop" r="textAreaRight" b="textAreaBottom"/>
            <a:pathLst>
              <a:path w="21844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922" hR="10800" stAng="-10800000" swAng="21550000"/>
                <a:close/>
              </a:path>
            </a:pathLst>
          </a:custGeom>
          <a:solidFill>
            <a:srgbClr val="FFC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3600" b="1" strike="noStrike" spc="-1">
                <a:solidFill>
                  <a:srgbClr val="003264"/>
                </a:solidFill>
                <a:latin typeface="Montserrat"/>
                <a:ea typeface="Montserrat"/>
              </a:rPr>
              <a:t>1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18;p16"/>
          <p:cNvSpPr/>
          <p:nvPr/>
        </p:nvSpPr>
        <p:spPr>
          <a:xfrm>
            <a:off x="6294960" y="2017800"/>
            <a:ext cx="643680" cy="636480"/>
          </a:xfrm>
          <a:custGeom>
            <a:avLst/>
            <a:gdLst>
              <a:gd name="textAreaLeft" fmla="*/ 93960 w 643680"/>
              <a:gd name="textAreaRight" fmla="*/ 549720 w 643680"/>
              <a:gd name="textAreaTop" fmla="*/ 93240 h 636480"/>
              <a:gd name="textAreaBottom" fmla="*/ 543240 h 636480"/>
            </a:gdLst>
            <a:ahLst/>
            <a:cxnLst/>
            <a:rect l="textAreaLeft" t="textAreaTop" r="textAreaRight" b="textAreaBottom"/>
            <a:pathLst>
              <a:path w="21844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922" hR="10800" stAng="-10800000" swAng="21550000"/>
                <a:close/>
              </a:path>
            </a:pathLst>
          </a:custGeom>
          <a:solidFill>
            <a:srgbClr val="FFC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3600" b="1" strike="noStrike" spc="-1">
                <a:solidFill>
                  <a:srgbClr val="003264"/>
                </a:solidFill>
                <a:latin typeface="Montserrat"/>
                <a:ea typeface="Montserrat"/>
              </a:rPr>
              <a:t>2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19;p16"/>
          <p:cNvSpPr/>
          <p:nvPr/>
        </p:nvSpPr>
        <p:spPr>
          <a:xfrm>
            <a:off x="6294960" y="3099240"/>
            <a:ext cx="643680" cy="636480"/>
          </a:xfrm>
          <a:custGeom>
            <a:avLst/>
            <a:gdLst>
              <a:gd name="textAreaLeft" fmla="*/ 93960 w 643680"/>
              <a:gd name="textAreaRight" fmla="*/ 549720 w 643680"/>
              <a:gd name="textAreaTop" fmla="*/ 93240 h 636480"/>
              <a:gd name="textAreaBottom" fmla="*/ 543240 h 636480"/>
            </a:gdLst>
            <a:ahLst/>
            <a:cxnLst/>
            <a:rect l="textAreaLeft" t="textAreaTop" r="textAreaRight" b="textAreaBottom"/>
            <a:pathLst>
              <a:path w="21844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922" hR="10800" stAng="-10800000" swAng="21550000"/>
                <a:close/>
              </a:path>
            </a:pathLst>
          </a:custGeom>
          <a:solidFill>
            <a:srgbClr val="FFC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3600" b="1" strike="noStrike" spc="-1">
                <a:solidFill>
                  <a:srgbClr val="003264"/>
                </a:solidFill>
                <a:latin typeface="Montserrat"/>
                <a:ea typeface="Montserrat"/>
              </a:rPr>
              <a:t>3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20;p16"/>
          <p:cNvSpPr/>
          <p:nvPr/>
        </p:nvSpPr>
        <p:spPr>
          <a:xfrm>
            <a:off x="6337800" y="4096440"/>
            <a:ext cx="643680" cy="636480"/>
          </a:xfrm>
          <a:custGeom>
            <a:avLst/>
            <a:gdLst>
              <a:gd name="textAreaLeft" fmla="*/ 93960 w 643680"/>
              <a:gd name="textAreaRight" fmla="*/ 549720 w 643680"/>
              <a:gd name="textAreaTop" fmla="*/ 93240 h 636480"/>
              <a:gd name="textAreaBottom" fmla="*/ 543240 h 636480"/>
            </a:gdLst>
            <a:ahLst/>
            <a:cxnLst/>
            <a:rect l="textAreaLeft" t="textAreaTop" r="textAreaRight" b="textAreaBottom"/>
            <a:pathLst>
              <a:path w="21844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922" hR="10800" stAng="-10800000" swAng="21550000"/>
                <a:close/>
              </a:path>
            </a:pathLst>
          </a:custGeom>
          <a:solidFill>
            <a:srgbClr val="FFC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3600" b="1" strike="noStrike" spc="-1">
                <a:solidFill>
                  <a:srgbClr val="003264"/>
                </a:solidFill>
                <a:latin typeface="Montserrat"/>
                <a:ea typeface="Montserrat"/>
              </a:rPr>
              <a:t>4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21;p16"/>
          <p:cNvSpPr txBox="1"/>
          <p:nvPr/>
        </p:nvSpPr>
        <p:spPr>
          <a:xfrm>
            <a:off x="7212960" y="1071360"/>
            <a:ext cx="4264920" cy="58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419" sz="3200" b="0" strike="noStrike" spc="-1">
                <a:solidFill>
                  <a:srgbClr val="F3C133"/>
                </a:solidFill>
                <a:latin typeface="Montserrat"/>
                <a:ea typeface="Montserrat"/>
              </a:rPr>
              <a:t>Introducción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22;p16"/>
          <p:cNvSpPr txBox="1"/>
          <p:nvPr/>
        </p:nvSpPr>
        <p:spPr>
          <a:xfrm>
            <a:off x="7212960" y="2028600"/>
            <a:ext cx="4264920" cy="58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419" sz="3200" b="0" strike="noStrike" spc="-1">
                <a:solidFill>
                  <a:srgbClr val="F3C133"/>
                </a:solidFill>
                <a:latin typeface="Montserrat"/>
                <a:ea typeface="Montserrat"/>
              </a:rPr>
              <a:t>Metodología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23;p16"/>
          <p:cNvSpPr txBox="1"/>
          <p:nvPr/>
        </p:nvSpPr>
        <p:spPr>
          <a:xfrm>
            <a:off x="7212960" y="3048840"/>
            <a:ext cx="4264920" cy="58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419" sz="3200" b="0" strike="noStrike" spc="-1">
                <a:solidFill>
                  <a:srgbClr val="F3C133"/>
                </a:solidFill>
                <a:latin typeface="Montserrat"/>
                <a:ea typeface="Montserrat"/>
              </a:rPr>
              <a:t>Resultados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24;p16"/>
          <p:cNvSpPr txBox="1"/>
          <p:nvPr/>
        </p:nvSpPr>
        <p:spPr>
          <a:xfrm>
            <a:off x="7212960" y="4098960"/>
            <a:ext cx="4264920" cy="58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419" sz="3200" b="0" strike="noStrike" spc="-1">
                <a:solidFill>
                  <a:srgbClr val="F3C133"/>
                </a:solidFill>
                <a:latin typeface="Montserrat"/>
                <a:ea typeface="Montserrat"/>
              </a:rPr>
              <a:t>Conclusiones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25;p16"/>
          <p:cNvSpPr/>
          <p:nvPr/>
        </p:nvSpPr>
        <p:spPr>
          <a:xfrm>
            <a:off x="6337800" y="5087160"/>
            <a:ext cx="643680" cy="636480"/>
          </a:xfrm>
          <a:custGeom>
            <a:avLst/>
            <a:gdLst>
              <a:gd name="textAreaLeft" fmla="*/ 93960 w 643680"/>
              <a:gd name="textAreaRight" fmla="*/ 549720 w 643680"/>
              <a:gd name="textAreaTop" fmla="*/ 93240 h 636480"/>
              <a:gd name="textAreaBottom" fmla="*/ 543240 h 636480"/>
            </a:gdLst>
            <a:ahLst/>
            <a:cxnLst/>
            <a:rect l="textAreaLeft" t="textAreaTop" r="textAreaRight" b="textAreaBottom"/>
            <a:pathLst>
              <a:path w="21844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922" hR="10800" stAng="-10800000" swAng="21550000"/>
                <a:close/>
              </a:path>
            </a:pathLst>
          </a:custGeom>
          <a:solidFill>
            <a:srgbClr val="FFC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3600" b="1" strike="noStrike" spc="-1">
                <a:solidFill>
                  <a:srgbClr val="003264"/>
                </a:solidFill>
                <a:latin typeface="Montserrat"/>
                <a:ea typeface="Montserrat"/>
              </a:rPr>
              <a:t>5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26;p16"/>
          <p:cNvSpPr txBox="1"/>
          <p:nvPr/>
        </p:nvSpPr>
        <p:spPr>
          <a:xfrm>
            <a:off x="7212960" y="5087160"/>
            <a:ext cx="4264920" cy="1569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419" sz="3200" b="0" strike="noStrike" spc="-1">
                <a:solidFill>
                  <a:srgbClr val="F3C133"/>
                </a:solidFill>
                <a:latin typeface="Montserrat"/>
                <a:ea typeface="Montserrat"/>
              </a:rPr>
              <a:t>Anexos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"/>
          <p:cNvSpPr>
            <a:spLocks noGrp="1"/>
          </p:cNvSpPr>
          <p:nvPr>
            <p:ph type="title"/>
          </p:nvPr>
        </p:nvSpPr>
        <p:spPr>
          <a:xfrm>
            <a:off x="696000" y="320400"/>
            <a:ext cx="10801588" cy="620000"/>
          </a:xfrm>
          <a:prstGeom prst="rect">
            <a:avLst/>
          </a:prstGeom>
          <a:noFill/>
          <a:ln w="25560">
            <a:noFill/>
          </a:ln>
        </p:spPr>
        <p:txBody>
          <a:bodyPr lIns="118080" tIns="60000" rIns="118080" bIns="60000" anchor="t" anchorCtr="1">
            <a:noAutofit/>
          </a:bodyPr>
          <a:lstStyle/>
          <a:p>
            <a:pPr indent="0" algn="ctr">
              <a:lnSpc>
                <a:spcPct val="11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INTRODUCCIÓN</a:t>
            </a:r>
          </a:p>
        </p:txBody>
      </p:sp>
      <p:sp>
        <p:nvSpPr>
          <p:cNvPr id="201" name="tb"/>
          <p:cNvSpPr txBox="1"/>
          <p:nvPr/>
        </p:nvSpPr>
        <p:spPr>
          <a:xfrm>
            <a:off x="696000" y="980000"/>
            <a:ext cx="10801588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2400" b="1" strike="noStrike" spc="-1">
                <a:solidFill>
                  <a:srgbClr val="003264"/>
                </a:solidFill>
                <a:latin typeface="Calibri"/>
                <a:ea typeface="Calibri"/>
              </a:rPr>
              <a:t>El problema: menús estáticos en sistemas de alta densidad</a:t>
            </a:r>
          </a:p>
        </p:txBody>
      </p:sp>
      <p:sp>
        <p:nvSpPr>
          <p:cNvPr id="202" name="card"/>
          <p:cNvSpPr/>
          <p:nvPr/>
        </p:nvSpPr>
        <p:spPr>
          <a:xfrm>
            <a:off x="696000" y="1640000"/>
            <a:ext cx="10801588" cy="940000"/>
          </a:xfrm>
          <a:prstGeom prst="roundRect">
            <a:avLst>
              <a:gd name="adj" fmla="val 4000"/>
            </a:avLst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03" name="tb"/>
          <p:cNvSpPr txBox="1"/>
          <p:nvPr/>
        </p:nvSpPr>
        <p:spPr>
          <a:xfrm>
            <a:off x="996000" y="1640000"/>
            <a:ext cx="10201588" cy="94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indent="0" algn="l">
              <a:lnSpc>
                <a:spcPct val="120000"/>
              </a:lnSpc>
              <a:buNone/>
            </a:pPr>
            <a:r>
              <a:rPr lang="es-419" sz="1450" b="1" strike="noStrike" spc="-1">
                <a:solidFill>
                  <a:srgbClr val="F3C133"/>
                </a:solidFill>
                <a:latin typeface="Calibri"/>
                <a:ea typeface="Calibri"/>
              </a:rPr>
              <a:t>El reto.  </a:t>
            </a:r>
            <a:r>
              <a:rPr lang="es-419" sz="1300" b="0" strike="noStrike" spc="-1">
                <a:solidFill>
                  <a:srgbClr val="E8EEF5"/>
                </a:solidFill>
                <a:latin typeface="Calibri"/>
                <a:ea typeface="Calibri"/>
              </a:rPr>
              <a:t>A medida que los ERP crecen, los menús hiperdensos imponen sobrecarga cognitiva: los usuarios gastan parte de su jornada solo en localizar funciones rutinarias. Aun así, la arquitectura jerárquica permanece estática y genérica, sin ajustarse al rol de cada persona.</a:t>
            </a:r>
          </a:p>
        </p:txBody>
      </p:sp>
      <p:sp>
        <p:nvSpPr>
          <p:cNvPr id="204" name="card"/>
          <p:cNvSpPr/>
          <p:nvPr/>
        </p:nvSpPr>
        <p:spPr>
          <a:xfrm>
            <a:off x="696000" y="2820000"/>
            <a:ext cx="3450000" cy="2760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05" name="badge"/>
          <p:cNvSpPr/>
          <p:nvPr/>
        </p:nvSpPr>
        <p:spPr>
          <a:xfrm>
            <a:off x="996000" y="3120000"/>
            <a:ext cx="560000" cy="560000"/>
          </a:xfrm>
          <a:prstGeom prst="ellipse">
            <a:avLst/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206" name="tb"/>
          <p:cNvSpPr txBox="1"/>
          <p:nvPr/>
        </p:nvSpPr>
        <p:spPr>
          <a:xfrm>
            <a:off x="996000" y="3800000"/>
            <a:ext cx="285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05000"/>
              </a:lnSpc>
              <a:buNone/>
            </a:pPr>
            <a:r>
              <a:rPr lang="es-419" sz="1450" b="1" strike="noStrike" spc="-1">
                <a:solidFill>
                  <a:srgbClr val="003264"/>
                </a:solidFill>
                <a:latin typeface="Calibri"/>
                <a:ea typeface="Calibri"/>
              </a:rPr>
              <a:t>Markov pierde el contexto</a:t>
            </a:r>
          </a:p>
        </p:txBody>
      </p:sp>
      <p:sp>
        <p:nvSpPr>
          <p:cNvPr id="207" name="tb"/>
          <p:cNvSpPr txBox="1"/>
          <p:nvPr/>
        </p:nvSpPr>
        <p:spPr>
          <a:xfrm>
            <a:off x="996000" y="4270000"/>
            <a:ext cx="2850000" cy="10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8000"/>
              </a:lnSpc>
              <a:buNone/>
            </a:pPr>
            <a:r>
              <a:rPr lang="es-419" sz="1250" b="0" strike="noStrike" spc="-1">
                <a:solidFill>
                  <a:srgbClr val="3F3F3F"/>
                </a:solidFill>
                <a:latin typeface="Calibri"/>
                <a:ea typeface="Calibri"/>
              </a:rPr>
              <a:t>Los modelos probabilísticos simples (cadenas de Markov) no retienen las dependencias a largo plazo de una sesión de trabajo extensa: olvidan de dónde viene el usuario.</a:t>
            </a:r>
          </a:p>
        </p:txBody>
      </p:sp>
      <p:sp>
        <p:nvSpPr>
          <p:cNvPr id="208" name="card"/>
          <p:cNvSpPr/>
          <p:nvPr/>
        </p:nvSpPr>
        <p:spPr>
          <a:xfrm>
            <a:off x="4372588" y="2820000"/>
            <a:ext cx="3450000" cy="2760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09" name="badge"/>
          <p:cNvSpPr/>
          <p:nvPr/>
        </p:nvSpPr>
        <p:spPr>
          <a:xfrm>
            <a:off x="4672588" y="3120000"/>
            <a:ext cx="560000" cy="560000"/>
          </a:xfrm>
          <a:prstGeom prst="ellipse">
            <a:avLst/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210" name="tb"/>
          <p:cNvSpPr txBox="1"/>
          <p:nvPr/>
        </p:nvSpPr>
        <p:spPr>
          <a:xfrm>
            <a:off x="4672588" y="3800000"/>
            <a:ext cx="285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05000"/>
              </a:lnSpc>
              <a:buNone/>
            </a:pPr>
            <a:r>
              <a:rPr lang="es-419" sz="1450" b="1" strike="noStrike" spc="-1">
                <a:solidFill>
                  <a:srgbClr val="003264"/>
                </a:solidFill>
                <a:latin typeface="Calibri"/>
                <a:ea typeface="Calibri"/>
              </a:rPr>
              <a:t>RBAC ignorado</a:t>
            </a:r>
          </a:p>
        </p:txBody>
      </p:sp>
      <p:sp>
        <p:nvSpPr>
          <p:cNvPr id="211" name="tb"/>
          <p:cNvSpPr txBox="1"/>
          <p:nvPr/>
        </p:nvSpPr>
        <p:spPr>
          <a:xfrm>
            <a:off x="4672588" y="4270000"/>
            <a:ext cx="2850000" cy="10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8000"/>
              </a:lnSpc>
              <a:buNone/>
            </a:pPr>
            <a:r>
              <a:rPr lang="es-419" sz="1250" b="0" strike="noStrike" spc="-1">
                <a:solidFill>
                  <a:srgbClr val="3F3F3F"/>
                </a:solidFill>
                <a:latin typeface="Calibri"/>
                <a:ea typeface="Calibri"/>
              </a:rPr>
              <a:t>La reorganización visual ciega promueve funciones a las que el rol no tiene acceso, violando los protocolos de Control de Acceso Basado en Roles.</a:t>
            </a:r>
          </a:p>
        </p:txBody>
      </p:sp>
      <p:sp>
        <p:nvSpPr>
          <p:cNvPr id="212" name="card"/>
          <p:cNvSpPr/>
          <p:nvPr/>
        </p:nvSpPr>
        <p:spPr>
          <a:xfrm>
            <a:off x="8049176" y="2820000"/>
            <a:ext cx="3450000" cy="2760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13" name="badge"/>
          <p:cNvSpPr/>
          <p:nvPr/>
        </p:nvSpPr>
        <p:spPr>
          <a:xfrm>
            <a:off x="8349176" y="3120000"/>
            <a:ext cx="560000" cy="560000"/>
          </a:xfrm>
          <a:prstGeom prst="ellipse">
            <a:avLst/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214" name="tb"/>
          <p:cNvSpPr txBox="1"/>
          <p:nvPr/>
        </p:nvSpPr>
        <p:spPr>
          <a:xfrm>
            <a:off x="8349176" y="3800000"/>
            <a:ext cx="285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05000"/>
              </a:lnSpc>
              <a:buNone/>
            </a:pPr>
            <a:r>
              <a:rPr lang="es-419" sz="1450" b="1" strike="noStrike" spc="-1">
                <a:solidFill>
                  <a:srgbClr val="003264"/>
                </a:solidFill>
                <a:latin typeface="Calibri"/>
                <a:ea typeface="Calibri"/>
              </a:rPr>
              <a:t>Memoria espacial rota</a:t>
            </a:r>
          </a:p>
        </p:txBody>
      </p:sp>
      <p:sp>
        <p:nvSpPr>
          <p:cNvPr id="215" name="tb"/>
          <p:cNvSpPr txBox="1"/>
          <p:nvPr/>
        </p:nvSpPr>
        <p:spPr>
          <a:xfrm>
            <a:off x="8349176" y="4270000"/>
            <a:ext cx="2850000" cy="10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8000"/>
              </a:lnSpc>
              <a:buNone/>
            </a:pPr>
            <a:r>
              <a:rPr lang="es-419" sz="1250" b="0" strike="noStrike" spc="-1">
                <a:solidFill>
                  <a:srgbClr val="3F3F3F"/>
                </a:solidFill>
                <a:latin typeface="Calibri"/>
                <a:ea typeface="Calibri"/>
              </a:rPr>
              <a:t>Los cambios topológicos abruptos destruyen la memoria muscular del usuario, provocando desorientación y rechazo a la herramienta.</a:t>
            </a:r>
          </a:p>
        </p:txBody>
      </p:sp>
      <p:sp>
        <p:nvSpPr>
          <p:cNvPr id="216" name="tb"/>
          <p:cNvSpPr txBox="1"/>
          <p:nvPr/>
        </p:nvSpPr>
        <p:spPr>
          <a:xfrm>
            <a:off x="696000" y="2620000"/>
            <a:ext cx="10801588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0000"/>
              </a:lnSpc>
              <a:buNone/>
            </a:pPr>
            <a:r>
              <a:rPr lang="es-419" sz="1200" b="1" strike="noStrike" spc="-1">
                <a:solidFill>
                  <a:srgbClr val="8D8D8D"/>
                </a:solidFill>
                <a:latin typeface="Calibri"/>
                <a:ea typeface="Calibri"/>
              </a:rPr>
              <a:t>Tres limitaciones que la literatura actual no resuelve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"/>
          <p:cNvSpPr>
            <a:spLocks noGrp="1"/>
          </p:cNvSpPr>
          <p:nvPr>
            <p:ph type="title"/>
          </p:nvPr>
        </p:nvSpPr>
        <p:spPr>
          <a:xfrm>
            <a:off x="696000" y="320400"/>
            <a:ext cx="10801588" cy="620000"/>
          </a:xfrm>
          <a:prstGeom prst="rect">
            <a:avLst/>
          </a:prstGeom>
          <a:noFill/>
          <a:ln w="25560">
            <a:noFill/>
          </a:ln>
        </p:spPr>
        <p:txBody>
          <a:bodyPr lIns="118080" tIns="60000" rIns="118080" bIns="60000" anchor="t" anchorCtr="1">
            <a:noAutofit/>
          </a:bodyPr>
          <a:lstStyle/>
          <a:p>
            <a:pPr indent="0" algn="ctr">
              <a:lnSpc>
                <a:spcPct val="11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INTRODUCCIÓN</a:t>
            </a:r>
          </a:p>
        </p:txBody>
      </p:sp>
      <p:sp>
        <p:nvSpPr>
          <p:cNvPr id="217" name="tb"/>
          <p:cNvSpPr txBox="1"/>
          <p:nvPr/>
        </p:nvSpPr>
        <p:spPr>
          <a:xfrm>
            <a:off x="696000" y="980000"/>
            <a:ext cx="10801588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2400" b="1" strike="noStrike" spc="-1">
                <a:solidFill>
                  <a:srgbClr val="003264"/>
                </a:solidFill>
                <a:latin typeface="Calibri"/>
                <a:ea typeface="Calibri"/>
              </a:rPr>
              <a:t>La propuesta: predicción GRU + agente DQN con RBAC</a:t>
            </a:r>
          </a:p>
        </p:txBody>
      </p:sp>
      <p:sp>
        <p:nvSpPr>
          <p:cNvPr id="218" name="card"/>
          <p:cNvSpPr/>
          <p:nvPr/>
        </p:nvSpPr>
        <p:spPr>
          <a:xfrm>
            <a:off x="696000" y="1640000"/>
            <a:ext cx="10801588" cy="860000"/>
          </a:xfrm>
          <a:prstGeom prst="roundRect">
            <a:avLst>
              <a:gd name="adj" fmla="val 4000"/>
            </a:avLst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19" name="tb"/>
          <p:cNvSpPr txBox="1"/>
          <p:nvPr/>
        </p:nvSpPr>
        <p:spPr>
          <a:xfrm>
            <a:off x="996000" y="1640000"/>
            <a:ext cx="10201588" cy="86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indent="0" algn="l">
              <a:lnSpc>
                <a:spcPct val="120000"/>
              </a:lnSpc>
              <a:buNone/>
            </a:pPr>
            <a:r>
              <a:rPr lang="es-419" sz="1450" b="1" strike="noStrike" spc="-1">
                <a:solidFill>
                  <a:srgbClr val="F3C133"/>
                </a:solidFill>
                <a:latin typeface="Calibri"/>
                <a:ea typeface="Calibri"/>
              </a:rPr>
              <a:t>Qué hace el sistema.  </a:t>
            </a:r>
            <a:r>
              <a:rPr lang="es-419" sz="1300" b="0" strike="noStrike" spc="-1">
                <a:solidFill>
                  <a:srgbClr val="E8EEF5"/>
                </a:solidFill>
                <a:latin typeface="Calibri"/>
                <a:ea typeface="Calibri"/>
              </a:rPr>
              <a:t>Un ciclo cerrado que observa los logs de navegación, infiere la siguiente función probable con una red GRU y deja que un agente DQN reordene el menú: respetando RBAC y con una transición gradual para no romper la memoria espacial.</a:t>
            </a:r>
          </a:p>
        </p:txBody>
      </p:sp>
      <p:sp>
        <p:nvSpPr>
          <p:cNvPr id="220" name="card"/>
          <p:cNvSpPr/>
          <p:nvPr/>
        </p:nvSpPr>
        <p:spPr>
          <a:xfrm>
            <a:off x="696000" y="2700000"/>
            <a:ext cx="5280000" cy="1980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21" name="badge"/>
          <p:cNvSpPr/>
          <p:nvPr/>
        </p:nvSpPr>
        <p:spPr>
          <a:xfrm>
            <a:off x="996000" y="3000000"/>
            <a:ext cx="480000" cy="480000"/>
          </a:xfrm>
          <a:prstGeom prst="ellipse">
            <a:avLst/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1800" b="1" strike="noStrike" spc="-1">
                <a:solidFill>
                  <a:srgbClr val="FFFFFF"/>
                </a:solidFill>
                <a:latin typeface="Calibri"/>
                <a:ea typeface="Calibri"/>
              </a:rPr>
              <a:t>G</a:t>
            </a:r>
          </a:p>
        </p:txBody>
      </p:sp>
      <p:sp>
        <p:nvSpPr>
          <p:cNvPr id="222" name="tb"/>
          <p:cNvSpPr txBox="1"/>
          <p:nvPr/>
        </p:nvSpPr>
        <p:spPr>
          <a:xfrm>
            <a:off x="1676000" y="3000000"/>
            <a:ext cx="404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l">
              <a:lnSpc>
                <a:spcPct val="108000"/>
              </a:lnSpc>
              <a:buNone/>
            </a:pPr>
            <a:r>
              <a:rPr lang="es-419" sz="1400" b="1" strike="noStrike" spc="-1">
                <a:solidFill>
                  <a:srgbClr val="003264"/>
                </a:solidFill>
                <a:latin typeface="Calibri"/>
                <a:ea typeface="Calibri"/>
              </a:rPr>
              <a:t>¿Por qué GRU y no LSTM o Transformer?</a:t>
            </a:r>
          </a:p>
        </p:txBody>
      </p:sp>
      <p:sp>
        <p:nvSpPr>
          <p:cNvPr id="223" name="tb"/>
          <p:cNvSpPr txBox="1"/>
          <p:nvPr/>
        </p:nvSpPr>
        <p:spPr>
          <a:xfrm>
            <a:off x="996000" y="3650000"/>
            <a:ext cx="472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20000"/>
              </a:lnSpc>
              <a:buNone/>
            </a:pPr>
            <a:r>
              <a:rPr lang="es-419" sz="1300" b="0" strike="noStrike" spc="-1">
                <a:solidFill>
                  <a:srgbClr val="3F3F3F"/>
                </a:solidFill>
                <a:latin typeface="Calibri"/>
                <a:ea typeface="Calibri"/>
              </a:rPr>
              <a:t>Retiene las dependencias largas con muchos menos parámetros y menor huella de memoria: ideal para ejecutarse in-house en el borde (edge) sin latencia perceptible.</a:t>
            </a:r>
          </a:p>
        </p:txBody>
      </p:sp>
      <p:sp>
        <p:nvSpPr>
          <p:cNvPr id="224" name="card"/>
          <p:cNvSpPr/>
          <p:nvPr/>
        </p:nvSpPr>
        <p:spPr>
          <a:xfrm>
            <a:off x="6217588" y="2700000"/>
            <a:ext cx="5280000" cy="1980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25" name="badge"/>
          <p:cNvSpPr/>
          <p:nvPr/>
        </p:nvSpPr>
        <p:spPr>
          <a:xfrm>
            <a:off x="6517588" y="3000000"/>
            <a:ext cx="480000" cy="480000"/>
          </a:xfrm>
          <a:prstGeom prst="ellipse">
            <a:avLst/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18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</a:p>
        </p:txBody>
      </p:sp>
      <p:sp>
        <p:nvSpPr>
          <p:cNvPr id="226" name="tb"/>
          <p:cNvSpPr txBox="1"/>
          <p:nvPr/>
        </p:nvSpPr>
        <p:spPr>
          <a:xfrm>
            <a:off x="7197588" y="3000000"/>
            <a:ext cx="404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l">
              <a:lnSpc>
                <a:spcPct val="108000"/>
              </a:lnSpc>
              <a:buNone/>
            </a:pPr>
            <a:r>
              <a:rPr lang="es-419" sz="1400" b="1" strike="noStrike" spc="-1">
                <a:solidFill>
                  <a:srgbClr val="003264"/>
                </a:solidFill>
                <a:latin typeface="Calibri"/>
                <a:ea typeface="Calibri"/>
              </a:rPr>
              <a:t>¿Por qué DQN y no un RL genérico?</a:t>
            </a:r>
          </a:p>
        </p:txBody>
      </p:sp>
      <p:sp>
        <p:nvSpPr>
          <p:cNvPr id="227" name="tb"/>
          <p:cNvSpPr txBox="1"/>
          <p:nvPr/>
        </p:nvSpPr>
        <p:spPr>
          <a:xfrm>
            <a:off x="6517588" y="3650000"/>
            <a:ext cx="472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20000"/>
              </a:lnSpc>
              <a:buNone/>
            </a:pPr>
            <a:r>
              <a:rPr lang="es-419" sz="1300" b="0" strike="noStrike" spc="-1">
                <a:solidFill>
                  <a:srgbClr val="3F3F3F"/>
                </a:solidFill>
                <a:latin typeface="Calibri"/>
                <a:ea typeface="Calibri"/>
              </a:rPr>
              <a:t>Un RL genérico opera ciego a los permisos. Nuestro DQN integra una máscara RBAC nativa (Q to menos infinito) y optimiza la reducción de clics como recompensa.</a:t>
            </a:r>
          </a:p>
        </p:txBody>
      </p:sp>
      <p:sp>
        <p:nvSpPr>
          <p:cNvPr id="228" name="card"/>
          <p:cNvSpPr/>
          <p:nvPr/>
        </p:nvSpPr>
        <p:spPr>
          <a:xfrm>
            <a:off x="696000" y="4920000"/>
            <a:ext cx="2300000" cy="620000"/>
          </a:xfrm>
          <a:prstGeom prst="roundRect">
            <a:avLst>
              <a:gd name="adj" fmla="val 20000"/>
            </a:avLst>
          </a:prstGeom>
          <a:solidFill>
            <a:srgbClr val="5A6B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29" name="tb"/>
          <p:cNvSpPr txBox="1"/>
          <p:nvPr/>
        </p:nvSpPr>
        <p:spPr>
          <a:xfrm>
            <a:off x="696000" y="4920000"/>
            <a:ext cx="23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45720" rIns="20000" bIns="45720" anchor="ctr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Logs de interacción</a:t>
            </a:r>
          </a:p>
        </p:txBody>
      </p:sp>
      <p:cxnSp>
        <p:nvCxnSpPr>
          <p:cNvPr id="230" name="arr"/>
          <p:cNvCxnSpPr/>
          <p:nvPr/>
        </p:nvCxnSpPr>
        <p:spPr>
          <a:xfrm>
            <a:off x="3092095" y="5230000"/>
            <a:ext cx="341672" cy="0"/>
          </a:xfrm>
          <a:prstGeom prst="straightConnector1">
            <a:avLst/>
          </a:prstGeom>
          <a:ln w="19050">
            <a:solidFill>
              <a:srgbClr val="F3C133"/>
            </a:solidFill>
            <a:tailEnd type="triangle" w="lg" len="lg"/>
          </a:ln>
        </p:spPr>
      </p:cxnSp>
      <p:sp>
        <p:nvSpPr>
          <p:cNvPr id="231" name="card"/>
          <p:cNvSpPr/>
          <p:nvPr/>
        </p:nvSpPr>
        <p:spPr>
          <a:xfrm>
            <a:off x="3529862" y="4920000"/>
            <a:ext cx="2300000" cy="620000"/>
          </a:xfrm>
          <a:prstGeom prst="roundRect">
            <a:avLst>
              <a:gd name="adj" fmla="val 20000"/>
            </a:avLst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32" name="tb"/>
          <p:cNvSpPr txBox="1"/>
          <p:nvPr/>
        </p:nvSpPr>
        <p:spPr>
          <a:xfrm>
            <a:off x="3529862" y="4920000"/>
            <a:ext cx="23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45720" rIns="20000" bIns="45720" anchor="ctr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Predictor GRU</a:t>
            </a:r>
          </a:p>
        </p:txBody>
      </p:sp>
      <p:cxnSp>
        <p:nvCxnSpPr>
          <p:cNvPr id="233" name="arr"/>
          <p:cNvCxnSpPr/>
          <p:nvPr/>
        </p:nvCxnSpPr>
        <p:spPr>
          <a:xfrm>
            <a:off x="5925957" y="5230000"/>
            <a:ext cx="341672" cy="0"/>
          </a:xfrm>
          <a:prstGeom prst="straightConnector1">
            <a:avLst/>
          </a:prstGeom>
          <a:ln w="19050">
            <a:solidFill>
              <a:srgbClr val="F3C133"/>
            </a:solidFill>
            <a:tailEnd type="triangle" w="lg" len="lg"/>
          </a:ln>
        </p:spPr>
      </p:cxnSp>
      <p:sp>
        <p:nvSpPr>
          <p:cNvPr id="234" name="card"/>
          <p:cNvSpPr/>
          <p:nvPr/>
        </p:nvSpPr>
        <p:spPr>
          <a:xfrm>
            <a:off x="6363725" y="4920000"/>
            <a:ext cx="2300000" cy="620000"/>
          </a:xfrm>
          <a:prstGeom prst="roundRect">
            <a:avLst>
              <a:gd name="adj" fmla="val 20000"/>
            </a:avLst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35" name="tb"/>
          <p:cNvSpPr txBox="1"/>
          <p:nvPr/>
        </p:nvSpPr>
        <p:spPr>
          <a:xfrm>
            <a:off x="6363725" y="4920000"/>
            <a:ext cx="23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45720" rIns="20000" bIns="45720" anchor="ctr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Agente DQN</a:t>
            </a:r>
          </a:p>
        </p:txBody>
      </p:sp>
      <p:cxnSp>
        <p:nvCxnSpPr>
          <p:cNvPr id="236" name="arr"/>
          <p:cNvCxnSpPr/>
          <p:nvPr/>
        </p:nvCxnSpPr>
        <p:spPr>
          <a:xfrm>
            <a:off x="8759820" y="5230000"/>
            <a:ext cx="341672" cy="0"/>
          </a:xfrm>
          <a:prstGeom prst="straightConnector1">
            <a:avLst/>
          </a:prstGeom>
          <a:ln w="19050">
            <a:solidFill>
              <a:srgbClr val="F3C133"/>
            </a:solidFill>
            <a:tailEnd type="triangle" w="lg" len="lg"/>
          </a:ln>
        </p:spPr>
      </p:cxnSp>
      <p:sp>
        <p:nvSpPr>
          <p:cNvPr id="237" name="card"/>
          <p:cNvSpPr/>
          <p:nvPr/>
        </p:nvSpPr>
        <p:spPr>
          <a:xfrm>
            <a:off x="9197588" y="4920000"/>
            <a:ext cx="2300000" cy="620000"/>
          </a:xfrm>
          <a:prstGeom prst="roundRect">
            <a:avLst>
              <a:gd name="adj" fmla="val 20000"/>
            </a:avLst>
          </a:prstGeom>
          <a:solidFill>
            <a:srgbClr val="5A6B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38" name="tb"/>
          <p:cNvSpPr txBox="1"/>
          <p:nvPr/>
        </p:nvSpPr>
        <p:spPr>
          <a:xfrm>
            <a:off x="9197588" y="4920000"/>
            <a:ext cx="23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45720" rIns="20000" bIns="45720" anchor="ctr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Interfaz adaptativa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919880" y="294120"/>
            <a:ext cx="5754960" cy="7009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 anchorCtr="1">
            <a:noAutofit/>
          </a:bodyPr>
          <a:lstStyle/>
          <a:p>
            <a:pPr indent="0" algn="ctr">
              <a:lnSpc>
                <a:spcPct val="12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METODOLOGÍA — ARQUITECTURA DEL SISTEMA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20000"/>
              </a:lnSpc>
              <a:buNone/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82;p19"/>
          <p:cNvSpPr/>
          <p:nvPr/>
        </p:nvSpPr>
        <p:spPr>
          <a:xfrm>
            <a:off x="5697360" y="1975320"/>
            <a:ext cx="1080720" cy="1078200"/>
          </a:xfrm>
          <a:custGeom>
            <a:avLst/>
            <a:gdLst>
              <a:gd name="textAreaLeft" fmla="*/ 158040 w 1080720"/>
              <a:gd name="textAreaRight" fmla="*/ 922680 w 1080720"/>
              <a:gd name="textAreaTop" fmla="*/ 157680 h 1078200"/>
              <a:gd name="textAreaBottom" fmla="*/ 920520 h 1078200"/>
            </a:gdLst>
            <a:ahLst/>
            <a:cxnLst/>
            <a:rect l="textAreaLeft" t="textAreaTop" r="textAreaRight" b="textAreaBottom"/>
            <a:pathLst>
              <a:path w="2165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825" hR="10800" stAng="-10800000" swAng="21550000"/>
                <a:close/>
              </a:path>
            </a:pathLst>
          </a:custGeom>
          <a:solidFill>
            <a:srgbClr val="0036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183;p19"/>
          <p:cNvSpPr/>
          <p:nvPr/>
        </p:nvSpPr>
        <p:spPr>
          <a:xfrm>
            <a:off x="5842440" y="3493440"/>
            <a:ext cx="808200" cy="808200"/>
          </a:xfrm>
          <a:custGeom>
            <a:avLst/>
            <a:gdLst>
              <a:gd name="textAreaLeft" fmla="*/ 118080 w 808200"/>
              <a:gd name="textAreaRight" fmla="*/ 690120 w 808200"/>
              <a:gd name="textAreaTop" fmla="*/ 118080 h 808200"/>
              <a:gd name="textAreaBottom" fmla="*/ 690120 h 808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800" hR="10800" stAng="-10800000" swAng="21550000"/>
                <a:close/>
              </a:path>
            </a:pathLst>
          </a:custGeom>
          <a:solidFill>
            <a:srgbClr val="F3C1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184;p19"/>
          <p:cNvSpPr/>
          <p:nvPr/>
        </p:nvSpPr>
        <p:spPr>
          <a:xfrm>
            <a:off x="7076880" y="3354840"/>
            <a:ext cx="1078200" cy="1078200"/>
          </a:xfrm>
          <a:custGeom>
            <a:avLst/>
            <a:gdLst>
              <a:gd name="textAreaLeft" fmla="*/ 157680 w 1078200"/>
              <a:gd name="textAreaRight" fmla="*/ 920520 w 1078200"/>
              <a:gd name="textAreaTop" fmla="*/ 157680 h 1078200"/>
              <a:gd name="textAreaBottom" fmla="*/ 920520 h 1078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800" hR="10800" stAng="-10800000" swAng="21550000"/>
                <a:close/>
              </a:path>
            </a:pathLst>
          </a:custGeom>
          <a:solidFill>
            <a:srgbClr val="003E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85;p19"/>
          <p:cNvSpPr/>
          <p:nvPr/>
        </p:nvSpPr>
        <p:spPr>
          <a:xfrm>
            <a:off x="4320000" y="3354840"/>
            <a:ext cx="1078200" cy="1078200"/>
          </a:xfrm>
          <a:custGeom>
            <a:avLst/>
            <a:gdLst>
              <a:gd name="textAreaLeft" fmla="*/ 157680 w 1078200"/>
              <a:gd name="textAreaRight" fmla="*/ 920520 w 1078200"/>
              <a:gd name="textAreaTop" fmla="*/ 157680 h 1078200"/>
              <a:gd name="textAreaBottom" fmla="*/ 920520 h 1078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800" hR="10800" stAng="-10800000" swAng="21550000"/>
                <a:close/>
              </a:path>
            </a:pathLst>
          </a:custGeom>
          <a:solidFill>
            <a:srgbClr val="0036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186;p19"/>
          <p:cNvSpPr/>
          <p:nvPr/>
        </p:nvSpPr>
        <p:spPr>
          <a:xfrm>
            <a:off x="5697360" y="4732200"/>
            <a:ext cx="1080720" cy="1080720"/>
          </a:xfrm>
          <a:custGeom>
            <a:avLst/>
            <a:gdLst>
              <a:gd name="textAreaLeft" fmla="*/ 158040 w 1080720"/>
              <a:gd name="textAreaRight" fmla="*/ 922680 w 1080720"/>
              <a:gd name="textAreaTop" fmla="*/ 158040 h 1080720"/>
              <a:gd name="textAreaBottom" fmla="*/ 922680 h 10807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800" hR="10800" stAng="-10800000" swAng="21550000"/>
                <a:close/>
              </a:path>
            </a:pathLst>
          </a:custGeom>
          <a:solidFill>
            <a:srgbClr val="003E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187;p19"/>
          <p:cNvSpPr/>
          <p:nvPr/>
        </p:nvSpPr>
        <p:spPr>
          <a:xfrm>
            <a:off x="3788640" y="2095920"/>
            <a:ext cx="1728000" cy="468720"/>
          </a:xfrm>
          <a:custGeom>
            <a:avLst/>
            <a:gdLst>
              <a:gd name="textAreaLeft" fmla="*/ 0 w 1728000"/>
              <a:gd name="textAreaRight" fmla="*/ 1728360 w 1728000"/>
              <a:gd name="textAreaTop" fmla="*/ 0 h 468720"/>
              <a:gd name="textAreaBottom" fmla="*/ 469080 h 468720"/>
            </a:gdLst>
            <a:ahLst/>
            <a:cxnLst/>
            <a:rect l="textAreaLeft" t="textAreaTop" r="textAreaRight" b="textAreaBottom"/>
            <a:pathLst>
              <a:path w="774" h="210">
                <a:moveTo>
                  <a:pt x="774" y="210"/>
                </a:moveTo>
                <a:lnTo>
                  <a:pt x="389" y="210"/>
                </a:lnTo>
                <a:lnTo>
                  <a:pt x="389" y="0"/>
                </a:lnTo>
                <a:lnTo>
                  <a:pt x="0" y="0"/>
                </a:lnTo>
              </a:path>
            </a:pathLst>
          </a:custGeom>
          <a:noFill/>
          <a:ln w="9360">
            <a:solidFill>
              <a:srgbClr val="26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188;p19"/>
          <p:cNvSpPr/>
          <p:nvPr/>
        </p:nvSpPr>
        <p:spPr>
          <a:xfrm>
            <a:off x="7650720" y="2095920"/>
            <a:ext cx="799200" cy="1076040"/>
          </a:xfrm>
          <a:custGeom>
            <a:avLst/>
            <a:gdLst>
              <a:gd name="textAreaLeft" fmla="*/ 0 w 799200"/>
              <a:gd name="textAreaRight" fmla="*/ 799560 w 799200"/>
              <a:gd name="textAreaTop" fmla="*/ 0 h 1076040"/>
              <a:gd name="textAreaBottom" fmla="*/ 1076400 h 1076040"/>
            </a:gdLst>
            <a:ahLst/>
            <a:cxnLst/>
            <a:rect l="textAreaLeft" t="textAreaTop" r="textAreaRight" b="textAreaBottom"/>
            <a:pathLst>
              <a:path w="358" h="482">
                <a:moveTo>
                  <a:pt x="0" y="482"/>
                </a:moveTo>
                <a:lnTo>
                  <a:pt x="0" y="0"/>
                </a:lnTo>
                <a:lnTo>
                  <a:pt x="358" y="0"/>
                </a:lnTo>
              </a:path>
            </a:pathLst>
          </a:custGeom>
          <a:noFill/>
          <a:ln w="9360">
            <a:solidFill>
              <a:srgbClr val="26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89;p19"/>
          <p:cNvSpPr/>
          <p:nvPr/>
        </p:nvSpPr>
        <p:spPr>
          <a:xfrm>
            <a:off x="6958800" y="4832640"/>
            <a:ext cx="1426680" cy="468720"/>
          </a:xfrm>
          <a:custGeom>
            <a:avLst/>
            <a:gdLst>
              <a:gd name="textAreaLeft" fmla="*/ 0 w 1426680"/>
              <a:gd name="textAreaRight" fmla="*/ 1427040 w 1426680"/>
              <a:gd name="textAreaTop" fmla="*/ 0 h 468720"/>
              <a:gd name="textAreaBottom" fmla="*/ 469080 h 468720"/>
            </a:gdLst>
            <a:ahLst/>
            <a:cxnLst/>
            <a:rect l="textAreaLeft" t="textAreaTop" r="textAreaRight" b="textAreaBottom"/>
            <a:pathLst>
              <a:path w="639" h="210">
                <a:moveTo>
                  <a:pt x="0" y="210"/>
                </a:moveTo>
                <a:lnTo>
                  <a:pt x="318" y="210"/>
                </a:lnTo>
                <a:lnTo>
                  <a:pt x="318" y="0"/>
                </a:lnTo>
                <a:lnTo>
                  <a:pt x="639" y="0"/>
                </a:lnTo>
              </a:path>
            </a:pathLst>
          </a:custGeom>
          <a:noFill/>
          <a:ln w="9360">
            <a:solidFill>
              <a:srgbClr val="26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190;p19"/>
          <p:cNvSpPr/>
          <p:nvPr/>
        </p:nvSpPr>
        <p:spPr>
          <a:xfrm>
            <a:off x="3788640" y="4538160"/>
            <a:ext cx="1069200" cy="310320"/>
          </a:xfrm>
          <a:custGeom>
            <a:avLst/>
            <a:gdLst>
              <a:gd name="textAreaLeft" fmla="*/ 0 w 1069200"/>
              <a:gd name="textAreaRight" fmla="*/ 1069560 w 1069200"/>
              <a:gd name="textAreaTop" fmla="*/ 0 h 310320"/>
              <a:gd name="textAreaBottom" fmla="*/ 310680 h 310320"/>
            </a:gdLst>
            <a:ahLst/>
            <a:cxnLst/>
            <a:rect l="textAreaLeft" t="textAreaTop" r="textAreaRight" b="textAreaBottom"/>
            <a:pathLst>
              <a:path w="479" h="139">
                <a:moveTo>
                  <a:pt x="479" y="0"/>
                </a:moveTo>
                <a:lnTo>
                  <a:pt x="479" y="139"/>
                </a:lnTo>
                <a:lnTo>
                  <a:pt x="0" y="139"/>
                </a:lnTo>
              </a:path>
            </a:pathLst>
          </a:custGeom>
          <a:noFill/>
          <a:ln w="9360">
            <a:solidFill>
              <a:srgbClr val="26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191;p19"/>
          <p:cNvSpPr/>
          <p:nvPr/>
        </p:nvSpPr>
        <p:spPr>
          <a:xfrm>
            <a:off x="6855840" y="3803760"/>
            <a:ext cx="96120" cy="191880"/>
          </a:xfrm>
          <a:custGeom>
            <a:avLst/>
            <a:gdLst>
              <a:gd name="textAreaLeft" fmla="*/ 0 w 96120"/>
              <a:gd name="textAreaRight" fmla="*/ 96480 w 96120"/>
              <a:gd name="textAreaTop" fmla="*/ 0 h 191880"/>
              <a:gd name="textAreaBottom" fmla="*/ 192240 h 191880"/>
            </a:gdLst>
            <a:ahLst/>
            <a:cxnLst/>
            <a:rect l="textAreaLeft" t="textAreaTop" r="textAreaRight" b="textAreaBottom"/>
            <a:pathLst>
              <a:path w="43" h="86">
                <a:moveTo>
                  <a:pt x="0" y="0"/>
                </a:moveTo>
                <a:lnTo>
                  <a:pt x="43" y="43"/>
                </a:lnTo>
                <a:lnTo>
                  <a:pt x="0" y="86"/>
                </a:lnTo>
              </a:path>
            </a:pathLst>
          </a:custGeom>
          <a:noFill/>
          <a:ln w="12600">
            <a:solidFill>
              <a:srgbClr val="26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192;p19"/>
          <p:cNvSpPr/>
          <p:nvPr/>
        </p:nvSpPr>
        <p:spPr>
          <a:xfrm>
            <a:off x="5523120" y="3803760"/>
            <a:ext cx="96120" cy="191880"/>
          </a:xfrm>
          <a:custGeom>
            <a:avLst/>
            <a:gdLst>
              <a:gd name="textAreaLeft" fmla="*/ 0 w 96120"/>
              <a:gd name="textAreaRight" fmla="*/ 96480 w 96120"/>
              <a:gd name="textAreaTop" fmla="*/ 0 h 191880"/>
              <a:gd name="textAreaBottom" fmla="*/ 192240 h 191880"/>
            </a:gdLst>
            <a:ahLst/>
            <a:cxnLst/>
            <a:rect l="textAreaLeft" t="textAreaTop" r="textAreaRight" b="textAreaBottom"/>
            <a:pathLst>
              <a:path w="43" h="86">
                <a:moveTo>
                  <a:pt x="43" y="86"/>
                </a:moveTo>
                <a:lnTo>
                  <a:pt x="0" y="43"/>
                </a:lnTo>
                <a:lnTo>
                  <a:pt x="43" y="0"/>
                </a:lnTo>
              </a:path>
            </a:pathLst>
          </a:custGeom>
          <a:noFill/>
          <a:ln w="12600">
            <a:solidFill>
              <a:srgbClr val="26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193;p19"/>
          <p:cNvSpPr/>
          <p:nvPr/>
        </p:nvSpPr>
        <p:spPr>
          <a:xfrm>
            <a:off x="6141600" y="4518000"/>
            <a:ext cx="191880" cy="96120"/>
          </a:xfrm>
          <a:custGeom>
            <a:avLst/>
            <a:gdLst>
              <a:gd name="textAreaLeft" fmla="*/ 0 w 191880"/>
              <a:gd name="textAreaRight" fmla="*/ 192240 w 191880"/>
              <a:gd name="textAreaTop" fmla="*/ 0 h 96120"/>
              <a:gd name="textAreaBottom" fmla="*/ 96480 h 96120"/>
            </a:gdLst>
            <a:ahLst/>
            <a:cxnLst/>
            <a:rect l="textAreaLeft" t="textAreaTop" r="textAreaRight" b="textAreaBottom"/>
            <a:pathLst>
              <a:path w="86" h="43">
                <a:moveTo>
                  <a:pt x="86" y="0"/>
                </a:moveTo>
                <a:lnTo>
                  <a:pt x="43" y="43"/>
                </a:lnTo>
                <a:lnTo>
                  <a:pt x="0" y="0"/>
                </a:lnTo>
              </a:path>
            </a:pathLst>
          </a:custGeom>
          <a:noFill/>
          <a:ln w="12600">
            <a:solidFill>
              <a:srgbClr val="26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194;p19"/>
          <p:cNvSpPr/>
          <p:nvPr/>
        </p:nvSpPr>
        <p:spPr>
          <a:xfrm>
            <a:off x="6141600" y="3185280"/>
            <a:ext cx="191880" cy="96120"/>
          </a:xfrm>
          <a:custGeom>
            <a:avLst/>
            <a:gdLst>
              <a:gd name="textAreaLeft" fmla="*/ 0 w 191880"/>
              <a:gd name="textAreaRight" fmla="*/ 192240 w 191880"/>
              <a:gd name="textAreaTop" fmla="*/ 0 h 96120"/>
              <a:gd name="textAreaBottom" fmla="*/ 96480 h 96120"/>
            </a:gdLst>
            <a:ahLst/>
            <a:cxnLst/>
            <a:rect l="textAreaLeft" t="textAreaTop" r="textAreaRight" b="textAreaBottom"/>
            <a:pathLst>
              <a:path w="86" h="43">
                <a:moveTo>
                  <a:pt x="0" y="43"/>
                </a:moveTo>
                <a:lnTo>
                  <a:pt x="43" y="0"/>
                </a:lnTo>
                <a:lnTo>
                  <a:pt x="86" y="43"/>
                </a:lnTo>
              </a:path>
            </a:pathLst>
          </a:custGeom>
          <a:noFill/>
          <a:ln w="12600">
            <a:solidFill>
              <a:srgbClr val="26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195;p19"/>
          <p:cNvSpPr/>
          <p:nvPr/>
        </p:nvSpPr>
        <p:spPr>
          <a:xfrm>
            <a:off x="8650800" y="1988640"/>
            <a:ext cx="2127600" cy="950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s-419" sz="1400" b="0" strike="noStrike" spc="-1">
                <a:solidFill>
                  <a:srgbClr val="003264"/>
                </a:solidFill>
                <a:latin typeface="Calibri"/>
                <a:ea typeface="Calibri"/>
              </a:rPr>
              <a:t>Logs de Interacción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s-419" sz="800" b="0" strike="noStrike" spc="-1">
                <a:solidFill>
                  <a:srgbClr val="3F3F3F"/>
                </a:solidFill>
                <a:latin typeface="Calibri"/>
                <a:ea typeface="Calibri"/>
              </a:rPr>
              <a:t>Recolección pasiva de eventos de navegación del usuario (clics, tiempo, correcciones) durante 4 semanas.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Google Shape;196;p19"/>
          <p:cNvSpPr/>
          <p:nvPr/>
        </p:nvSpPr>
        <p:spPr>
          <a:xfrm>
            <a:off x="8650800" y="4718880"/>
            <a:ext cx="2127600" cy="691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s-419" sz="1400" b="0" strike="noStrike" spc="-1">
                <a:solidFill>
                  <a:srgbClr val="003264"/>
                </a:solidFill>
                <a:latin typeface="Calibri"/>
                <a:ea typeface="Calibri"/>
              </a:rPr>
              <a:t>Interfaz Adaptativa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s-419" sz="800" b="0" strike="noStrike" spc="-1">
                <a:solidFill>
                  <a:srgbClr val="3F3F3F"/>
                </a:solidFill>
                <a:latin typeface="Calibri"/>
                <a:ea typeface="Calibri"/>
              </a:rPr>
              <a:t>Transición gradual βmix=0.7: 70% nueva topología + 30% orden original para preservar memoria espacial.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197;p19"/>
          <p:cNvSpPr/>
          <p:nvPr/>
        </p:nvSpPr>
        <p:spPr>
          <a:xfrm>
            <a:off x="1449000" y="4718880"/>
            <a:ext cx="2127600" cy="950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s-419" sz="1400" b="0" strike="noStrike" spc="-1">
                <a:solidFill>
                  <a:srgbClr val="003264"/>
                </a:solidFill>
                <a:latin typeface="Calibri"/>
                <a:ea typeface="Calibri"/>
              </a:rPr>
              <a:t>Predictor GRU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s-419" sz="800" b="0" strike="noStrike" spc="-1">
                <a:solidFill>
                  <a:srgbClr val="3F3F3F"/>
                </a:solidFill>
                <a:latin typeface="Calibri"/>
                <a:ea typeface="Calibri"/>
              </a:rPr>
              <a:t>Red neuronal recurrente que estima P(f_t+1 | f1...ft). MRR 0.86, supera Cadenas de Markov (0.73).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198;p19"/>
          <p:cNvSpPr/>
          <p:nvPr/>
        </p:nvSpPr>
        <p:spPr>
          <a:xfrm>
            <a:off x="1449000" y="1984320"/>
            <a:ext cx="2127600" cy="950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s-419" sz="1400" b="0" strike="noStrike" spc="-1">
                <a:solidFill>
                  <a:srgbClr val="003264"/>
                </a:solidFill>
                <a:latin typeface="Calibri"/>
                <a:ea typeface="Calibri"/>
              </a:rPr>
              <a:t>Agente DQN + RBAC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s-419" sz="800" b="0" strike="noStrike" spc="-1">
                <a:solidFill>
                  <a:srgbClr val="3F3F3F"/>
                </a:solidFill>
                <a:latin typeface="Calibri"/>
                <a:ea typeface="Calibri"/>
              </a:rPr>
              <a:t>Reordena el árbol de menú minimizando clics. Máscara Q→-∞ bloquea ítems no autorizados por rol.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199;p19"/>
          <p:cNvSpPr/>
          <p:nvPr/>
        </p:nvSpPr>
        <p:spPr>
          <a:xfrm>
            <a:off x="6056640" y="2325600"/>
            <a:ext cx="392760" cy="401760"/>
          </a:xfrm>
          <a:custGeom>
            <a:avLst/>
            <a:gdLst>
              <a:gd name="textAreaLeft" fmla="*/ 0 w 392760"/>
              <a:gd name="textAreaRight" fmla="*/ 393120 w 392760"/>
              <a:gd name="textAreaTop" fmla="*/ 0 h 401760"/>
              <a:gd name="textAreaBottom" fmla="*/ 402120 h 401760"/>
            </a:gdLst>
            <a:ahLst/>
            <a:cxnLst/>
            <a:rect l="textAreaLeft" t="textAreaTop" r="textAreaRight" b="textAreaBottom"/>
            <a:pathLst>
              <a:path w="136" h="140">
                <a:moveTo>
                  <a:pt x="130" y="33"/>
                </a:moveTo>
                <a:cubicBezTo>
                  <a:pt x="100" y="33"/>
                  <a:pt x="100" y="33"/>
                  <a:pt x="100" y="33"/>
                </a:cubicBezTo>
                <a:cubicBezTo>
                  <a:pt x="100" y="6"/>
                  <a:pt x="100" y="6"/>
                  <a:pt x="100" y="6"/>
                </a:cubicBezTo>
                <a:cubicBezTo>
                  <a:pt x="100" y="2"/>
                  <a:pt x="97" y="0"/>
                  <a:pt x="94" y="0"/>
                </a:cubicBezTo>
                <a:cubicBezTo>
                  <a:pt x="6" y="0"/>
                  <a:pt x="6" y="0"/>
                  <a:pt x="6" y="0"/>
                </a:cubicBezTo>
                <a:cubicBezTo>
                  <a:pt x="2" y="0"/>
                  <a:pt x="0" y="2"/>
                  <a:pt x="0" y="6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104"/>
                  <a:pt x="0" y="104"/>
                  <a:pt x="0" y="104"/>
                </a:cubicBezTo>
                <a:cubicBezTo>
                  <a:pt x="0" y="134"/>
                  <a:pt x="0" y="134"/>
                  <a:pt x="0" y="134"/>
                </a:cubicBezTo>
                <a:cubicBezTo>
                  <a:pt x="0" y="137"/>
                  <a:pt x="2" y="140"/>
                  <a:pt x="6" y="140"/>
                </a:cubicBezTo>
                <a:cubicBezTo>
                  <a:pt x="94" y="140"/>
                  <a:pt x="94" y="140"/>
                  <a:pt x="94" y="140"/>
                </a:cubicBezTo>
                <a:cubicBezTo>
                  <a:pt x="130" y="140"/>
                  <a:pt x="130" y="140"/>
                  <a:pt x="130" y="140"/>
                </a:cubicBezTo>
                <a:cubicBezTo>
                  <a:pt x="134" y="140"/>
                  <a:pt x="136" y="137"/>
                  <a:pt x="136" y="134"/>
                </a:cubicBezTo>
                <a:cubicBezTo>
                  <a:pt x="136" y="39"/>
                  <a:pt x="136" y="39"/>
                  <a:pt x="136" y="39"/>
                </a:cubicBezTo>
                <a:cubicBezTo>
                  <a:pt x="136" y="36"/>
                  <a:pt x="134" y="33"/>
                  <a:pt x="130" y="33"/>
                </a:cubicBezTo>
                <a:close/>
                <a:moveTo>
                  <a:pt x="88" y="128"/>
                </a:moveTo>
                <a:cubicBezTo>
                  <a:pt x="72" y="128"/>
                  <a:pt x="72" y="128"/>
                  <a:pt x="72" y="128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88" y="110"/>
                  <a:pt x="88" y="110"/>
                  <a:pt x="88" y="110"/>
                </a:cubicBezTo>
                <a:lnTo>
                  <a:pt x="88" y="128"/>
                </a:lnTo>
                <a:close/>
                <a:moveTo>
                  <a:pt x="60" y="110"/>
                </a:moveTo>
                <a:cubicBezTo>
                  <a:pt x="60" y="128"/>
                  <a:pt x="60" y="128"/>
                  <a:pt x="60" y="128"/>
                </a:cubicBezTo>
                <a:cubicBezTo>
                  <a:pt x="39" y="128"/>
                  <a:pt x="39" y="128"/>
                  <a:pt x="39" y="128"/>
                </a:cubicBezTo>
                <a:cubicBezTo>
                  <a:pt x="39" y="110"/>
                  <a:pt x="39" y="110"/>
                  <a:pt x="39" y="110"/>
                </a:cubicBezTo>
                <a:lnTo>
                  <a:pt x="60" y="110"/>
                </a:lnTo>
                <a:close/>
                <a:moveTo>
                  <a:pt x="12" y="98"/>
                </a:moveTo>
                <a:cubicBezTo>
                  <a:pt x="12" y="41"/>
                  <a:pt x="12" y="41"/>
                  <a:pt x="12" y="41"/>
                </a:cubicBezTo>
                <a:cubicBezTo>
                  <a:pt x="88" y="41"/>
                  <a:pt x="88" y="41"/>
                  <a:pt x="88" y="41"/>
                </a:cubicBezTo>
                <a:cubicBezTo>
                  <a:pt x="88" y="98"/>
                  <a:pt x="88" y="98"/>
                  <a:pt x="88" y="98"/>
                </a:cubicBezTo>
                <a:lnTo>
                  <a:pt x="12" y="98"/>
                </a:lnTo>
                <a:close/>
                <a:moveTo>
                  <a:pt x="39" y="29"/>
                </a:moveTo>
                <a:cubicBezTo>
                  <a:pt x="39" y="12"/>
                  <a:pt x="39" y="12"/>
                  <a:pt x="39" y="12"/>
                </a:cubicBezTo>
                <a:cubicBezTo>
                  <a:pt x="60" y="12"/>
                  <a:pt x="60" y="12"/>
                  <a:pt x="60" y="12"/>
                </a:cubicBezTo>
                <a:cubicBezTo>
                  <a:pt x="60" y="29"/>
                  <a:pt x="60" y="29"/>
                  <a:pt x="60" y="29"/>
                </a:cubicBezTo>
                <a:lnTo>
                  <a:pt x="39" y="29"/>
                </a:lnTo>
                <a:close/>
                <a:moveTo>
                  <a:pt x="88" y="29"/>
                </a:moveTo>
                <a:cubicBezTo>
                  <a:pt x="72" y="29"/>
                  <a:pt x="72" y="29"/>
                  <a:pt x="72" y="29"/>
                </a:cubicBezTo>
                <a:cubicBezTo>
                  <a:pt x="72" y="12"/>
                  <a:pt x="72" y="12"/>
                  <a:pt x="72" y="12"/>
                </a:cubicBezTo>
                <a:cubicBezTo>
                  <a:pt x="88" y="12"/>
                  <a:pt x="88" y="12"/>
                  <a:pt x="88" y="12"/>
                </a:cubicBezTo>
                <a:lnTo>
                  <a:pt x="88" y="29"/>
                </a:lnTo>
                <a:close/>
                <a:moveTo>
                  <a:pt x="12" y="12"/>
                </a:moveTo>
                <a:cubicBezTo>
                  <a:pt x="27" y="12"/>
                  <a:pt x="27" y="12"/>
                  <a:pt x="27" y="12"/>
                </a:cubicBezTo>
                <a:cubicBezTo>
                  <a:pt x="27" y="29"/>
                  <a:pt x="27" y="29"/>
                  <a:pt x="27" y="29"/>
                </a:cubicBezTo>
                <a:cubicBezTo>
                  <a:pt x="12" y="29"/>
                  <a:pt x="12" y="29"/>
                  <a:pt x="12" y="29"/>
                </a:cubicBezTo>
                <a:lnTo>
                  <a:pt x="12" y="12"/>
                </a:lnTo>
                <a:close/>
                <a:moveTo>
                  <a:pt x="12" y="110"/>
                </a:moveTo>
                <a:cubicBezTo>
                  <a:pt x="27" y="110"/>
                  <a:pt x="27" y="110"/>
                  <a:pt x="27" y="110"/>
                </a:cubicBezTo>
                <a:cubicBezTo>
                  <a:pt x="27" y="128"/>
                  <a:pt x="27" y="128"/>
                  <a:pt x="27" y="128"/>
                </a:cubicBezTo>
                <a:cubicBezTo>
                  <a:pt x="12" y="128"/>
                  <a:pt x="12" y="128"/>
                  <a:pt x="12" y="128"/>
                </a:cubicBezTo>
                <a:lnTo>
                  <a:pt x="12" y="110"/>
                </a:lnTo>
                <a:close/>
                <a:moveTo>
                  <a:pt x="124" y="128"/>
                </a:moveTo>
                <a:cubicBezTo>
                  <a:pt x="100" y="128"/>
                  <a:pt x="100" y="128"/>
                  <a:pt x="100" y="128"/>
                </a:cubicBezTo>
                <a:cubicBezTo>
                  <a:pt x="100" y="104"/>
                  <a:pt x="100" y="104"/>
                  <a:pt x="100" y="104"/>
                </a:cubicBezTo>
                <a:cubicBezTo>
                  <a:pt x="100" y="45"/>
                  <a:pt x="100" y="45"/>
                  <a:pt x="100" y="45"/>
                </a:cubicBezTo>
                <a:cubicBezTo>
                  <a:pt x="124" y="45"/>
                  <a:pt x="124" y="45"/>
                  <a:pt x="124" y="45"/>
                </a:cubicBezTo>
                <a:lnTo>
                  <a:pt x="124" y="12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2" name="Google Shape;200;p19"/>
          <p:cNvGrpSpPr/>
          <p:nvPr/>
        </p:nvGrpSpPr>
        <p:grpSpPr>
          <a:xfrm>
            <a:off x="4632480" y="3656160"/>
            <a:ext cx="495720" cy="504720"/>
            <a:chOff x="4632480" y="3656160"/>
            <a:chExt cx="495720" cy="504720"/>
          </a:xfrm>
        </p:grpSpPr>
        <p:sp>
          <p:nvSpPr>
            <p:cNvPr id="143" name="Google Shape;201;p19"/>
            <p:cNvSpPr/>
            <p:nvPr/>
          </p:nvSpPr>
          <p:spPr>
            <a:xfrm>
              <a:off x="4632480" y="3656160"/>
              <a:ext cx="495720" cy="364320"/>
            </a:xfrm>
            <a:custGeom>
              <a:avLst/>
              <a:gdLst>
                <a:gd name="textAreaLeft" fmla="*/ 0 w 495720"/>
                <a:gd name="textAreaRight" fmla="*/ 496080 w 495720"/>
                <a:gd name="textAreaTop" fmla="*/ 0 h 364320"/>
                <a:gd name="textAreaBottom" fmla="*/ 364320 h 364320"/>
              </a:gdLst>
              <a:ahLst/>
              <a:cxnLst/>
              <a:rect l="textAreaLeft" t="textAreaTop" r="textAreaRight" b="textAreaBottom"/>
              <a:pathLst>
                <a:path w="138" h="101">
                  <a:moveTo>
                    <a:pt x="106" y="37"/>
                  </a:moveTo>
                  <a:cubicBezTo>
                    <a:pt x="104" y="37"/>
                    <a:pt x="102" y="37"/>
                    <a:pt x="100" y="38"/>
                  </a:cubicBezTo>
                  <a:cubicBezTo>
                    <a:pt x="100" y="37"/>
                    <a:pt x="100" y="36"/>
                    <a:pt x="100" y="35"/>
                  </a:cubicBezTo>
                  <a:cubicBezTo>
                    <a:pt x="100" y="16"/>
                    <a:pt x="84" y="0"/>
                    <a:pt x="66" y="0"/>
                  </a:cubicBezTo>
                  <a:cubicBezTo>
                    <a:pt x="49" y="0"/>
                    <a:pt x="35" y="13"/>
                    <a:pt x="32" y="29"/>
                  </a:cubicBezTo>
                  <a:cubicBezTo>
                    <a:pt x="28" y="28"/>
                    <a:pt x="25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13" y="33"/>
                    <a:pt x="8" y="42"/>
                    <a:pt x="8" y="51"/>
                  </a:cubicBezTo>
                  <a:cubicBezTo>
                    <a:pt x="8" y="54"/>
                    <a:pt x="8" y="57"/>
                    <a:pt x="10" y="60"/>
                  </a:cubicBezTo>
                  <a:cubicBezTo>
                    <a:pt x="4" y="64"/>
                    <a:pt x="0" y="71"/>
                    <a:pt x="0" y="79"/>
                  </a:cubicBezTo>
                  <a:cubicBezTo>
                    <a:pt x="0" y="91"/>
                    <a:pt x="10" y="101"/>
                    <a:pt x="22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48" y="101"/>
                    <a:pt x="51" y="98"/>
                    <a:pt x="51" y="95"/>
                  </a:cubicBezTo>
                  <a:cubicBezTo>
                    <a:pt x="51" y="92"/>
                    <a:pt x="48" y="89"/>
                    <a:pt x="45" y="89"/>
                  </a:cubicBezTo>
                  <a:cubicBezTo>
                    <a:pt x="22" y="89"/>
                    <a:pt x="22" y="89"/>
                    <a:pt x="22" y="89"/>
                  </a:cubicBezTo>
                  <a:cubicBezTo>
                    <a:pt x="16" y="89"/>
                    <a:pt x="12" y="84"/>
                    <a:pt x="12" y="79"/>
                  </a:cubicBezTo>
                  <a:cubicBezTo>
                    <a:pt x="12" y="74"/>
                    <a:pt x="16" y="70"/>
                    <a:pt x="20" y="69"/>
                  </a:cubicBezTo>
                  <a:cubicBezTo>
                    <a:pt x="23" y="69"/>
                    <a:pt x="25" y="67"/>
                    <a:pt x="25" y="65"/>
                  </a:cubicBezTo>
                  <a:cubicBezTo>
                    <a:pt x="26" y="62"/>
                    <a:pt x="25" y="60"/>
                    <a:pt x="23" y="58"/>
                  </a:cubicBezTo>
                  <a:cubicBezTo>
                    <a:pt x="21" y="57"/>
                    <a:pt x="20" y="54"/>
                    <a:pt x="20" y="51"/>
                  </a:cubicBezTo>
                  <a:cubicBezTo>
                    <a:pt x="20" y="47"/>
                    <a:pt x="22" y="43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9" y="40"/>
                    <a:pt x="32" y="40"/>
                    <a:pt x="35" y="42"/>
                  </a:cubicBezTo>
                  <a:cubicBezTo>
                    <a:pt x="36" y="43"/>
                    <a:pt x="39" y="43"/>
                    <a:pt x="41" y="42"/>
                  </a:cubicBezTo>
                  <a:cubicBezTo>
                    <a:pt x="43" y="41"/>
                    <a:pt x="44" y="39"/>
                    <a:pt x="43" y="36"/>
                  </a:cubicBezTo>
                  <a:cubicBezTo>
                    <a:pt x="43" y="36"/>
                    <a:pt x="43" y="36"/>
                    <a:pt x="43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22"/>
                    <a:pt x="53" y="12"/>
                    <a:pt x="66" y="12"/>
                  </a:cubicBezTo>
                  <a:cubicBezTo>
                    <a:pt x="78" y="12"/>
                    <a:pt x="88" y="22"/>
                    <a:pt x="88" y="35"/>
                  </a:cubicBezTo>
                  <a:cubicBezTo>
                    <a:pt x="88" y="39"/>
                    <a:pt x="87" y="43"/>
                    <a:pt x="84" y="46"/>
                  </a:cubicBezTo>
                  <a:cubicBezTo>
                    <a:pt x="83" y="49"/>
                    <a:pt x="83" y="52"/>
                    <a:pt x="86" y="54"/>
                  </a:cubicBezTo>
                  <a:cubicBezTo>
                    <a:pt x="88" y="56"/>
                    <a:pt x="91" y="56"/>
                    <a:pt x="93" y="54"/>
                  </a:cubicBezTo>
                  <a:cubicBezTo>
                    <a:pt x="96" y="52"/>
                    <a:pt x="100" y="49"/>
                    <a:pt x="106" y="49"/>
                  </a:cubicBezTo>
                  <a:cubicBezTo>
                    <a:pt x="117" y="49"/>
                    <a:pt x="126" y="58"/>
                    <a:pt x="126" y="69"/>
                  </a:cubicBezTo>
                  <a:cubicBezTo>
                    <a:pt x="126" y="80"/>
                    <a:pt x="117" y="89"/>
                    <a:pt x="106" y="89"/>
                  </a:cubicBezTo>
                  <a:cubicBezTo>
                    <a:pt x="93" y="89"/>
                    <a:pt x="93" y="89"/>
                    <a:pt x="93" y="89"/>
                  </a:cubicBezTo>
                  <a:cubicBezTo>
                    <a:pt x="90" y="89"/>
                    <a:pt x="87" y="92"/>
                    <a:pt x="87" y="95"/>
                  </a:cubicBezTo>
                  <a:cubicBezTo>
                    <a:pt x="87" y="98"/>
                    <a:pt x="90" y="101"/>
                    <a:pt x="93" y="101"/>
                  </a:cubicBezTo>
                  <a:cubicBezTo>
                    <a:pt x="106" y="101"/>
                    <a:pt x="106" y="101"/>
                    <a:pt x="106" y="101"/>
                  </a:cubicBezTo>
                  <a:cubicBezTo>
                    <a:pt x="124" y="101"/>
                    <a:pt x="138" y="87"/>
                    <a:pt x="138" y="69"/>
                  </a:cubicBezTo>
                  <a:cubicBezTo>
                    <a:pt x="138" y="51"/>
                    <a:pt x="124" y="37"/>
                    <a:pt x="106" y="3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Google Shape;202;p19"/>
            <p:cNvSpPr/>
            <p:nvPr/>
          </p:nvSpPr>
          <p:spPr>
            <a:xfrm>
              <a:off x="4783320" y="3862800"/>
              <a:ext cx="194040" cy="298080"/>
            </a:xfrm>
            <a:custGeom>
              <a:avLst/>
              <a:gdLst>
                <a:gd name="textAreaLeft" fmla="*/ 0 w 194040"/>
                <a:gd name="textAreaRight" fmla="*/ 194400 w 194040"/>
                <a:gd name="textAreaTop" fmla="*/ 0 h 298080"/>
                <a:gd name="textAreaBottom" fmla="*/ 298440 h 298080"/>
              </a:gdLst>
              <a:ahLst/>
              <a:cxnLst/>
              <a:rect l="textAreaLeft" t="textAreaTop" r="textAreaRight" b="textAreaBottom"/>
              <a:pathLst>
                <a:path w="54" h="83">
                  <a:moveTo>
                    <a:pt x="43" y="53"/>
                  </a:moveTo>
                  <a:cubicBezTo>
                    <a:pt x="33" y="63"/>
                    <a:pt x="33" y="63"/>
                    <a:pt x="33" y="63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2"/>
                    <a:pt x="30" y="0"/>
                    <a:pt x="27" y="0"/>
                  </a:cubicBezTo>
                  <a:cubicBezTo>
                    <a:pt x="24" y="0"/>
                    <a:pt x="21" y="2"/>
                    <a:pt x="21" y="6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8" y="50"/>
                    <a:pt x="5" y="50"/>
                    <a:pt x="2" y="53"/>
                  </a:cubicBezTo>
                  <a:cubicBezTo>
                    <a:pt x="0" y="55"/>
                    <a:pt x="0" y="59"/>
                    <a:pt x="2" y="61"/>
                  </a:cubicBezTo>
                  <a:cubicBezTo>
                    <a:pt x="23" y="82"/>
                    <a:pt x="23" y="82"/>
                    <a:pt x="23" y="82"/>
                  </a:cubicBezTo>
                  <a:cubicBezTo>
                    <a:pt x="24" y="83"/>
                    <a:pt x="25" y="83"/>
                    <a:pt x="27" y="83"/>
                  </a:cubicBezTo>
                  <a:cubicBezTo>
                    <a:pt x="28" y="83"/>
                    <a:pt x="30" y="83"/>
                    <a:pt x="31" y="82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4" y="59"/>
                    <a:pt x="54" y="55"/>
                    <a:pt x="52" y="53"/>
                  </a:cubicBezTo>
                  <a:cubicBezTo>
                    <a:pt x="49" y="50"/>
                    <a:pt x="45" y="50"/>
                    <a:pt x="43" y="5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5" name="Google Shape;203;p19"/>
          <p:cNvSpPr/>
          <p:nvPr/>
        </p:nvSpPr>
        <p:spPr>
          <a:xfrm>
            <a:off x="6027840" y="5060520"/>
            <a:ext cx="437400" cy="464400"/>
          </a:xfrm>
          <a:custGeom>
            <a:avLst/>
            <a:gdLst>
              <a:gd name="textAreaLeft" fmla="*/ 0 w 437400"/>
              <a:gd name="textAreaRight" fmla="*/ 437760 w 437400"/>
              <a:gd name="textAreaTop" fmla="*/ 0 h 464400"/>
              <a:gd name="textAreaBottom" fmla="*/ 464760 h 464400"/>
            </a:gdLst>
            <a:ahLst/>
            <a:cxnLst/>
            <a:rect l="textAreaLeft" t="textAreaTop" r="textAreaRight" b="textAreaBottom"/>
            <a:pathLst>
              <a:path w="132" h="140">
                <a:moveTo>
                  <a:pt x="111" y="56"/>
                </a:moveTo>
                <a:cubicBezTo>
                  <a:pt x="103" y="56"/>
                  <a:pt x="103" y="56"/>
                  <a:pt x="103" y="56"/>
                </a:cubicBezTo>
                <a:cubicBezTo>
                  <a:pt x="103" y="37"/>
                  <a:pt x="103" y="37"/>
                  <a:pt x="103" y="37"/>
                </a:cubicBezTo>
                <a:cubicBezTo>
                  <a:pt x="103" y="16"/>
                  <a:pt x="86" y="0"/>
                  <a:pt x="66" y="0"/>
                </a:cubicBezTo>
                <a:cubicBezTo>
                  <a:pt x="46" y="0"/>
                  <a:pt x="29" y="16"/>
                  <a:pt x="29" y="37"/>
                </a:cubicBezTo>
                <a:cubicBezTo>
                  <a:pt x="29" y="55"/>
                  <a:pt x="29" y="55"/>
                  <a:pt x="29" y="55"/>
                </a:cubicBezTo>
                <a:cubicBezTo>
                  <a:pt x="21" y="55"/>
                  <a:pt x="21" y="55"/>
                  <a:pt x="21" y="55"/>
                </a:cubicBezTo>
                <a:cubicBezTo>
                  <a:pt x="9" y="55"/>
                  <a:pt x="0" y="65"/>
                  <a:pt x="0" y="76"/>
                </a:cubicBezTo>
                <a:cubicBezTo>
                  <a:pt x="0" y="88"/>
                  <a:pt x="9" y="97"/>
                  <a:pt x="21" y="97"/>
                </a:cubicBezTo>
                <a:cubicBezTo>
                  <a:pt x="41" y="97"/>
                  <a:pt x="41" y="97"/>
                  <a:pt x="41" y="97"/>
                </a:cubicBezTo>
                <a:cubicBezTo>
                  <a:pt x="41" y="57"/>
                  <a:pt x="41" y="57"/>
                  <a:pt x="41" y="57"/>
                </a:cubicBezTo>
                <a:cubicBezTo>
                  <a:pt x="41" y="55"/>
                  <a:pt x="41" y="55"/>
                  <a:pt x="41" y="55"/>
                </a:cubicBezTo>
                <a:cubicBezTo>
                  <a:pt x="41" y="37"/>
                  <a:pt x="41" y="37"/>
                  <a:pt x="41" y="37"/>
                </a:cubicBezTo>
                <a:cubicBezTo>
                  <a:pt x="41" y="23"/>
                  <a:pt x="52" y="12"/>
                  <a:pt x="66" y="12"/>
                </a:cubicBezTo>
                <a:cubicBezTo>
                  <a:pt x="80" y="12"/>
                  <a:pt x="91" y="23"/>
                  <a:pt x="91" y="37"/>
                </a:cubicBezTo>
                <a:cubicBezTo>
                  <a:pt x="91" y="56"/>
                  <a:pt x="91" y="56"/>
                  <a:pt x="91" y="56"/>
                </a:cubicBezTo>
                <a:cubicBezTo>
                  <a:pt x="91" y="59"/>
                  <a:pt x="91" y="59"/>
                  <a:pt x="91" y="59"/>
                </a:cubicBezTo>
                <a:cubicBezTo>
                  <a:pt x="91" y="92"/>
                  <a:pt x="91" y="92"/>
                  <a:pt x="91" y="92"/>
                </a:cubicBezTo>
                <a:cubicBezTo>
                  <a:pt x="91" y="98"/>
                  <a:pt x="91" y="98"/>
                  <a:pt x="91" y="98"/>
                </a:cubicBezTo>
                <a:cubicBezTo>
                  <a:pt x="91" y="109"/>
                  <a:pt x="91" y="109"/>
                  <a:pt x="91" y="109"/>
                </a:cubicBezTo>
                <a:cubicBezTo>
                  <a:pt x="91" y="114"/>
                  <a:pt x="86" y="119"/>
                  <a:pt x="81" y="119"/>
                </a:cubicBezTo>
                <a:cubicBezTo>
                  <a:pt x="79" y="119"/>
                  <a:pt x="79" y="119"/>
                  <a:pt x="79" y="119"/>
                </a:cubicBezTo>
                <a:cubicBezTo>
                  <a:pt x="77" y="114"/>
                  <a:pt x="72" y="110"/>
                  <a:pt x="66" y="110"/>
                </a:cubicBezTo>
                <a:cubicBezTo>
                  <a:pt x="58" y="110"/>
                  <a:pt x="51" y="117"/>
                  <a:pt x="51" y="125"/>
                </a:cubicBezTo>
                <a:cubicBezTo>
                  <a:pt x="51" y="133"/>
                  <a:pt x="58" y="140"/>
                  <a:pt x="66" y="140"/>
                </a:cubicBezTo>
                <a:cubicBezTo>
                  <a:pt x="72" y="140"/>
                  <a:pt x="77" y="136"/>
                  <a:pt x="79" y="131"/>
                </a:cubicBezTo>
                <a:cubicBezTo>
                  <a:pt x="81" y="131"/>
                  <a:pt x="81" y="131"/>
                  <a:pt x="81" y="131"/>
                </a:cubicBezTo>
                <a:cubicBezTo>
                  <a:pt x="93" y="131"/>
                  <a:pt x="103" y="121"/>
                  <a:pt x="103" y="109"/>
                </a:cubicBezTo>
                <a:cubicBezTo>
                  <a:pt x="103" y="98"/>
                  <a:pt x="103" y="98"/>
                  <a:pt x="103" y="98"/>
                </a:cubicBezTo>
                <a:cubicBezTo>
                  <a:pt x="111" y="98"/>
                  <a:pt x="111" y="98"/>
                  <a:pt x="111" y="98"/>
                </a:cubicBezTo>
                <a:cubicBezTo>
                  <a:pt x="123" y="98"/>
                  <a:pt x="132" y="89"/>
                  <a:pt x="132" y="77"/>
                </a:cubicBezTo>
                <a:cubicBezTo>
                  <a:pt x="132" y="66"/>
                  <a:pt x="123" y="56"/>
                  <a:pt x="111" y="56"/>
                </a:cubicBezTo>
                <a:close/>
                <a:moveTo>
                  <a:pt x="29" y="85"/>
                </a:moveTo>
                <a:cubicBezTo>
                  <a:pt x="21" y="85"/>
                  <a:pt x="21" y="85"/>
                  <a:pt x="21" y="85"/>
                </a:cubicBezTo>
                <a:cubicBezTo>
                  <a:pt x="16" y="85"/>
                  <a:pt x="12" y="81"/>
                  <a:pt x="12" y="76"/>
                </a:cubicBezTo>
                <a:cubicBezTo>
                  <a:pt x="12" y="71"/>
                  <a:pt x="16" y="67"/>
                  <a:pt x="21" y="67"/>
                </a:cubicBezTo>
                <a:cubicBezTo>
                  <a:pt x="29" y="67"/>
                  <a:pt x="29" y="67"/>
                  <a:pt x="29" y="67"/>
                </a:cubicBezTo>
                <a:lnTo>
                  <a:pt x="29" y="85"/>
                </a:lnTo>
                <a:close/>
                <a:moveTo>
                  <a:pt x="111" y="86"/>
                </a:moveTo>
                <a:cubicBezTo>
                  <a:pt x="103" y="86"/>
                  <a:pt x="103" y="86"/>
                  <a:pt x="103" y="86"/>
                </a:cubicBezTo>
                <a:cubicBezTo>
                  <a:pt x="103" y="68"/>
                  <a:pt x="103" y="68"/>
                  <a:pt x="103" y="68"/>
                </a:cubicBezTo>
                <a:cubicBezTo>
                  <a:pt x="111" y="68"/>
                  <a:pt x="111" y="68"/>
                  <a:pt x="111" y="68"/>
                </a:cubicBezTo>
                <a:cubicBezTo>
                  <a:pt x="116" y="68"/>
                  <a:pt x="120" y="72"/>
                  <a:pt x="120" y="77"/>
                </a:cubicBezTo>
                <a:cubicBezTo>
                  <a:pt x="120" y="82"/>
                  <a:pt x="116" y="86"/>
                  <a:pt x="111" y="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6" name="Google Shape;204;p19"/>
          <p:cNvGrpSpPr/>
          <p:nvPr/>
        </p:nvGrpSpPr>
        <p:grpSpPr>
          <a:xfrm>
            <a:off x="7409520" y="3691800"/>
            <a:ext cx="433080" cy="370440"/>
            <a:chOff x="7409520" y="3691800"/>
            <a:chExt cx="433080" cy="370440"/>
          </a:xfrm>
        </p:grpSpPr>
        <p:sp>
          <p:nvSpPr>
            <p:cNvPr id="147" name="Google Shape;205;p19"/>
            <p:cNvSpPr/>
            <p:nvPr/>
          </p:nvSpPr>
          <p:spPr>
            <a:xfrm>
              <a:off x="7409520" y="3691800"/>
              <a:ext cx="433080" cy="370440"/>
            </a:xfrm>
            <a:custGeom>
              <a:avLst/>
              <a:gdLst>
                <a:gd name="textAreaLeft" fmla="*/ 0 w 433080"/>
                <a:gd name="textAreaRight" fmla="*/ 433440 w 43308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40" h="120">
                  <a:moveTo>
                    <a:pt x="122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00" y="6"/>
                    <a:pt x="93" y="0"/>
                    <a:pt x="85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2" y="0"/>
                    <a:pt x="56" y="6"/>
                    <a:pt x="56" y="15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8" y="20"/>
                    <a:pt x="0" y="28"/>
                    <a:pt x="0" y="38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12"/>
                    <a:pt x="8" y="120"/>
                    <a:pt x="18" y="120"/>
                  </a:cubicBezTo>
                  <a:cubicBezTo>
                    <a:pt x="122" y="120"/>
                    <a:pt x="122" y="120"/>
                    <a:pt x="122" y="120"/>
                  </a:cubicBezTo>
                  <a:cubicBezTo>
                    <a:pt x="132" y="120"/>
                    <a:pt x="140" y="111"/>
                    <a:pt x="140" y="101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40" y="28"/>
                    <a:pt x="132" y="20"/>
                    <a:pt x="122" y="20"/>
                  </a:cubicBezTo>
                  <a:close/>
                  <a:moveTo>
                    <a:pt x="12" y="101"/>
                  </a:moveTo>
                  <a:cubicBezTo>
                    <a:pt x="12" y="38"/>
                    <a:pt x="12" y="38"/>
                    <a:pt x="12" y="38"/>
                  </a:cubicBezTo>
                  <a:cubicBezTo>
                    <a:pt x="12" y="34"/>
                    <a:pt x="15" y="32"/>
                    <a:pt x="18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108"/>
                    <a:pt x="33" y="108"/>
                    <a:pt x="33" y="108"/>
                  </a:cubicBezTo>
                  <a:cubicBezTo>
                    <a:pt x="18" y="108"/>
                    <a:pt x="18" y="108"/>
                    <a:pt x="18" y="108"/>
                  </a:cubicBezTo>
                  <a:cubicBezTo>
                    <a:pt x="14" y="108"/>
                    <a:pt x="12" y="105"/>
                    <a:pt x="12" y="101"/>
                  </a:cubicBezTo>
                  <a:close/>
                  <a:moveTo>
                    <a:pt x="128" y="101"/>
                  </a:moveTo>
                  <a:cubicBezTo>
                    <a:pt x="128" y="105"/>
                    <a:pt x="125" y="108"/>
                    <a:pt x="122" y="108"/>
                  </a:cubicBezTo>
                  <a:cubicBezTo>
                    <a:pt x="45" y="108"/>
                    <a:pt x="45" y="108"/>
                    <a:pt x="45" y="108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99" y="32"/>
                    <a:pt x="99" y="32"/>
                    <a:pt x="99" y="32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5" y="32"/>
                    <a:pt x="128" y="34"/>
                    <a:pt x="128" y="38"/>
                  </a:cubicBezTo>
                  <a:lnTo>
                    <a:pt x="128" y="10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" name="Google Shape;206;p19"/>
            <p:cNvSpPr/>
            <p:nvPr/>
          </p:nvSpPr>
          <p:spPr>
            <a:xfrm>
              <a:off x="7582680" y="3846240"/>
              <a:ext cx="136080" cy="13572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2"/>
                  </a:moveTo>
                  <a:cubicBezTo>
                    <a:pt x="16" y="32"/>
                    <a:pt x="12" y="27"/>
                    <a:pt x="12" y="22"/>
                  </a:cubicBezTo>
                  <a:cubicBezTo>
                    <a:pt x="12" y="16"/>
                    <a:pt x="16" y="12"/>
                    <a:pt x="22" y="12"/>
                  </a:cubicBezTo>
                  <a:cubicBezTo>
                    <a:pt x="27" y="12"/>
                    <a:pt x="32" y="16"/>
                    <a:pt x="32" y="22"/>
                  </a:cubicBezTo>
                  <a:cubicBezTo>
                    <a:pt x="32" y="27"/>
                    <a:pt x="27" y="32"/>
                    <a:pt x="22" y="3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9" name="Google Shape;207;p19"/>
          <p:cNvSpPr/>
          <p:nvPr/>
        </p:nvSpPr>
        <p:spPr>
          <a:xfrm>
            <a:off x="6083640" y="3747960"/>
            <a:ext cx="325800" cy="303480"/>
          </a:xfrm>
          <a:custGeom>
            <a:avLst/>
            <a:gdLst>
              <a:gd name="textAreaLeft" fmla="*/ 0 w 325800"/>
              <a:gd name="textAreaRight" fmla="*/ 326160 w 325800"/>
              <a:gd name="textAreaTop" fmla="*/ 0 h 303480"/>
              <a:gd name="textAreaBottom" fmla="*/ 303840 h 303480"/>
            </a:gdLst>
            <a:ahLst/>
            <a:cxnLst/>
            <a:rect l="textAreaLeft" t="textAreaTop" r="textAreaRight" b="textAreaBottom"/>
            <a:pathLst>
              <a:path w="142" h="133">
                <a:moveTo>
                  <a:pt x="138" y="47"/>
                </a:moveTo>
                <a:cubicBezTo>
                  <a:pt x="114" y="30"/>
                  <a:pt x="114" y="30"/>
                  <a:pt x="114" y="30"/>
                </a:cubicBezTo>
                <a:cubicBezTo>
                  <a:pt x="114" y="12"/>
                  <a:pt x="114" y="12"/>
                  <a:pt x="114" y="12"/>
                </a:cubicBezTo>
                <a:cubicBezTo>
                  <a:pt x="114" y="9"/>
                  <a:pt x="111" y="6"/>
                  <a:pt x="108" y="6"/>
                </a:cubicBezTo>
                <a:cubicBezTo>
                  <a:pt x="104" y="6"/>
                  <a:pt x="104" y="6"/>
                  <a:pt x="104" y="6"/>
                </a:cubicBezTo>
                <a:cubicBezTo>
                  <a:pt x="100" y="6"/>
                  <a:pt x="98" y="9"/>
                  <a:pt x="98" y="12"/>
                </a:cubicBezTo>
                <a:cubicBezTo>
                  <a:pt x="98" y="18"/>
                  <a:pt x="98" y="18"/>
                  <a:pt x="98" y="18"/>
                </a:cubicBezTo>
                <a:cubicBezTo>
                  <a:pt x="74" y="2"/>
                  <a:pt x="74" y="2"/>
                  <a:pt x="74" y="2"/>
                </a:cubicBezTo>
                <a:cubicBezTo>
                  <a:pt x="72" y="0"/>
                  <a:pt x="70" y="0"/>
                  <a:pt x="68" y="2"/>
                </a:cubicBezTo>
                <a:cubicBezTo>
                  <a:pt x="4" y="47"/>
                  <a:pt x="4" y="47"/>
                  <a:pt x="4" y="47"/>
                </a:cubicBezTo>
                <a:cubicBezTo>
                  <a:pt x="1" y="49"/>
                  <a:pt x="0" y="53"/>
                  <a:pt x="2" y="56"/>
                </a:cubicBezTo>
                <a:cubicBezTo>
                  <a:pt x="4" y="58"/>
                  <a:pt x="8" y="59"/>
                  <a:pt x="10" y="57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123"/>
                  <a:pt x="17" y="123"/>
                  <a:pt x="17" y="123"/>
                </a:cubicBezTo>
                <a:cubicBezTo>
                  <a:pt x="17" y="129"/>
                  <a:pt x="21" y="133"/>
                  <a:pt x="27" y="133"/>
                </a:cubicBezTo>
                <a:cubicBezTo>
                  <a:pt x="115" y="133"/>
                  <a:pt x="115" y="133"/>
                  <a:pt x="115" y="133"/>
                </a:cubicBezTo>
                <a:cubicBezTo>
                  <a:pt x="121" y="133"/>
                  <a:pt x="125" y="129"/>
                  <a:pt x="125" y="123"/>
                </a:cubicBezTo>
                <a:cubicBezTo>
                  <a:pt x="125" y="52"/>
                  <a:pt x="125" y="52"/>
                  <a:pt x="125" y="52"/>
                </a:cubicBezTo>
                <a:cubicBezTo>
                  <a:pt x="132" y="57"/>
                  <a:pt x="132" y="57"/>
                  <a:pt x="132" y="57"/>
                </a:cubicBezTo>
                <a:cubicBezTo>
                  <a:pt x="133" y="58"/>
                  <a:pt x="134" y="58"/>
                  <a:pt x="135" y="58"/>
                </a:cubicBezTo>
                <a:cubicBezTo>
                  <a:pt x="137" y="58"/>
                  <a:pt x="139" y="57"/>
                  <a:pt x="140" y="56"/>
                </a:cubicBezTo>
                <a:cubicBezTo>
                  <a:pt x="142" y="53"/>
                  <a:pt x="141" y="49"/>
                  <a:pt x="138" y="47"/>
                </a:cubicBezTo>
                <a:close/>
                <a:moveTo>
                  <a:pt x="83" y="121"/>
                </a:moveTo>
                <a:cubicBezTo>
                  <a:pt x="59" y="121"/>
                  <a:pt x="59" y="121"/>
                  <a:pt x="59" y="121"/>
                </a:cubicBezTo>
                <a:cubicBezTo>
                  <a:pt x="59" y="84"/>
                  <a:pt x="59" y="84"/>
                  <a:pt x="59" y="84"/>
                </a:cubicBezTo>
                <a:cubicBezTo>
                  <a:pt x="83" y="84"/>
                  <a:pt x="83" y="84"/>
                  <a:pt x="83" y="84"/>
                </a:cubicBezTo>
                <a:lnTo>
                  <a:pt x="83" y="121"/>
                </a:lnTo>
                <a:close/>
                <a:moveTo>
                  <a:pt x="113" y="121"/>
                </a:moveTo>
                <a:cubicBezTo>
                  <a:pt x="95" y="121"/>
                  <a:pt x="95" y="121"/>
                  <a:pt x="95" y="121"/>
                </a:cubicBezTo>
                <a:cubicBezTo>
                  <a:pt x="95" y="82"/>
                  <a:pt x="95" y="82"/>
                  <a:pt x="95" y="82"/>
                </a:cubicBezTo>
                <a:cubicBezTo>
                  <a:pt x="95" y="76"/>
                  <a:pt x="90" y="72"/>
                  <a:pt x="85" y="72"/>
                </a:cubicBezTo>
                <a:cubicBezTo>
                  <a:pt x="57" y="72"/>
                  <a:pt x="57" y="72"/>
                  <a:pt x="57" y="72"/>
                </a:cubicBezTo>
                <a:cubicBezTo>
                  <a:pt x="52" y="72"/>
                  <a:pt x="47" y="76"/>
                  <a:pt x="47" y="82"/>
                </a:cubicBezTo>
                <a:cubicBezTo>
                  <a:pt x="47" y="121"/>
                  <a:pt x="47" y="121"/>
                  <a:pt x="47" y="121"/>
                </a:cubicBezTo>
                <a:cubicBezTo>
                  <a:pt x="29" y="121"/>
                  <a:pt x="29" y="121"/>
                  <a:pt x="29" y="121"/>
                </a:cubicBezTo>
                <a:cubicBezTo>
                  <a:pt x="29" y="44"/>
                  <a:pt x="29" y="44"/>
                  <a:pt x="29" y="44"/>
                </a:cubicBezTo>
                <a:cubicBezTo>
                  <a:pt x="71" y="14"/>
                  <a:pt x="71" y="14"/>
                  <a:pt x="71" y="14"/>
                </a:cubicBezTo>
                <a:cubicBezTo>
                  <a:pt x="113" y="44"/>
                  <a:pt x="113" y="44"/>
                  <a:pt x="113" y="44"/>
                </a:cubicBezTo>
                <a:lnTo>
                  <a:pt x="113" y="1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"/>
          <p:cNvSpPr>
            <a:spLocks noGrp="1"/>
          </p:cNvSpPr>
          <p:nvPr>
            <p:ph type="title"/>
          </p:nvPr>
        </p:nvSpPr>
        <p:spPr>
          <a:xfrm>
            <a:off x="696000" y="320400"/>
            <a:ext cx="10801588" cy="620000"/>
          </a:xfrm>
          <a:prstGeom prst="rect">
            <a:avLst/>
          </a:prstGeom>
          <a:noFill/>
          <a:ln w="25560">
            <a:noFill/>
          </a:ln>
        </p:spPr>
        <p:txBody>
          <a:bodyPr lIns="118080" tIns="60000" rIns="118080" bIns="60000" anchor="t" anchorCtr="1">
            <a:noAutofit/>
          </a:bodyPr>
          <a:lstStyle/>
          <a:p>
            <a:pPr indent="0" algn="ctr">
              <a:lnSpc>
                <a:spcPct val="11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METODOLOGÍA</a:t>
            </a:r>
          </a:p>
        </p:txBody>
      </p:sp>
      <p:sp>
        <p:nvSpPr>
          <p:cNvPr id="239" name="tb"/>
          <p:cNvSpPr txBox="1"/>
          <p:nvPr/>
        </p:nvSpPr>
        <p:spPr>
          <a:xfrm>
            <a:off x="696000" y="980000"/>
            <a:ext cx="10801588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2400" b="1" strike="noStrike" spc="-1">
                <a:solidFill>
                  <a:srgbClr val="003264"/>
                </a:solidFill>
                <a:latin typeface="Calibri"/>
                <a:ea typeface="Calibri"/>
              </a:rPr>
              <a:t>Recolección rigurosa: 4 semanas de logs pasivos</a:t>
            </a:r>
          </a:p>
        </p:txBody>
      </p:sp>
      <p:sp>
        <p:nvSpPr>
          <p:cNvPr id="240" name="card"/>
          <p:cNvSpPr/>
          <p:nvPr/>
        </p:nvSpPr>
        <p:spPr>
          <a:xfrm>
            <a:off x="696000" y="1640000"/>
            <a:ext cx="3450000" cy="12800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41" name="tb"/>
          <p:cNvSpPr txBox="1"/>
          <p:nvPr/>
        </p:nvSpPr>
        <p:spPr>
          <a:xfrm>
            <a:off x="696000" y="1760000"/>
            <a:ext cx="345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4400" b="1" strike="noStrike" spc="-1">
                <a:solidFill>
                  <a:srgbClr val="003264"/>
                </a:solidFill>
                <a:latin typeface="Calibri"/>
                <a:ea typeface="Calibri"/>
              </a:rPr>
              <a:t>404</a:t>
            </a:r>
          </a:p>
        </p:txBody>
      </p:sp>
      <p:sp>
        <p:nvSpPr>
          <p:cNvPr id="242" name="tb"/>
          <p:cNvSpPr txBox="1"/>
          <p:nvPr/>
        </p:nvSpPr>
        <p:spPr>
          <a:xfrm>
            <a:off x="696000" y="2480000"/>
            <a:ext cx="34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250" b="0" strike="noStrike" spc="-1">
                <a:solidFill>
                  <a:srgbClr val="3F3F3F"/>
                </a:solidFill>
                <a:latin typeface="Calibri"/>
                <a:ea typeface="Calibri"/>
              </a:rPr>
              <a:t>sesiones válidas tras el filtrado</a:t>
            </a:r>
          </a:p>
        </p:txBody>
      </p:sp>
      <p:sp>
        <p:nvSpPr>
          <p:cNvPr id="243" name="card"/>
          <p:cNvSpPr/>
          <p:nvPr/>
        </p:nvSpPr>
        <p:spPr>
          <a:xfrm>
            <a:off x="4372588" y="1640000"/>
            <a:ext cx="3450000" cy="12800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44" name="tb"/>
          <p:cNvSpPr txBox="1"/>
          <p:nvPr/>
        </p:nvSpPr>
        <p:spPr>
          <a:xfrm>
            <a:off x="4372588" y="1760000"/>
            <a:ext cx="345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4400" b="1" strike="noStrike" spc="-1">
                <a:solidFill>
                  <a:srgbClr val="003264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245" name="tb"/>
          <p:cNvSpPr txBox="1"/>
          <p:nvPr/>
        </p:nvSpPr>
        <p:spPr>
          <a:xfrm>
            <a:off x="4372588" y="2480000"/>
            <a:ext cx="34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250" b="0" strike="noStrike" spc="-1">
                <a:solidFill>
                  <a:srgbClr val="3F3F3F"/>
                </a:solidFill>
                <a:latin typeface="Calibri"/>
                <a:ea typeface="Calibri"/>
              </a:rPr>
              <a:t>roles organizacionales simulados</a:t>
            </a:r>
          </a:p>
        </p:txBody>
      </p:sp>
      <p:sp>
        <p:nvSpPr>
          <p:cNvPr id="246" name="card"/>
          <p:cNvSpPr/>
          <p:nvPr/>
        </p:nvSpPr>
        <p:spPr>
          <a:xfrm>
            <a:off x="8049176" y="1640000"/>
            <a:ext cx="3450000" cy="12800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47" name="tb"/>
          <p:cNvSpPr txBox="1"/>
          <p:nvPr/>
        </p:nvSpPr>
        <p:spPr>
          <a:xfrm>
            <a:off x="8049176" y="1760000"/>
            <a:ext cx="345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4400" b="1" strike="noStrike" spc="-1">
                <a:solidFill>
                  <a:srgbClr val="003264"/>
                </a:solidFill>
                <a:latin typeface="Calibri"/>
                <a:ea typeface="Calibri"/>
              </a:rPr>
              <a:t>5</a:t>
            </a:r>
            <a:r>
              <a:rPr lang="es-419" sz="2000" b="1" strike="noStrike" spc="-1">
                <a:solidFill>
                  <a:srgbClr val="F3C133"/>
                </a:solidFill>
                <a:latin typeface="Calibri"/>
                <a:ea typeface="Calibri"/>
              </a:rPr>
              <a:t>min</a:t>
            </a:r>
          </a:p>
        </p:txBody>
      </p:sp>
      <p:sp>
        <p:nvSpPr>
          <p:cNvPr id="248" name="tb"/>
          <p:cNvSpPr txBox="1"/>
          <p:nvPr/>
        </p:nvSpPr>
        <p:spPr>
          <a:xfrm>
            <a:off x="8049176" y="2480000"/>
            <a:ext cx="34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250" b="0" strike="noStrike" spc="-1">
                <a:solidFill>
                  <a:srgbClr val="3F3F3F"/>
                </a:solidFill>
                <a:latin typeface="Calibri"/>
                <a:ea typeface="Calibri"/>
              </a:rPr>
              <a:t>umbral de inactividad para segmentar</a:t>
            </a:r>
          </a:p>
        </p:txBody>
      </p:sp>
      <p:sp>
        <p:nvSpPr>
          <p:cNvPr id="249" name="tb"/>
          <p:cNvSpPr txBox="1"/>
          <p:nvPr/>
        </p:nvSpPr>
        <p:spPr>
          <a:xfrm>
            <a:off x="696000" y="3060000"/>
            <a:ext cx="10801588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0000"/>
              </a:lnSpc>
              <a:buNone/>
            </a:pPr>
            <a:r>
              <a:rPr lang="es-419" sz="1200" b="1" strike="noStrike" spc="-1">
                <a:solidFill>
                  <a:srgbClr val="8D8D8D"/>
                </a:solidFill>
                <a:latin typeface="Calibri"/>
                <a:ea typeface="Calibri"/>
              </a:rPr>
              <a:t>Los 6 roles operativos</a:t>
            </a:r>
          </a:p>
        </p:txBody>
      </p:sp>
      <p:sp>
        <p:nvSpPr>
          <p:cNvPr id="250" name="card"/>
          <p:cNvSpPr/>
          <p:nvPr/>
        </p:nvSpPr>
        <p:spPr>
          <a:xfrm>
            <a:off x="696000" y="3320000"/>
            <a:ext cx="1658598" cy="420000"/>
          </a:xfrm>
          <a:prstGeom prst="roundRect">
            <a:avLst>
              <a:gd name="adj" fmla="val 50000"/>
            </a:avLst>
          </a:prstGeom>
          <a:solidFill>
            <a:srgbClr val="FDF3D3"/>
          </a:solidFill>
          <a:ln w="9525">
            <a:solidFill>
              <a:srgbClr val="ECD98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51" name="tb"/>
          <p:cNvSpPr txBox="1"/>
          <p:nvPr/>
        </p:nvSpPr>
        <p:spPr>
          <a:xfrm>
            <a:off x="696000" y="3320000"/>
            <a:ext cx="1658598" cy="420000"/>
          </a:xfrm>
          <a:prstGeom prst="rect">
            <a:avLst/>
          </a:prstGeom>
          <a:noFill/>
          <a:ln>
            <a:noFill/>
          </a:ln>
        </p:spPr>
        <p:txBody>
          <a:bodyPr wrap="square" lIns="10000" tIns="45720" rIns="1000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200" b="1" strike="noStrike" spc="-1">
                <a:solidFill>
                  <a:srgbClr val="6B5A16"/>
                </a:solidFill>
                <a:latin typeface="Calibri"/>
                <a:ea typeface="Calibri"/>
              </a:rPr>
              <a:t>Administración</a:t>
            </a:r>
          </a:p>
        </p:txBody>
      </p:sp>
      <p:sp>
        <p:nvSpPr>
          <p:cNvPr id="252" name="card"/>
          <p:cNvSpPr/>
          <p:nvPr/>
        </p:nvSpPr>
        <p:spPr>
          <a:xfrm>
            <a:off x="2524598" y="3320000"/>
            <a:ext cx="1658598" cy="420000"/>
          </a:xfrm>
          <a:prstGeom prst="roundRect">
            <a:avLst>
              <a:gd name="adj" fmla="val 50000"/>
            </a:avLst>
          </a:prstGeom>
          <a:solidFill>
            <a:srgbClr val="FDF3D3"/>
          </a:solidFill>
          <a:ln w="9525">
            <a:solidFill>
              <a:srgbClr val="ECD98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53" name="tb"/>
          <p:cNvSpPr txBox="1"/>
          <p:nvPr/>
        </p:nvSpPr>
        <p:spPr>
          <a:xfrm>
            <a:off x="2524598" y="3320000"/>
            <a:ext cx="1658598" cy="420000"/>
          </a:xfrm>
          <a:prstGeom prst="rect">
            <a:avLst/>
          </a:prstGeom>
          <a:noFill/>
          <a:ln>
            <a:noFill/>
          </a:ln>
        </p:spPr>
        <p:txBody>
          <a:bodyPr wrap="square" lIns="10000" tIns="45720" rIns="1000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200" b="1" strike="noStrike" spc="-1">
                <a:solidFill>
                  <a:srgbClr val="6B5A16"/>
                </a:solidFill>
                <a:latin typeface="Calibri"/>
                <a:ea typeface="Calibri"/>
              </a:rPr>
              <a:t>Ventas</a:t>
            </a:r>
          </a:p>
        </p:txBody>
      </p:sp>
      <p:sp>
        <p:nvSpPr>
          <p:cNvPr id="254" name="card"/>
          <p:cNvSpPr/>
          <p:nvPr/>
        </p:nvSpPr>
        <p:spPr>
          <a:xfrm>
            <a:off x="4353196" y="3320000"/>
            <a:ext cx="1658598" cy="420000"/>
          </a:xfrm>
          <a:prstGeom prst="roundRect">
            <a:avLst>
              <a:gd name="adj" fmla="val 50000"/>
            </a:avLst>
          </a:prstGeom>
          <a:solidFill>
            <a:srgbClr val="FDF3D3"/>
          </a:solidFill>
          <a:ln w="9525">
            <a:solidFill>
              <a:srgbClr val="ECD98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55" name="tb"/>
          <p:cNvSpPr txBox="1"/>
          <p:nvPr/>
        </p:nvSpPr>
        <p:spPr>
          <a:xfrm>
            <a:off x="4353196" y="3320000"/>
            <a:ext cx="1658598" cy="420000"/>
          </a:xfrm>
          <a:prstGeom prst="rect">
            <a:avLst/>
          </a:prstGeom>
          <a:noFill/>
          <a:ln>
            <a:noFill/>
          </a:ln>
        </p:spPr>
        <p:txBody>
          <a:bodyPr wrap="square" lIns="10000" tIns="45720" rIns="1000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200" b="1" strike="noStrike" spc="-1">
                <a:solidFill>
                  <a:srgbClr val="6B5A16"/>
                </a:solidFill>
                <a:latin typeface="Calibri"/>
                <a:ea typeface="Calibri"/>
              </a:rPr>
              <a:t>Compras</a:t>
            </a:r>
          </a:p>
        </p:txBody>
      </p:sp>
      <p:sp>
        <p:nvSpPr>
          <p:cNvPr id="256" name="card"/>
          <p:cNvSpPr/>
          <p:nvPr/>
        </p:nvSpPr>
        <p:spPr>
          <a:xfrm>
            <a:off x="6181794" y="3320000"/>
            <a:ext cx="1658598" cy="420000"/>
          </a:xfrm>
          <a:prstGeom prst="roundRect">
            <a:avLst>
              <a:gd name="adj" fmla="val 50000"/>
            </a:avLst>
          </a:prstGeom>
          <a:solidFill>
            <a:srgbClr val="FDF3D3"/>
          </a:solidFill>
          <a:ln w="9525">
            <a:solidFill>
              <a:srgbClr val="ECD98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57" name="tb"/>
          <p:cNvSpPr txBox="1"/>
          <p:nvPr/>
        </p:nvSpPr>
        <p:spPr>
          <a:xfrm>
            <a:off x="6181794" y="3320000"/>
            <a:ext cx="1658598" cy="420000"/>
          </a:xfrm>
          <a:prstGeom prst="rect">
            <a:avLst/>
          </a:prstGeom>
          <a:noFill/>
          <a:ln>
            <a:noFill/>
          </a:ln>
        </p:spPr>
        <p:txBody>
          <a:bodyPr wrap="square" lIns="10000" tIns="45720" rIns="1000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200" b="1" strike="noStrike" spc="-1">
                <a:solidFill>
                  <a:srgbClr val="6B5A16"/>
                </a:solidFill>
                <a:latin typeface="Calibri"/>
                <a:ea typeface="Calibri"/>
              </a:rPr>
              <a:t>Reportes</a:t>
            </a:r>
          </a:p>
        </p:txBody>
      </p:sp>
      <p:sp>
        <p:nvSpPr>
          <p:cNvPr id="258" name="card"/>
          <p:cNvSpPr/>
          <p:nvPr/>
        </p:nvSpPr>
        <p:spPr>
          <a:xfrm>
            <a:off x="8010392" y="3320000"/>
            <a:ext cx="1658598" cy="420000"/>
          </a:xfrm>
          <a:prstGeom prst="roundRect">
            <a:avLst>
              <a:gd name="adj" fmla="val 50000"/>
            </a:avLst>
          </a:prstGeom>
          <a:solidFill>
            <a:srgbClr val="FDF3D3"/>
          </a:solidFill>
          <a:ln w="9525">
            <a:solidFill>
              <a:srgbClr val="ECD98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59" name="tb"/>
          <p:cNvSpPr txBox="1"/>
          <p:nvPr/>
        </p:nvSpPr>
        <p:spPr>
          <a:xfrm>
            <a:off x="8010392" y="3320000"/>
            <a:ext cx="1658598" cy="420000"/>
          </a:xfrm>
          <a:prstGeom prst="rect">
            <a:avLst/>
          </a:prstGeom>
          <a:noFill/>
          <a:ln>
            <a:noFill/>
          </a:ln>
        </p:spPr>
        <p:txBody>
          <a:bodyPr wrap="square" lIns="10000" tIns="45720" rIns="1000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200" b="1" strike="noStrike" spc="-1">
                <a:solidFill>
                  <a:srgbClr val="6B5A16"/>
                </a:solidFill>
                <a:latin typeface="Calibri"/>
                <a:ea typeface="Calibri"/>
              </a:rPr>
              <a:t>Caja</a:t>
            </a:r>
          </a:p>
        </p:txBody>
      </p:sp>
      <p:sp>
        <p:nvSpPr>
          <p:cNvPr id="260" name="card"/>
          <p:cNvSpPr/>
          <p:nvPr/>
        </p:nvSpPr>
        <p:spPr>
          <a:xfrm>
            <a:off x="9838990" y="3320000"/>
            <a:ext cx="1658598" cy="420000"/>
          </a:xfrm>
          <a:prstGeom prst="roundRect">
            <a:avLst>
              <a:gd name="adj" fmla="val 50000"/>
            </a:avLst>
          </a:prstGeom>
          <a:solidFill>
            <a:srgbClr val="FDF3D3"/>
          </a:solidFill>
          <a:ln w="9525">
            <a:solidFill>
              <a:srgbClr val="ECD98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61" name="tb"/>
          <p:cNvSpPr txBox="1"/>
          <p:nvPr/>
        </p:nvSpPr>
        <p:spPr>
          <a:xfrm>
            <a:off x="9838990" y="3320000"/>
            <a:ext cx="1658598" cy="420000"/>
          </a:xfrm>
          <a:prstGeom prst="rect">
            <a:avLst/>
          </a:prstGeom>
          <a:noFill/>
          <a:ln>
            <a:noFill/>
          </a:ln>
        </p:spPr>
        <p:txBody>
          <a:bodyPr wrap="square" lIns="10000" tIns="45720" rIns="1000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200" b="1" strike="noStrike" spc="-1">
                <a:solidFill>
                  <a:srgbClr val="6B5A16"/>
                </a:solidFill>
                <a:latin typeface="Calibri"/>
                <a:ea typeface="Calibri"/>
              </a:rPr>
              <a:t>Logística</a:t>
            </a:r>
          </a:p>
        </p:txBody>
      </p:sp>
      <p:sp>
        <p:nvSpPr>
          <p:cNvPr id="262" name="card"/>
          <p:cNvSpPr/>
          <p:nvPr/>
        </p:nvSpPr>
        <p:spPr>
          <a:xfrm>
            <a:off x="696000" y="3960000"/>
            <a:ext cx="6300000" cy="170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63" name="tb"/>
          <p:cNvSpPr txBox="1"/>
          <p:nvPr/>
        </p:nvSpPr>
        <p:spPr>
          <a:xfrm>
            <a:off x="996000" y="4160000"/>
            <a:ext cx="5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05000"/>
              </a:lnSpc>
              <a:buNone/>
            </a:pPr>
            <a:r>
              <a:rPr lang="es-419" sz="1450" b="1" strike="noStrike" spc="-1">
                <a:solidFill>
                  <a:srgbClr val="003264"/>
                </a:solidFill>
                <a:latin typeface="Calibri"/>
                <a:ea typeface="Calibri"/>
              </a:rPr>
              <a:t>Preprocesamiento</a:t>
            </a:r>
          </a:p>
        </p:txBody>
      </p:sp>
      <p:sp>
        <p:nvSpPr>
          <p:cNvPr id="264" name="tb"/>
          <p:cNvSpPr txBox="1"/>
          <p:nvPr/>
        </p:nvSpPr>
        <p:spPr>
          <a:xfrm>
            <a:off x="996000" y="4520000"/>
            <a:ext cx="5700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8000"/>
              </a:lnSpc>
              <a:spcBef>
                <a:spcPts val="400"/>
              </a:spcBef>
              <a:buNone/>
            </a:pPr>
            <a:r>
              <a:rPr lang="es-419" sz="1250" b="1" strike="noStrike" spc="-1">
                <a:solidFill>
                  <a:srgbClr val="F3C133"/>
                </a:solidFill>
                <a:latin typeface="Calibri"/>
                <a:ea typeface="Calibri"/>
              </a:rPr>
              <a:t>•  </a:t>
            </a:r>
            <a:r>
              <a:rPr lang="es-419" sz="1200" b="0" strike="noStrike" spc="-1">
                <a:solidFill>
                  <a:srgbClr val="3F3F3F"/>
                </a:solidFill>
                <a:latin typeface="Calibri"/>
                <a:ea typeface="Calibri"/>
              </a:rPr>
              <a:t>Recolección 100% pasiva y algorítmica: sin etiquetado manual ni sesgo humano.</a:t>
            </a:r>
          </a:p>
          <a:p>
            <a:pPr indent="0" algn="l">
              <a:lnSpc>
                <a:spcPct val="118000"/>
              </a:lnSpc>
              <a:spcBef>
                <a:spcPts val="400"/>
              </a:spcBef>
              <a:buNone/>
            </a:pPr>
            <a:r>
              <a:rPr lang="es-419" sz="1250" b="1" strike="noStrike" spc="-1">
                <a:solidFill>
                  <a:srgbClr val="F3C133"/>
                </a:solidFill>
                <a:latin typeface="Calibri"/>
                <a:ea typeface="Calibri"/>
              </a:rPr>
              <a:t>•  </a:t>
            </a:r>
            <a:r>
              <a:rPr lang="es-419" sz="1200" b="0" strike="noStrike" spc="-1">
                <a:solidFill>
                  <a:srgbClr val="3F3F3F"/>
                </a:solidFill>
                <a:latin typeface="Calibri"/>
                <a:ea typeface="Calibri"/>
              </a:rPr>
              <a:t>Se filtraron accesos accidentales (permanencia menor a 3 s).</a:t>
            </a:r>
          </a:p>
          <a:p>
            <a:pPr indent="0" algn="l">
              <a:lnSpc>
                <a:spcPct val="118000"/>
              </a:lnSpc>
              <a:spcBef>
                <a:spcPts val="400"/>
              </a:spcBef>
              <a:buNone/>
            </a:pPr>
            <a:r>
              <a:rPr lang="es-419" sz="1250" b="1" strike="noStrike" spc="-1">
                <a:solidFill>
                  <a:srgbClr val="F3C133"/>
                </a:solidFill>
                <a:latin typeface="Calibri"/>
                <a:ea typeface="Calibri"/>
              </a:rPr>
              <a:t>•  </a:t>
            </a:r>
            <a:r>
              <a:rPr lang="es-419" sz="1200" b="0" strike="noStrike" spc="-1">
                <a:solidFill>
                  <a:srgbClr val="3F3F3F"/>
                </a:solidFill>
                <a:latin typeface="Calibri"/>
                <a:ea typeface="Calibri"/>
              </a:rPr>
              <a:t>Se descartaron sesiones incompletas (menos de 2 eventos válidos).</a:t>
            </a:r>
          </a:p>
        </p:txBody>
      </p:sp>
      <p:sp>
        <p:nvSpPr>
          <p:cNvPr id="265" name="card"/>
          <p:cNvSpPr/>
          <p:nvPr/>
        </p:nvSpPr>
        <p:spPr>
          <a:xfrm>
            <a:off x="7237588" y="3960000"/>
            <a:ext cx="4260000" cy="170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66" name="tb"/>
          <p:cNvSpPr txBox="1"/>
          <p:nvPr/>
        </p:nvSpPr>
        <p:spPr>
          <a:xfrm>
            <a:off x="7497588" y="4160000"/>
            <a:ext cx="37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05000"/>
              </a:lnSpc>
              <a:buNone/>
            </a:pPr>
            <a:r>
              <a:rPr lang="es-419" sz="1300" b="1" strike="noStrike" spc="-1">
                <a:solidFill>
                  <a:srgbClr val="003264"/>
                </a:solidFill>
                <a:latin typeface="Calibri"/>
                <a:ea typeface="Calibri"/>
              </a:rPr>
              <a:t>División temporal (sin fuga de datos)</a:t>
            </a:r>
          </a:p>
        </p:txBody>
      </p:sp>
      <p:sp>
        <p:nvSpPr>
          <p:cNvPr id="267" name="rect"/>
          <p:cNvSpPr/>
          <p:nvPr/>
        </p:nvSpPr>
        <p:spPr>
          <a:xfrm>
            <a:off x="7497588" y="4680000"/>
            <a:ext cx="2618000" cy="420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68" name="tb"/>
          <p:cNvSpPr txBox="1"/>
          <p:nvPr/>
        </p:nvSpPr>
        <p:spPr>
          <a:xfrm>
            <a:off x="7497588" y="4680000"/>
            <a:ext cx="2618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70%</a:t>
            </a:r>
          </a:p>
        </p:txBody>
      </p:sp>
      <p:sp>
        <p:nvSpPr>
          <p:cNvPr id="269" name="rect"/>
          <p:cNvSpPr/>
          <p:nvPr/>
        </p:nvSpPr>
        <p:spPr>
          <a:xfrm>
            <a:off x="10115588" y="4680000"/>
            <a:ext cx="748000" cy="420000"/>
          </a:xfrm>
          <a:prstGeom prst="rect">
            <a:avLst/>
          </a:prstGeom>
          <a:solidFill>
            <a:srgbClr val="F3C133"/>
          </a:solid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70" name="tb"/>
          <p:cNvSpPr txBox="1"/>
          <p:nvPr/>
        </p:nvSpPr>
        <p:spPr>
          <a:xfrm>
            <a:off x="10115588" y="4680000"/>
            <a:ext cx="748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20%</a:t>
            </a:r>
          </a:p>
        </p:txBody>
      </p:sp>
      <p:sp>
        <p:nvSpPr>
          <p:cNvPr id="271" name="rect"/>
          <p:cNvSpPr/>
          <p:nvPr/>
        </p:nvSpPr>
        <p:spPr>
          <a:xfrm>
            <a:off x="10863588" y="4680000"/>
            <a:ext cx="374000" cy="420000"/>
          </a:xfrm>
          <a:prstGeom prst="rect">
            <a:avLst/>
          </a:prstGeom>
          <a:solidFill>
            <a:srgbClr val="9AA7B8"/>
          </a:solid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72" name="tb"/>
          <p:cNvSpPr txBox="1"/>
          <p:nvPr/>
        </p:nvSpPr>
        <p:spPr>
          <a:xfrm>
            <a:off x="10863588" y="4680000"/>
            <a:ext cx="374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10%</a:t>
            </a:r>
          </a:p>
        </p:txBody>
      </p:sp>
      <p:sp>
        <p:nvSpPr>
          <p:cNvPr id="273" name="tb"/>
          <p:cNvSpPr txBox="1"/>
          <p:nvPr/>
        </p:nvSpPr>
        <p:spPr>
          <a:xfrm>
            <a:off x="8256588" y="5190000"/>
            <a:ext cx="11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000" b="0" strike="noStrike" spc="-1">
                <a:solidFill>
                  <a:srgbClr val="3F3F3F"/>
                </a:solidFill>
                <a:latin typeface="Calibri"/>
                <a:ea typeface="Calibri"/>
              </a:rPr>
              <a:t>Entrenamiento</a:t>
            </a:r>
          </a:p>
        </p:txBody>
      </p:sp>
      <p:sp>
        <p:nvSpPr>
          <p:cNvPr id="274" name="tb"/>
          <p:cNvSpPr txBox="1"/>
          <p:nvPr/>
        </p:nvSpPr>
        <p:spPr>
          <a:xfrm>
            <a:off x="9939588" y="5190000"/>
            <a:ext cx="11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000" b="0" strike="noStrike" spc="-1">
                <a:solidFill>
                  <a:srgbClr val="3F3F3F"/>
                </a:solidFill>
                <a:latin typeface="Calibri"/>
                <a:ea typeface="Calibri"/>
              </a:rPr>
              <a:t>Validación</a:t>
            </a:r>
          </a:p>
        </p:txBody>
      </p:sp>
      <p:sp>
        <p:nvSpPr>
          <p:cNvPr id="275" name="tb"/>
          <p:cNvSpPr txBox="1"/>
          <p:nvPr/>
        </p:nvSpPr>
        <p:spPr>
          <a:xfrm>
            <a:off x="10500588" y="5190000"/>
            <a:ext cx="11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1000" b="0" strike="noStrike" spc="-1">
                <a:solidFill>
                  <a:srgbClr val="3F3F3F"/>
                </a:solidFill>
                <a:latin typeface="Calibri"/>
                <a:ea typeface="Calibri"/>
              </a:rPr>
              <a:t>Prueba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"/>
          <p:cNvSpPr>
            <a:spLocks noGrp="1"/>
          </p:cNvSpPr>
          <p:nvPr>
            <p:ph type="title"/>
          </p:nvPr>
        </p:nvSpPr>
        <p:spPr>
          <a:xfrm>
            <a:off x="696000" y="320400"/>
            <a:ext cx="10801588" cy="620000"/>
          </a:xfrm>
          <a:prstGeom prst="rect">
            <a:avLst/>
          </a:prstGeom>
          <a:noFill/>
          <a:ln w="25560">
            <a:noFill/>
          </a:ln>
        </p:spPr>
        <p:txBody>
          <a:bodyPr lIns="118080" tIns="60000" rIns="118080" bIns="60000" anchor="t" anchorCtr="1">
            <a:noAutofit/>
          </a:bodyPr>
          <a:lstStyle/>
          <a:p>
            <a:pPr indent="0" algn="ctr">
              <a:lnSpc>
                <a:spcPct val="11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METODOLOGÍA</a:t>
            </a:r>
          </a:p>
        </p:txBody>
      </p:sp>
      <p:sp>
        <p:nvSpPr>
          <p:cNvPr id="276" name="tb"/>
          <p:cNvSpPr txBox="1"/>
          <p:nvPr/>
        </p:nvSpPr>
        <p:spPr>
          <a:xfrm>
            <a:off x="696000" y="980000"/>
            <a:ext cx="10801588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2400" b="1" strike="noStrike" spc="-1">
                <a:solidFill>
                  <a:srgbClr val="003264"/>
                </a:solidFill>
                <a:latin typeface="Calibri"/>
                <a:ea typeface="Calibri"/>
              </a:rPr>
              <a:t>El corazón técnico: un ciclo de decisión con seguridad nativa</a:t>
            </a:r>
          </a:p>
        </p:txBody>
      </p:sp>
      <p:sp>
        <p:nvSpPr>
          <p:cNvPr id="277" name="card"/>
          <p:cNvSpPr/>
          <p:nvPr/>
        </p:nvSpPr>
        <p:spPr>
          <a:xfrm>
            <a:off x="696000" y="2360000"/>
            <a:ext cx="1760000" cy="1620000"/>
          </a:xfrm>
          <a:prstGeom prst="roundRect">
            <a:avLst>
              <a:gd name="adj" fmla="val 8000"/>
            </a:avLst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78" name="tb"/>
          <p:cNvSpPr txBox="1"/>
          <p:nvPr/>
        </p:nvSpPr>
        <p:spPr>
          <a:xfrm>
            <a:off x="696000" y="2530000"/>
            <a:ext cx="176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0" rIns="70000" bIns="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350" b="1" strike="noStrike" spc="-1">
                <a:solidFill>
                  <a:srgbClr val="FFFFFF"/>
                </a:solidFill>
                <a:latin typeface="Calibri"/>
                <a:ea typeface="Calibri"/>
              </a:rPr>
              <a:t>Estado  sₜ</a:t>
            </a:r>
          </a:p>
        </p:txBody>
      </p:sp>
      <p:sp>
        <p:nvSpPr>
          <p:cNvPr id="279" name="tb"/>
          <p:cNvSpPr txBox="1"/>
          <p:nvPr/>
        </p:nvSpPr>
        <p:spPr>
          <a:xfrm>
            <a:off x="696000" y="3060000"/>
            <a:ext cx="176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0" rIns="70000" bIns="0" anchor="t">
            <a:noAutofit/>
          </a:bodyPr>
          <a:lstStyle/>
          <a:p>
            <a:pPr indent="0" algn="ctr">
              <a:lnSpc>
                <a:spcPct val="112000"/>
              </a:lnSpc>
              <a:buNone/>
            </a:pPr>
            <a:r>
              <a:rPr lang="es-419" sz="1050" b="0" strike="noStrike" spc="-1">
                <a:solidFill>
                  <a:srgbClr val="CDD9E8"/>
                </a:solidFill>
                <a:latin typeface="Calibri"/>
                <a:ea typeface="Calibri"/>
              </a:rPr>
              <a:t>Menú actual + vector de la GRU</a:t>
            </a:r>
          </a:p>
        </p:txBody>
      </p:sp>
      <p:cxnSp>
        <p:nvCxnSpPr>
          <p:cNvPr id="280" name="arr"/>
          <p:cNvCxnSpPr/>
          <p:nvPr/>
        </p:nvCxnSpPr>
        <p:spPr>
          <a:xfrm>
            <a:off x="2536063" y="3170000"/>
            <a:ext cx="340269" cy="0"/>
          </a:xfrm>
          <a:prstGeom prst="straightConnector1">
            <a:avLst/>
          </a:prstGeom>
          <a:ln w="22225">
            <a:solidFill>
              <a:srgbClr val="F3C133"/>
            </a:solidFill>
            <a:tailEnd type="triangle" w="lg" len="lg"/>
          </a:ln>
        </p:spPr>
      </p:cxnSp>
      <p:sp>
        <p:nvSpPr>
          <p:cNvPr id="281" name="card"/>
          <p:cNvSpPr/>
          <p:nvPr/>
        </p:nvSpPr>
        <p:spPr>
          <a:xfrm>
            <a:off x="2956397" y="2360000"/>
            <a:ext cx="1760000" cy="1620000"/>
          </a:xfrm>
          <a:prstGeom prst="roundRect">
            <a:avLst>
              <a:gd name="adj" fmla="val 8000"/>
            </a:avLst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82" name="tb"/>
          <p:cNvSpPr txBox="1"/>
          <p:nvPr/>
        </p:nvSpPr>
        <p:spPr>
          <a:xfrm>
            <a:off x="2956397" y="2530000"/>
            <a:ext cx="176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0" rIns="70000" bIns="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350" b="1" strike="noStrike" spc="-1">
                <a:solidFill>
                  <a:srgbClr val="FFFFFF"/>
                </a:solidFill>
                <a:latin typeface="Calibri"/>
                <a:ea typeface="Calibri"/>
              </a:rPr>
              <a:t>Q-values</a:t>
            </a:r>
          </a:p>
        </p:txBody>
      </p:sp>
      <p:sp>
        <p:nvSpPr>
          <p:cNvPr id="283" name="tb"/>
          <p:cNvSpPr txBox="1"/>
          <p:nvPr/>
        </p:nvSpPr>
        <p:spPr>
          <a:xfrm>
            <a:off x="2956397" y="3060000"/>
            <a:ext cx="176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0" rIns="70000" bIns="0" anchor="t">
            <a:noAutofit/>
          </a:bodyPr>
          <a:lstStyle/>
          <a:p>
            <a:pPr indent="0" algn="ctr">
              <a:lnSpc>
                <a:spcPct val="112000"/>
              </a:lnSpc>
              <a:buNone/>
            </a:pPr>
            <a:r>
              <a:rPr lang="es-419" sz="1050" b="0" strike="noStrike" spc="-1">
                <a:solidFill>
                  <a:srgbClr val="CDD9E8"/>
                </a:solidFill>
                <a:latin typeface="Calibri"/>
                <a:ea typeface="Calibri"/>
              </a:rPr>
              <a:t>Q(sₜ , a) por cada acción candidata</a:t>
            </a:r>
          </a:p>
        </p:txBody>
      </p:sp>
      <p:cxnSp>
        <p:nvCxnSpPr>
          <p:cNvPr id="284" name="arr"/>
          <p:cNvCxnSpPr/>
          <p:nvPr/>
        </p:nvCxnSpPr>
        <p:spPr>
          <a:xfrm>
            <a:off x="4796460" y="3170000"/>
            <a:ext cx="340269" cy="0"/>
          </a:xfrm>
          <a:prstGeom prst="straightConnector1">
            <a:avLst/>
          </a:prstGeom>
          <a:ln w="22225">
            <a:solidFill>
              <a:srgbClr val="F3C133"/>
            </a:solidFill>
            <a:tailEnd type="triangle" w="lg" len="lg"/>
          </a:ln>
        </p:spPr>
      </p:cxnSp>
      <p:sp>
        <p:nvSpPr>
          <p:cNvPr id="285" name="card"/>
          <p:cNvSpPr/>
          <p:nvPr/>
        </p:nvSpPr>
        <p:spPr>
          <a:xfrm>
            <a:off x="5216794" y="2360000"/>
            <a:ext cx="1760000" cy="1620000"/>
          </a:xfrm>
          <a:prstGeom prst="roundRect">
            <a:avLst>
              <a:gd name="adj" fmla="val 8000"/>
            </a:avLst>
          </a:prstGeom>
          <a:solidFill>
            <a:srgbClr val="F3C1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86" name="tb"/>
          <p:cNvSpPr txBox="1"/>
          <p:nvPr/>
        </p:nvSpPr>
        <p:spPr>
          <a:xfrm>
            <a:off x="5216794" y="2530000"/>
            <a:ext cx="176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0" rIns="70000" bIns="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350" b="1" strike="noStrike" spc="-1">
                <a:solidFill>
                  <a:srgbClr val="003264"/>
                </a:solidFill>
                <a:latin typeface="Calibri"/>
                <a:ea typeface="Calibri"/>
              </a:rPr>
              <a:t>Máscara RBAC</a:t>
            </a:r>
          </a:p>
        </p:txBody>
      </p:sp>
      <p:sp>
        <p:nvSpPr>
          <p:cNvPr id="287" name="tb"/>
          <p:cNvSpPr txBox="1"/>
          <p:nvPr/>
        </p:nvSpPr>
        <p:spPr>
          <a:xfrm>
            <a:off x="5216794" y="3060000"/>
            <a:ext cx="176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0" rIns="70000" bIns="0" anchor="t">
            <a:noAutofit/>
          </a:bodyPr>
          <a:lstStyle/>
          <a:p>
            <a:pPr indent="0" algn="ctr">
              <a:lnSpc>
                <a:spcPct val="112000"/>
              </a:lnSpc>
              <a:buNone/>
            </a:pPr>
            <a:r>
              <a:rPr lang="es-419" sz="1050" b="0" strike="noStrike" spc="-1">
                <a:solidFill>
                  <a:srgbClr val="3A3A1E"/>
                </a:solidFill>
                <a:latin typeface="Calibri"/>
                <a:ea typeface="Calibri"/>
              </a:rPr>
              <a:t>Q to menos infinito si la función no está permitida</a:t>
            </a:r>
          </a:p>
        </p:txBody>
      </p:sp>
      <p:cxnSp>
        <p:nvCxnSpPr>
          <p:cNvPr id="288" name="arr"/>
          <p:cNvCxnSpPr/>
          <p:nvPr/>
        </p:nvCxnSpPr>
        <p:spPr>
          <a:xfrm>
            <a:off x="7056857" y="3170000"/>
            <a:ext cx="340269" cy="0"/>
          </a:xfrm>
          <a:prstGeom prst="straightConnector1">
            <a:avLst/>
          </a:prstGeom>
          <a:ln w="22225">
            <a:solidFill>
              <a:srgbClr val="F3C133"/>
            </a:solidFill>
            <a:tailEnd type="triangle" w="lg" len="lg"/>
          </a:ln>
        </p:spPr>
      </p:cxnSp>
      <p:sp>
        <p:nvSpPr>
          <p:cNvPr id="289" name="card"/>
          <p:cNvSpPr/>
          <p:nvPr/>
        </p:nvSpPr>
        <p:spPr>
          <a:xfrm>
            <a:off x="7477191" y="2360000"/>
            <a:ext cx="1760000" cy="1620000"/>
          </a:xfrm>
          <a:prstGeom prst="roundRect">
            <a:avLst>
              <a:gd name="adj" fmla="val 8000"/>
            </a:avLst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90" name="tb"/>
          <p:cNvSpPr txBox="1"/>
          <p:nvPr/>
        </p:nvSpPr>
        <p:spPr>
          <a:xfrm>
            <a:off x="7477191" y="2530000"/>
            <a:ext cx="176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0" rIns="70000" bIns="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350" b="1" strike="noStrike" spc="-1">
                <a:solidFill>
                  <a:srgbClr val="FFFFFF"/>
                </a:solidFill>
                <a:latin typeface="Calibri"/>
                <a:ea typeface="Calibri"/>
              </a:rPr>
              <a:t>Acción  a*</a:t>
            </a:r>
          </a:p>
        </p:txBody>
      </p:sp>
      <p:sp>
        <p:nvSpPr>
          <p:cNvPr id="291" name="tb"/>
          <p:cNvSpPr txBox="1"/>
          <p:nvPr/>
        </p:nvSpPr>
        <p:spPr>
          <a:xfrm>
            <a:off x="7477191" y="3060000"/>
            <a:ext cx="176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0" rIns="70000" bIns="0" anchor="t">
            <a:noAutofit/>
          </a:bodyPr>
          <a:lstStyle/>
          <a:p>
            <a:pPr indent="0" algn="ctr">
              <a:lnSpc>
                <a:spcPct val="112000"/>
              </a:lnSpc>
              <a:buNone/>
            </a:pPr>
            <a:r>
              <a:rPr lang="es-419" sz="1050" b="0" strike="noStrike" spc="-1">
                <a:solidFill>
                  <a:srgbClr val="CDD9E8"/>
                </a:solidFill>
                <a:latin typeface="Calibri"/>
                <a:ea typeface="Calibri"/>
              </a:rPr>
              <a:t>arg max Q: promueve o mueve un nodo</a:t>
            </a:r>
          </a:p>
        </p:txBody>
      </p:sp>
      <p:cxnSp>
        <p:nvCxnSpPr>
          <p:cNvPr id="292" name="arr"/>
          <p:cNvCxnSpPr/>
          <p:nvPr/>
        </p:nvCxnSpPr>
        <p:spPr>
          <a:xfrm>
            <a:off x="9317254" y="3170000"/>
            <a:ext cx="340269" cy="0"/>
          </a:xfrm>
          <a:prstGeom prst="straightConnector1">
            <a:avLst/>
          </a:prstGeom>
          <a:ln w="22225">
            <a:solidFill>
              <a:srgbClr val="F3C133"/>
            </a:solidFill>
            <a:tailEnd type="triangle" w="lg" len="lg"/>
          </a:ln>
        </p:spPr>
      </p:cxnSp>
      <p:sp>
        <p:nvSpPr>
          <p:cNvPr id="293" name="card"/>
          <p:cNvSpPr/>
          <p:nvPr/>
        </p:nvSpPr>
        <p:spPr>
          <a:xfrm>
            <a:off x="9737588" y="2360000"/>
            <a:ext cx="1760000" cy="1620000"/>
          </a:xfrm>
          <a:prstGeom prst="roundRect">
            <a:avLst>
              <a:gd name="adj" fmla="val 8000"/>
            </a:avLst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294" name="tb"/>
          <p:cNvSpPr txBox="1"/>
          <p:nvPr/>
        </p:nvSpPr>
        <p:spPr>
          <a:xfrm>
            <a:off x="9737588" y="2530000"/>
            <a:ext cx="176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0" rIns="70000" bIns="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350" b="1" strike="noStrike" spc="-1">
                <a:solidFill>
                  <a:srgbClr val="FFFFFF"/>
                </a:solidFill>
                <a:latin typeface="Calibri"/>
                <a:ea typeface="Calibri"/>
              </a:rPr>
              <a:t>Recompensa  rₜ</a:t>
            </a:r>
          </a:p>
        </p:txBody>
      </p:sp>
      <p:sp>
        <p:nvSpPr>
          <p:cNvPr id="295" name="tb"/>
          <p:cNvSpPr txBox="1"/>
          <p:nvPr/>
        </p:nvSpPr>
        <p:spPr>
          <a:xfrm>
            <a:off x="9737588" y="3060000"/>
            <a:ext cx="176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0" rIns="70000" bIns="0" anchor="t">
            <a:noAutofit/>
          </a:bodyPr>
          <a:lstStyle/>
          <a:p>
            <a:pPr indent="0" algn="ctr">
              <a:lnSpc>
                <a:spcPct val="112000"/>
              </a:lnSpc>
              <a:buNone/>
            </a:pPr>
            <a:r>
              <a:rPr lang="es-419" sz="1050" b="0" strike="noStrike" spc="-1">
                <a:solidFill>
                  <a:srgbClr val="CDD9E8"/>
                </a:solidFill>
                <a:latin typeface="Calibri"/>
                <a:ea typeface="Calibri"/>
              </a:rPr>
              <a:t>Reducción de clics (Delta M1)</a:t>
            </a:r>
          </a:p>
        </p:txBody>
      </p:sp>
      <p:cxnSp>
        <p:nvCxnSpPr>
          <p:cNvPr id="296" name="arr"/>
          <p:cNvCxnSpPr/>
          <p:nvPr/>
        </p:nvCxnSpPr>
        <p:spPr>
          <a:xfrm>
            <a:off x="10617588" y="4020000"/>
            <a:ext cx="0" cy="440000"/>
          </a:xfrm>
          <a:prstGeom prst="straightConnector1">
            <a:avLst/>
          </a:prstGeom>
          <a:ln w="19050">
            <a:solidFill>
              <a:srgbClr val="9AA7B8"/>
            </a:solidFill>
            <a:tailEnd type="triangle" w="lg" len="lg"/>
          </a:ln>
        </p:spPr>
      </p:cxnSp>
      <p:cxnSp>
        <p:nvCxnSpPr>
          <p:cNvPr id="297" name="arr"/>
          <p:cNvCxnSpPr/>
          <p:nvPr/>
        </p:nvCxnSpPr>
        <p:spPr>
          <a:xfrm flipH="1">
            <a:off x="1576000" y="4500000"/>
            <a:ext cx="9041588" cy="0"/>
          </a:xfrm>
          <a:prstGeom prst="straightConnector1">
            <a:avLst/>
          </a:prstGeom>
          <a:ln w="19050">
            <a:solidFill>
              <a:srgbClr val="9AA7B8"/>
            </a:solidFill>
            <a:tailEnd type="triangle" w="lg" len="lg"/>
          </a:ln>
        </p:spPr>
      </p:cxnSp>
      <p:cxnSp>
        <p:nvCxnSpPr>
          <p:cNvPr id="298" name="arr"/>
          <p:cNvCxnSpPr/>
          <p:nvPr/>
        </p:nvCxnSpPr>
        <p:spPr>
          <a:xfrm flipV="1">
            <a:off x="1576000" y="4020000"/>
            <a:ext cx="0" cy="440000"/>
          </a:xfrm>
          <a:prstGeom prst="straightConnector1">
            <a:avLst/>
          </a:prstGeom>
          <a:ln w="19050">
            <a:solidFill>
              <a:srgbClr val="9AA7B8"/>
            </a:solidFill>
            <a:tailEnd type="triangle" w="lg" len="lg"/>
          </a:ln>
        </p:spPr>
      </p:cxnSp>
      <p:sp>
        <p:nvSpPr>
          <p:cNvPr id="299" name="tb"/>
          <p:cNvSpPr txBox="1"/>
          <p:nvPr/>
        </p:nvSpPr>
        <p:spPr>
          <a:xfrm>
            <a:off x="696000" y="4590000"/>
            <a:ext cx="10801588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ctr">
              <a:lnSpc>
                <a:spcPct val="110000"/>
              </a:lnSpc>
              <a:buNone/>
            </a:pPr>
            <a:r>
              <a:rPr lang="es-419" sz="1200" b="1" strike="noStrike" spc="-1">
                <a:solidFill>
                  <a:srgbClr val="003264"/>
                </a:solidFill>
                <a:latin typeface="Calibri"/>
                <a:ea typeface="Calibri"/>
              </a:rPr>
              <a:t>Retroalimentación:  </a:t>
            </a:r>
            <a:r>
              <a:rPr lang="es-419" sz="1200" b="0" strike="noStrike" spc="-1">
                <a:solidFill>
                  <a:srgbClr val="3F3F3F"/>
                </a:solidFill>
                <a:latin typeface="Calibri"/>
                <a:ea typeface="Calibri"/>
              </a:rPr>
              <a:t>el menú reestructurado genera el nuevo estado y el ciclo se repite hasta converger.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"/>
          <p:cNvSpPr>
            <a:spLocks noGrp="1"/>
          </p:cNvSpPr>
          <p:nvPr>
            <p:ph type="title"/>
          </p:nvPr>
        </p:nvSpPr>
        <p:spPr>
          <a:xfrm>
            <a:off x="696000" y="320400"/>
            <a:ext cx="10801588" cy="620000"/>
          </a:xfrm>
          <a:prstGeom prst="rect">
            <a:avLst/>
          </a:prstGeom>
          <a:noFill/>
          <a:ln w="25560">
            <a:noFill/>
          </a:ln>
        </p:spPr>
        <p:txBody>
          <a:bodyPr lIns="118080" tIns="60000" rIns="118080" bIns="60000" anchor="t" anchorCtr="1">
            <a:noAutofit/>
          </a:bodyPr>
          <a:lstStyle/>
          <a:p>
            <a:pPr indent="0" algn="ctr">
              <a:lnSpc>
                <a:spcPct val="11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METODOLOGÍA</a:t>
            </a:r>
          </a:p>
        </p:txBody>
      </p:sp>
      <p:sp>
        <p:nvSpPr>
          <p:cNvPr id="300" name="tb"/>
          <p:cNvSpPr txBox="1"/>
          <p:nvPr/>
        </p:nvSpPr>
        <p:spPr>
          <a:xfrm>
            <a:off x="696000" y="980000"/>
            <a:ext cx="10801588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2400" b="1" strike="noStrike" spc="-1">
                <a:solidFill>
                  <a:srgbClr val="003264"/>
                </a:solidFill>
                <a:latin typeface="Calibri"/>
                <a:ea typeface="Calibri"/>
              </a:rPr>
              <a:t>Reestructuración adaptativa, paso a paso</a:t>
            </a:r>
          </a:p>
        </p:txBody>
      </p:sp>
      <p:sp>
        <p:nvSpPr>
          <p:cNvPr id="301" name="badge"/>
          <p:cNvSpPr/>
          <p:nvPr/>
        </p:nvSpPr>
        <p:spPr>
          <a:xfrm>
            <a:off x="696000" y="1660000"/>
            <a:ext cx="540000" cy="540000"/>
          </a:xfrm>
          <a:prstGeom prst="ellipse">
            <a:avLst/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1900" b="1" strike="noStrike" spc="-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302" name="tb"/>
          <p:cNvSpPr txBox="1"/>
          <p:nvPr/>
        </p:nvSpPr>
        <p:spPr>
          <a:xfrm>
            <a:off x="1356000" y="1660000"/>
            <a:ext cx="60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05000"/>
              </a:lnSpc>
              <a:buNone/>
            </a:pPr>
            <a:r>
              <a:rPr lang="es-419" sz="1400" b="1" strike="noStrike" spc="-1">
                <a:solidFill>
                  <a:srgbClr val="003264"/>
                </a:solidFill>
                <a:latin typeface="Calibri"/>
                <a:ea typeface="Calibri"/>
              </a:rPr>
              <a:t>Recorrer acciones</a:t>
            </a:r>
          </a:p>
        </p:txBody>
      </p:sp>
      <p:sp>
        <p:nvSpPr>
          <p:cNvPr id="303" name="tb"/>
          <p:cNvSpPr txBox="1"/>
          <p:nvPr/>
        </p:nvSpPr>
        <p:spPr>
          <a:xfrm>
            <a:off x="1356000" y="1970000"/>
            <a:ext cx="609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5000"/>
              </a:lnSpc>
              <a:buNone/>
            </a:pPr>
            <a:r>
              <a:rPr lang="es-419" sz="1200" b="0" strike="noStrike" spc="-1">
                <a:solidFill>
                  <a:srgbClr val="3F3F3F"/>
                </a:solidFill>
                <a:latin typeface="Calibri"/>
                <a:ea typeface="Calibri"/>
              </a:rPr>
              <a:t>Se evalúa cada movimiento posible sobre el árbol del menú.</a:t>
            </a:r>
          </a:p>
        </p:txBody>
      </p:sp>
      <p:sp>
        <p:nvSpPr>
          <p:cNvPr id="304" name="badge"/>
          <p:cNvSpPr/>
          <p:nvPr/>
        </p:nvSpPr>
        <p:spPr>
          <a:xfrm>
            <a:off x="696000" y="2480000"/>
            <a:ext cx="540000" cy="540000"/>
          </a:xfrm>
          <a:prstGeom prst="ellipse">
            <a:avLst/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1900" b="1" strike="noStrike" spc="-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305" name="tb"/>
          <p:cNvSpPr txBox="1"/>
          <p:nvPr/>
        </p:nvSpPr>
        <p:spPr>
          <a:xfrm>
            <a:off x="1356000" y="2480000"/>
            <a:ext cx="60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05000"/>
              </a:lnSpc>
              <a:buNone/>
            </a:pPr>
            <a:r>
              <a:rPr lang="es-419" sz="1400" b="1" strike="noStrike" spc="-1">
                <a:solidFill>
                  <a:srgbClr val="003264"/>
                </a:solidFill>
                <a:latin typeface="Calibri"/>
                <a:ea typeface="Calibri"/>
              </a:rPr>
              <a:t>Aplicar máscara RBAC</a:t>
            </a:r>
          </a:p>
        </p:txBody>
      </p:sp>
      <p:sp>
        <p:nvSpPr>
          <p:cNvPr id="306" name="tb"/>
          <p:cNvSpPr txBox="1"/>
          <p:nvPr/>
        </p:nvSpPr>
        <p:spPr>
          <a:xfrm>
            <a:off x="1356000" y="2790000"/>
            <a:ext cx="609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5000"/>
              </a:lnSpc>
              <a:buNone/>
            </a:pPr>
            <a:r>
              <a:rPr lang="es-419" sz="1200" b="0" strike="noStrike" spc="-1">
                <a:solidFill>
                  <a:srgbClr val="3F3F3F"/>
                </a:solidFill>
                <a:latin typeface="Calibri"/>
                <a:ea typeface="Calibri"/>
              </a:rPr>
              <a:t>Si la acción promueve una función sin permiso del rol, su valor Q se fija en menos infinito.</a:t>
            </a:r>
          </a:p>
        </p:txBody>
      </p:sp>
      <p:sp>
        <p:nvSpPr>
          <p:cNvPr id="307" name="badge"/>
          <p:cNvSpPr/>
          <p:nvPr/>
        </p:nvSpPr>
        <p:spPr>
          <a:xfrm>
            <a:off x="696000" y="3300000"/>
            <a:ext cx="540000" cy="540000"/>
          </a:xfrm>
          <a:prstGeom prst="ellipse">
            <a:avLst/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1900" b="1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308" name="tb"/>
          <p:cNvSpPr txBox="1"/>
          <p:nvPr/>
        </p:nvSpPr>
        <p:spPr>
          <a:xfrm>
            <a:off x="1356000" y="3300000"/>
            <a:ext cx="60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05000"/>
              </a:lnSpc>
              <a:buNone/>
            </a:pPr>
            <a:r>
              <a:rPr lang="es-419" sz="1400" b="1" strike="noStrike" spc="-1">
                <a:solidFill>
                  <a:srgbClr val="003264"/>
                </a:solidFill>
                <a:latin typeface="Calibri"/>
                <a:ea typeface="Calibri"/>
              </a:rPr>
              <a:t>Elegir la óptima</a:t>
            </a:r>
          </a:p>
        </p:txBody>
      </p:sp>
      <p:sp>
        <p:nvSpPr>
          <p:cNvPr id="309" name="tb"/>
          <p:cNvSpPr txBox="1"/>
          <p:nvPr/>
        </p:nvSpPr>
        <p:spPr>
          <a:xfrm>
            <a:off x="1356000" y="3610000"/>
            <a:ext cx="609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5000"/>
              </a:lnSpc>
              <a:buNone/>
            </a:pPr>
            <a:r>
              <a:rPr lang="es-419" sz="1200" b="0" strike="noStrike" spc="-1">
                <a:solidFill>
                  <a:srgbClr val="3F3F3F"/>
                </a:solidFill>
                <a:latin typeface="Calibri"/>
                <a:ea typeface="Calibri"/>
              </a:rPr>
              <a:t>Se selecciona a* = arg max Q(s,a) solo entre las acciones permitidas.</a:t>
            </a:r>
          </a:p>
        </p:txBody>
      </p:sp>
      <p:sp>
        <p:nvSpPr>
          <p:cNvPr id="310" name="badge"/>
          <p:cNvSpPr/>
          <p:nvPr/>
        </p:nvSpPr>
        <p:spPr>
          <a:xfrm>
            <a:off x="696000" y="4120000"/>
            <a:ext cx="540000" cy="540000"/>
          </a:xfrm>
          <a:prstGeom prst="ellipse">
            <a:avLst/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1900" b="1" strike="noStrike" spc="-1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311" name="tb"/>
          <p:cNvSpPr txBox="1"/>
          <p:nvPr/>
        </p:nvSpPr>
        <p:spPr>
          <a:xfrm>
            <a:off x="1356000" y="4120000"/>
            <a:ext cx="60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05000"/>
              </a:lnSpc>
              <a:buNone/>
            </a:pPr>
            <a:r>
              <a:rPr lang="es-419" sz="1400" b="1" strike="noStrike" spc="-1">
                <a:solidFill>
                  <a:srgbClr val="003264"/>
                </a:solidFill>
                <a:latin typeface="Calibri"/>
                <a:ea typeface="Calibri"/>
              </a:rPr>
              <a:t>Aplicar la acción</a:t>
            </a:r>
          </a:p>
        </p:txBody>
      </p:sp>
      <p:sp>
        <p:nvSpPr>
          <p:cNvPr id="312" name="tb"/>
          <p:cNvSpPr txBox="1"/>
          <p:nvPr/>
        </p:nvSpPr>
        <p:spPr>
          <a:xfrm>
            <a:off x="1356000" y="4430000"/>
            <a:ext cx="609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5000"/>
              </a:lnSpc>
              <a:buNone/>
            </a:pPr>
            <a:r>
              <a:rPr lang="es-419" sz="1200" b="0" strike="noStrike" spc="-1">
                <a:solidFill>
                  <a:srgbClr val="3F3F3F"/>
                </a:solidFill>
                <a:latin typeface="Calibri"/>
                <a:ea typeface="Calibri"/>
              </a:rPr>
              <a:t>Se genera el nuevo árbol de menú reordenado.</a:t>
            </a:r>
          </a:p>
        </p:txBody>
      </p:sp>
      <p:sp>
        <p:nvSpPr>
          <p:cNvPr id="313" name="badge"/>
          <p:cNvSpPr/>
          <p:nvPr/>
        </p:nvSpPr>
        <p:spPr>
          <a:xfrm>
            <a:off x="696000" y="4940000"/>
            <a:ext cx="540000" cy="540000"/>
          </a:xfrm>
          <a:prstGeom prst="ellipse">
            <a:avLst/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419" sz="1900" b="1" strike="noStrike" spc="-1">
                <a:solidFill>
                  <a:srgbClr val="FFFFFF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314" name="tb"/>
          <p:cNvSpPr txBox="1"/>
          <p:nvPr/>
        </p:nvSpPr>
        <p:spPr>
          <a:xfrm>
            <a:off x="1356000" y="4940000"/>
            <a:ext cx="609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05000"/>
              </a:lnSpc>
              <a:buNone/>
            </a:pPr>
            <a:r>
              <a:rPr lang="es-419" sz="1400" b="1" strike="noStrike" spc="-1">
                <a:solidFill>
                  <a:srgbClr val="003264"/>
                </a:solidFill>
                <a:latin typeface="Calibri"/>
                <a:ea typeface="Calibri"/>
              </a:rPr>
              <a:t>Mezcla gradual</a:t>
            </a:r>
          </a:p>
        </p:txBody>
      </p:sp>
      <p:sp>
        <p:nvSpPr>
          <p:cNvPr id="315" name="tb"/>
          <p:cNvSpPr txBox="1"/>
          <p:nvPr/>
        </p:nvSpPr>
        <p:spPr>
          <a:xfrm>
            <a:off x="1356000" y="5250000"/>
            <a:ext cx="609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5000"/>
              </a:lnSpc>
              <a:buNone/>
            </a:pPr>
            <a:r>
              <a:rPr lang="es-419" sz="1200" b="0" strike="noStrike" spc="-1">
                <a:solidFill>
                  <a:srgbClr val="3F3F3F"/>
                </a:solidFill>
                <a:latin typeface="Calibri"/>
                <a:ea typeface="Calibri"/>
              </a:rPr>
              <a:t>Se combina el menú nuevo con el original para no perder la referencia visual.</a:t>
            </a:r>
          </a:p>
        </p:txBody>
      </p:sp>
      <p:sp>
        <p:nvSpPr>
          <p:cNvPr id="316" name="card"/>
          <p:cNvSpPr/>
          <p:nvPr/>
        </p:nvSpPr>
        <p:spPr>
          <a:xfrm>
            <a:off x="7806000" y="1760000"/>
            <a:ext cx="3691588" cy="3460000"/>
          </a:xfrm>
          <a:prstGeom prst="roundRect">
            <a:avLst>
              <a:gd name="adj" fmla="val 5000"/>
            </a:avLst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317" name="tb"/>
          <p:cNvSpPr txBox="1"/>
          <p:nvPr/>
        </p:nvSpPr>
        <p:spPr>
          <a:xfrm>
            <a:off x="7806000" y="2120000"/>
            <a:ext cx="3691588" cy="42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1450" b="1" strike="noStrike" spc="-1">
                <a:solidFill>
                  <a:srgbClr val="F3C133"/>
                </a:solidFill>
                <a:latin typeface="Calibri"/>
                <a:ea typeface="Calibri"/>
              </a:rPr>
              <a:t>Transición gradual</a:t>
            </a:r>
          </a:p>
        </p:txBody>
      </p:sp>
      <p:sp>
        <p:nvSpPr>
          <p:cNvPr id="318" name="tb"/>
          <p:cNvSpPr txBox="1"/>
          <p:nvPr/>
        </p:nvSpPr>
        <p:spPr>
          <a:xfrm>
            <a:off x="7806000" y="2580000"/>
            <a:ext cx="3691588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s-419" sz="5400" b="1" strike="noStrike" spc="-1">
                <a:solidFill>
                  <a:srgbClr val="FFFFFF"/>
                </a:solidFill>
                <a:latin typeface="Calibri"/>
                <a:ea typeface="Calibri"/>
              </a:rPr>
              <a:t>β = 0.7</a:t>
            </a:r>
          </a:p>
        </p:txBody>
      </p:sp>
      <p:sp>
        <p:nvSpPr>
          <p:cNvPr id="319" name="tb"/>
          <p:cNvSpPr txBox="1"/>
          <p:nvPr/>
        </p:nvSpPr>
        <p:spPr>
          <a:xfrm>
            <a:off x="8006000" y="3660000"/>
            <a:ext cx="3291588" cy="13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t">
            <a:noAutofit/>
          </a:bodyPr>
          <a:lstStyle/>
          <a:p>
            <a:pPr indent="0" algn="ctr">
              <a:lnSpc>
                <a:spcPct val="120000"/>
              </a:lnSpc>
              <a:buNone/>
            </a:pPr>
            <a:r>
              <a:rPr lang="es-419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Se conserva el 30% del orden original.</a:t>
            </a:r>
          </a:p>
          <a:p>
            <a:pPr indent="0" algn="ctr">
              <a:lnSpc>
                <a:spcPct val="125000"/>
              </a:lnSpc>
              <a:spcBef>
                <a:spcPts val="600"/>
              </a:spcBef>
              <a:buNone/>
            </a:pPr>
            <a:r>
              <a:rPr lang="es-419" sz="1150" b="0" strike="noStrike" spc="-1">
                <a:solidFill>
                  <a:srgbClr val="CDD9E8"/>
                </a:solidFill>
                <a:latin typeface="Calibri"/>
                <a:ea typeface="Calibri"/>
              </a:rPr>
              <a:t>Una interfaz matemáticamente óptima no siempre es cognitivamente óptima: frenar la convergencia protege la memoria muscular del usuario.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919880" y="294120"/>
            <a:ext cx="5754960" cy="7009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 anchorCtr="1">
            <a:noAutofit/>
          </a:bodyPr>
          <a:lstStyle/>
          <a:p>
            <a:pPr indent="0" algn="ctr">
              <a:lnSpc>
                <a:spcPct val="12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RESULTADOS — COMPARATIVA POR ROL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214;p20"/>
          <p:cNvSpPr/>
          <p:nvPr/>
        </p:nvSpPr>
        <p:spPr>
          <a:xfrm>
            <a:off x="5347800" y="2284920"/>
            <a:ext cx="1480320" cy="2707560"/>
          </a:xfrm>
          <a:custGeom>
            <a:avLst/>
            <a:gdLst>
              <a:gd name="textAreaLeft" fmla="*/ 0 w 1480320"/>
              <a:gd name="textAreaRight" fmla="*/ 1480680 w 1480320"/>
              <a:gd name="textAreaTop" fmla="*/ 0 h 2707560"/>
              <a:gd name="textAreaBottom" fmla="*/ 2707920 h 2707560"/>
            </a:gdLst>
            <a:ahLst/>
            <a:cxnLst/>
            <a:rect l="textAreaLeft" t="textAreaTop" r="textAreaRight" b="textAreaBottom"/>
            <a:pathLst>
              <a:path w="6427" h="11752">
                <a:moveTo>
                  <a:pt x="802" y="4029"/>
                </a:moveTo>
                <a:lnTo>
                  <a:pt x="861" y="3895"/>
                </a:lnTo>
                <a:lnTo>
                  <a:pt x="921" y="3760"/>
                </a:lnTo>
                <a:lnTo>
                  <a:pt x="983" y="3627"/>
                </a:lnTo>
                <a:lnTo>
                  <a:pt x="1046" y="3493"/>
                </a:lnTo>
                <a:lnTo>
                  <a:pt x="1109" y="3361"/>
                </a:lnTo>
                <a:lnTo>
                  <a:pt x="1174" y="3228"/>
                </a:lnTo>
                <a:lnTo>
                  <a:pt x="1239" y="3097"/>
                </a:lnTo>
                <a:lnTo>
                  <a:pt x="1307" y="2966"/>
                </a:lnTo>
                <a:lnTo>
                  <a:pt x="1375" y="2835"/>
                </a:lnTo>
                <a:lnTo>
                  <a:pt x="1444" y="2705"/>
                </a:lnTo>
                <a:lnTo>
                  <a:pt x="1515" y="2576"/>
                </a:lnTo>
                <a:lnTo>
                  <a:pt x="1585" y="2447"/>
                </a:lnTo>
                <a:lnTo>
                  <a:pt x="1657" y="2319"/>
                </a:lnTo>
                <a:lnTo>
                  <a:pt x="1731" y="2191"/>
                </a:lnTo>
                <a:lnTo>
                  <a:pt x="1805" y="2064"/>
                </a:lnTo>
                <a:lnTo>
                  <a:pt x="1881" y="1937"/>
                </a:lnTo>
                <a:lnTo>
                  <a:pt x="1957" y="1812"/>
                </a:lnTo>
                <a:lnTo>
                  <a:pt x="2035" y="1686"/>
                </a:lnTo>
                <a:lnTo>
                  <a:pt x="2113" y="1562"/>
                </a:lnTo>
                <a:lnTo>
                  <a:pt x="2193" y="1438"/>
                </a:lnTo>
                <a:lnTo>
                  <a:pt x="2273" y="1314"/>
                </a:lnTo>
                <a:lnTo>
                  <a:pt x="2354" y="1192"/>
                </a:lnTo>
                <a:lnTo>
                  <a:pt x="2436" y="1070"/>
                </a:lnTo>
                <a:lnTo>
                  <a:pt x="2520" y="948"/>
                </a:lnTo>
                <a:lnTo>
                  <a:pt x="2603" y="827"/>
                </a:lnTo>
                <a:lnTo>
                  <a:pt x="2688" y="708"/>
                </a:lnTo>
                <a:lnTo>
                  <a:pt x="2774" y="587"/>
                </a:lnTo>
                <a:lnTo>
                  <a:pt x="2861" y="469"/>
                </a:lnTo>
                <a:lnTo>
                  <a:pt x="2948" y="351"/>
                </a:lnTo>
                <a:lnTo>
                  <a:pt x="3037" y="233"/>
                </a:lnTo>
                <a:lnTo>
                  <a:pt x="3126" y="116"/>
                </a:lnTo>
                <a:lnTo>
                  <a:pt x="3216" y="0"/>
                </a:lnTo>
                <a:lnTo>
                  <a:pt x="3312" y="125"/>
                </a:lnTo>
                <a:lnTo>
                  <a:pt x="3406" y="250"/>
                </a:lnTo>
                <a:lnTo>
                  <a:pt x="3499" y="376"/>
                </a:lnTo>
                <a:lnTo>
                  <a:pt x="3592" y="504"/>
                </a:lnTo>
                <a:lnTo>
                  <a:pt x="3683" y="631"/>
                </a:lnTo>
                <a:lnTo>
                  <a:pt x="3775" y="760"/>
                </a:lnTo>
                <a:lnTo>
                  <a:pt x="3864" y="889"/>
                </a:lnTo>
                <a:lnTo>
                  <a:pt x="3953" y="1019"/>
                </a:lnTo>
                <a:lnTo>
                  <a:pt x="4041" y="1149"/>
                </a:lnTo>
                <a:lnTo>
                  <a:pt x="4128" y="1280"/>
                </a:lnTo>
                <a:lnTo>
                  <a:pt x="4214" y="1411"/>
                </a:lnTo>
                <a:lnTo>
                  <a:pt x="4299" y="1544"/>
                </a:lnTo>
                <a:lnTo>
                  <a:pt x="4383" y="1677"/>
                </a:lnTo>
                <a:lnTo>
                  <a:pt x="4466" y="1811"/>
                </a:lnTo>
                <a:lnTo>
                  <a:pt x="4547" y="1945"/>
                </a:lnTo>
                <a:lnTo>
                  <a:pt x="4628" y="2080"/>
                </a:lnTo>
                <a:lnTo>
                  <a:pt x="4707" y="2216"/>
                </a:lnTo>
                <a:lnTo>
                  <a:pt x="4786" y="2352"/>
                </a:lnTo>
                <a:lnTo>
                  <a:pt x="4863" y="2489"/>
                </a:lnTo>
                <a:lnTo>
                  <a:pt x="4939" y="2628"/>
                </a:lnTo>
                <a:lnTo>
                  <a:pt x="5013" y="2765"/>
                </a:lnTo>
                <a:lnTo>
                  <a:pt x="5087" y="2905"/>
                </a:lnTo>
                <a:lnTo>
                  <a:pt x="5159" y="3045"/>
                </a:lnTo>
                <a:lnTo>
                  <a:pt x="5230" y="3184"/>
                </a:lnTo>
                <a:lnTo>
                  <a:pt x="5300" y="3325"/>
                </a:lnTo>
                <a:lnTo>
                  <a:pt x="5368" y="3467"/>
                </a:lnTo>
                <a:lnTo>
                  <a:pt x="5435" y="3609"/>
                </a:lnTo>
                <a:lnTo>
                  <a:pt x="5500" y="3752"/>
                </a:lnTo>
                <a:lnTo>
                  <a:pt x="5565" y="3896"/>
                </a:lnTo>
                <a:lnTo>
                  <a:pt x="5627" y="4040"/>
                </a:lnTo>
                <a:lnTo>
                  <a:pt x="5689" y="4184"/>
                </a:lnTo>
                <a:lnTo>
                  <a:pt x="5748" y="4330"/>
                </a:lnTo>
                <a:lnTo>
                  <a:pt x="5790" y="4437"/>
                </a:lnTo>
                <a:lnTo>
                  <a:pt x="5831" y="4544"/>
                </a:lnTo>
                <a:lnTo>
                  <a:pt x="5870" y="4651"/>
                </a:lnTo>
                <a:lnTo>
                  <a:pt x="5909" y="4759"/>
                </a:lnTo>
                <a:lnTo>
                  <a:pt x="5947" y="4867"/>
                </a:lnTo>
                <a:lnTo>
                  <a:pt x="5984" y="4977"/>
                </a:lnTo>
                <a:lnTo>
                  <a:pt x="6019" y="5086"/>
                </a:lnTo>
                <a:lnTo>
                  <a:pt x="6054" y="5196"/>
                </a:lnTo>
                <a:lnTo>
                  <a:pt x="6088" y="5306"/>
                </a:lnTo>
                <a:lnTo>
                  <a:pt x="6119" y="5416"/>
                </a:lnTo>
                <a:lnTo>
                  <a:pt x="6151" y="5527"/>
                </a:lnTo>
                <a:lnTo>
                  <a:pt x="6180" y="5638"/>
                </a:lnTo>
                <a:lnTo>
                  <a:pt x="6208" y="5749"/>
                </a:lnTo>
                <a:lnTo>
                  <a:pt x="6235" y="5862"/>
                </a:lnTo>
                <a:lnTo>
                  <a:pt x="6260" y="5974"/>
                </a:lnTo>
                <a:lnTo>
                  <a:pt x="6284" y="6086"/>
                </a:lnTo>
                <a:lnTo>
                  <a:pt x="6306" y="6199"/>
                </a:lnTo>
                <a:lnTo>
                  <a:pt x="6326" y="6312"/>
                </a:lnTo>
                <a:lnTo>
                  <a:pt x="6345" y="6425"/>
                </a:lnTo>
                <a:lnTo>
                  <a:pt x="6362" y="6538"/>
                </a:lnTo>
                <a:lnTo>
                  <a:pt x="6377" y="6652"/>
                </a:lnTo>
                <a:lnTo>
                  <a:pt x="6390" y="6766"/>
                </a:lnTo>
                <a:lnTo>
                  <a:pt x="6402" y="6880"/>
                </a:lnTo>
                <a:lnTo>
                  <a:pt x="6411" y="6994"/>
                </a:lnTo>
                <a:lnTo>
                  <a:pt x="6418" y="7108"/>
                </a:lnTo>
                <a:lnTo>
                  <a:pt x="6423" y="7223"/>
                </a:lnTo>
                <a:lnTo>
                  <a:pt x="6426" y="7338"/>
                </a:lnTo>
                <a:lnTo>
                  <a:pt x="6427" y="7452"/>
                </a:lnTo>
                <a:lnTo>
                  <a:pt x="6426" y="7567"/>
                </a:lnTo>
                <a:lnTo>
                  <a:pt x="6422" y="7681"/>
                </a:lnTo>
                <a:lnTo>
                  <a:pt x="6416" y="7797"/>
                </a:lnTo>
                <a:lnTo>
                  <a:pt x="6408" y="7912"/>
                </a:lnTo>
                <a:lnTo>
                  <a:pt x="6405" y="7955"/>
                </a:lnTo>
                <a:lnTo>
                  <a:pt x="6400" y="7996"/>
                </a:lnTo>
                <a:lnTo>
                  <a:pt x="6392" y="8037"/>
                </a:lnTo>
                <a:lnTo>
                  <a:pt x="6383" y="8076"/>
                </a:lnTo>
                <a:lnTo>
                  <a:pt x="6371" y="8114"/>
                </a:lnTo>
                <a:lnTo>
                  <a:pt x="6357" y="8149"/>
                </a:lnTo>
                <a:lnTo>
                  <a:pt x="6340" y="8185"/>
                </a:lnTo>
                <a:lnTo>
                  <a:pt x="6322" y="8219"/>
                </a:lnTo>
                <a:lnTo>
                  <a:pt x="6303" y="8252"/>
                </a:lnTo>
                <a:lnTo>
                  <a:pt x="6281" y="8284"/>
                </a:lnTo>
                <a:lnTo>
                  <a:pt x="6258" y="8315"/>
                </a:lnTo>
                <a:lnTo>
                  <a:pt x="6233" y="8345"/>
                </a:lnTo>
                <a:lnTo>
                  <a:pt x="6207" y="8375"/>
                </a:lnTo>
                <a:lnTo>
                  <a:pt x="6180" y="8402"/>
                </a:lnTo>
                <a:lnTo>
                  <a:pt x="6152" y="8430"/>
                </a:lnTo>
                <a:lnTo>
                  <a:pt x="6122" y="8457"/>
                </a:lnTo>
                <a:lnTo>
                  <a:pt x="6092" y="8483"/>
                </a:lnTo>
                <a:lnTo>
                  <a:pt x="6061" y="8508"/>
                </a:lnTo>
                <a:lnTo>
                  <a:pt x="6028" y="8534"/>
                </a:lnTo>
                <a:lnTo>
                  <a:pt x="5996" y="8558"/>
                </a:lnTo>
                <a:lnTo>
                  <a:pt x="5930" y="8605"/>
                </a:lnTo>
                <a:lnTo>
                  <a:pt x="5862" y="8651"/>
                </a:lnTo>
                <a:lnTo>
                  <a:pt x="5795" y="8697"/>
                </a:lnTo>
                <a:lnTo>
                  <a:pt x="5728" y="8741"/>
                </a:lnTo>
                <a:lnTo>
                  <a:pt x="5662" y="8785"/>
                </a:lnTo>
                <a:lnTo>
                  <a:pt x="5600" y="8828"/>
                </a:lnTo>
                <a:lnTo>
                  <a:pt x="5490" y="8905"/>
                </a:lnTo>
                <a:lnTo>
                  <a:pt x="5379" y="8980"/>
                </a:lnTo>
                <a:lnTo>
                  <a:pt x="5267" y="9054"/>
                </a:lnTo>
                <a:lnTo>
                  <a:pt x="5154" y="9127"/>
                </a:lnTo>
                <a:lnTo>
                  <a:pt x="5041" y="9201"/>
                </a:lnTo>
                <a:lnTo>
                  <a:pt x="4928" y="9274"/>
                </a:lnTo>
                <a:lnTo>
                  <a:pt x="4815" y="9348"/>
                </a:lnTo>
                <a:lnTo>
                  <a:pt x="4703" y="9424"/>
                </a:lnTo>
                <a:lnTo>
                  <a:pt x="4648" y="9462"/>
                </a:lnTo>
                <a:lnTo>
                  <a:pt x="4593" y="9500"/>
                </a:lnTo>
                <a:lnTo>
                  <a:pt x="4539" y="9539"/>
                </a:lnTo>
                <a:lnTo>
                  <a:pt x="4484" y="9579"/>
                </a:lnTo>
                <a:lnTo>
                  <a:pt x="4431" y="9619"/>
                </a:lnTo>
                <a:lnTo>
                  <a:pt x="4378" y="9659"/>
                </a:lnTo>
                <a:lnTo>
                  <a:pt x="4325" y="9701"/>
                </a:lnTo>
                <a:lnTo>
                  <a:pt x="4273" y="9743"/>
                </a:lnTo>
                <a:lnTo>
                  <a:pt x="4221" y="9786"/>
                </a:lnTo>
                <a:lnTo>
                  <a:pt x="4171" y="9830"/>
                </a:lnTo>
                <a:lnTo>
                  <a:pt x="4121" y="9874"/>
                </a:lnTo>
                <a:lnTo>
                  <a:pt x="4072" y="9919"/>
                </a:lnTo>
                <a:lnTo>
                  <a:pt x="4023" y="9966"/>
                </a:lnTo>
                <a:lnTo>
                  <a:pt x="3976" y="10014"/>
                </a:lnTo>
                <a:lnTo>
                  <a:pt x="3930" y="10063"/>
                </a:lnTo>
                <a:lnTo>
                  <a:pt x="3884" y="10113"/>
                </a:lnTo>
                <a:lnTo>
                  <a:pt x="3847" y="10157"/>
                </a:lnTo>
                <a:lnTo>
                  <a:pt x="3811" y="10202"/>
                </a:lnTo>
                <a:lnTo>
                  <a:pt x="3777" y="10248"/>
                </a:lnTo>
                <a:lnTo>
                  <a:pt x="3744" y="10293"/>
                </a:lnTo>
                <a:lnTo>
                  <a:pt x="3711" y="10341"/>
                </a:lnTo>
                <a:lnTo>
                  <a:pt x="3680" y="10388"/>
                </a:lnTo>
                <a:lnTo>
                  <a:pt x="3650" y="10437"/>
                </a:lnTo>
                <a:lnTo>
                  <a:pt x="3621" y="10486"/>
                </a:lnTo>
                <a:lnTo>
                  <a:pt x="3592" y="10535"/>
                </a:lnTo>
                <a:lnTo>
                  <a:pt x="3566" y="10585"/>
                </a:lnTo>
                <a:lnTo>
                  <a:pt x="3539" y="10636"/>
                </a:lnTo>
                <a:lnTo>
                  <a:pt x="3513" y="10686"/>
                </a:lnTo>
                <a:lnTo>
                  <a:pt x="3488" y="10738"/>
                </a:lnTo>
                <a:lnTo>
                  <a:pt x="3464" y="10789"/>
                </a:lnTo>
                <a:lnTo>
                  <a:pt x="3440" y="10841"/>
                </a:lnTo>
                <a:lnTo>
                  <a:pt x="3418" y="10894"/>
                </a:lnTo>
                <a:lnTo>
                  <a:pt x="3395" y="10946"/>
                </a:lnTo>
                <a:lnTo>
                  <a:pt x="3373" y="10999"/>
                </a:lnTo>
                <a:lnTo>
                  <a:pt x="3352" y="11053"/>
                </a:lnTo>
                <a:lnTo>
                  <a:pt x="3331" y="11106"/>
                </a:lnTo>
                <a:lnTo>
                  <a:pt x="3290" y="11213"/>
                </a:lnTo>
                <a:lnTo>
                  <a:pt x="3251" y="11321"/>
                </a:lnTo>
                <a:lnTo>
                  <a:pt x="3213" y="11429"/>
                </a:lnTo>
                <a:lnTo>
                  <a:pt x="3175" y="11537"/>
                </a:lnTo>
                <a:lnTo>
                  <a:pt x="3138" y="11644"/>
                </a:lnTo>
                <a:lnTo>
                  <a:pt x="3100" y="11752"/>
                </a:lnTo>
                <a:lnTo>
                  <a:pt x="3062" y="11636"/>
                </a:lnTo>
                <a:lnTo>
                  <a:pt x="3024" y="11521"/>
                </a:lnTo>
                <a:lnTo>
                  <a:pt x="2986" y="11405"/>
                </a:lnTo>
                <a:lnTo>
                  <a:pt x="2946" y="11290"/>
                </a:lnTo>
                <a:lnTo>
                  <a:pt x="2924" y="11231"/>
                </a:lnTo>
                <a:lnTo>
                  <a:pt x="2904" y="11174"/>
                </a:lnTo>
                <a:lnTo>
                  <a:pt x="2882" y="11117"/>
                </a:lnTo>
                <a:lnTo>
                  <a:pt x="2860" y="11060"/>
                </a:lnTo>
                <a:lnTo>
                  <a:pt x="2837" y="11003"/>
                </a:lnTo>
                <a:lnTo>
                  <a:pt x="2813" y="10947"/>
                </a:lnTo>
                <a:lnTo>
                  <a:pt x="2790" y="10891"/>
                </a:lnTo>
                <a:lnTo>
                  <a:pt x="2765" y="10835"/>
                </a:lnTo>
                <a:lnTo>
                  <a:pt x="2740" y="10780"/>
                </a:lnTo>
                <a:lnTo>
                  <a:pt x="2713" y="10725"/>
                </a:lnTo>
                <a:lnTo>
                  <a:pt x="2686" y="10671"/>
                </a:lnTo>
                <a:lnTo>
                  <a:pt x="2658" y="10617"/>
                </a:lnTo>
                <a:lnTo>
                  <a:pt x="2630" y="10563"/>
                </a:lnTo>
                <a:lnTo>
                  <a:pt x="2599" y="10510"/>
                </a:lnTo>
                <a:lnTo>
                  <a:pt x="2569" y="10458"/>
                </a:lnTo>
                <a:lnTo>
                  <a:pt x="2537" y="10407"/>
                </a:lnTo>
                <a:lnTo>
                  <a:pt x="2503" y="10356"/>
                </a:lnTo>
                <a:lnTo>
                  <a:pt x="2470" y="10305"/>
                </a:lnTo>
                <a:lnTo>
                  <a:pt x="2434" y="10256"/>
                </a:lnTo>
                <a:lnTo>
                  <a:pt x="2397" y="10207"/>
                </a:lnTo>
                <a:lnTo>
                  <a:pt x="2360" y="10159"/>
                </a:lnTo>
                <a:lnTo>
                  <a:pt x="2321" y="10112"/>
                </a:lnTo>
                <a:lnTo>
                  <a:pt x="2280" y="10066"/>
                </a:lnTo>
                <a:lnTo>
                  <a:pt x="2238" y="10020"/>
                </a:lnTo>
                <a:lnTo>
                  <a:pt x="2184" y="9965"/>
                </a:lnTo>
                <a:lnTo>
                  <a:pt x="2128" y="9911"/>
                </a:lnTo>
                <a:lnTo>
                  <a:pt x="2071" y="9858"/>
                </a:lnTo>
                <a:lnTo>
                  <a:pt x="2013" y="9807"/>
                </a:lnTo>
                <a:lnTo>
                  <a:pt x="1954" y="9757"/>
                </a:lnTo>
                <a:lnTo>
                  <a:pt x="1895" y="9708"/>
                </a:lnTo>
                <a:lnTo>
                  <a:pt x="1834" y="9660"/>
                </a:lnTo>
                <a:lnTo>
                  <a:pt x="1773" y="9613"/>
                </a:lnTo>
                <a:lnTo>
                  <a:pt x="1710" y="9568"/>
                </a:lnTo>
                <a:lnTo>
                  <a:pt x="1647" y="9523"/>
                </a:lnTo>
                <a:lnTo>
                  <a:pt x="1584" y="9478"/>
                </a:lnTo>
                <a:lnTo>
                  <a:pt x="1521" y="9434"/>
                </a:lnTo>
                <a:lnTo>
                  <a:pt x="1391" y="9348"/>
                </a:lnTo>
                <a:lnTo>
                  <a:pt x="1262" y="9264"/>
                </a:lnTo>
                <a:lnTo>
                  <a:pt x="1130" y="9180"/>
                </a:lnTo>
                <a:lnTo>
                  <a:pt x="1000" y="9097"/>
                </a:lnTo>
                <a:lnTo>
                  <a:pt x="869" y="9013"/>
                </a:lnTo>
                <a:lnTo>
                  <a:pt x="740" y="8927"/>
                </a:lnTo>
                <a:lnTo>
                  <a:pt x="676" y="8883"/>
                </a:lnTo>
                <a:lnTo>
                  <a:pt x="613" y="8840"/>
                </a:lnTo>
                <a:lnTo>
                  <a:pt x="549" y="8795"/>
                </a:lnTo>
                <a:lnTo>
                  <a:pt x="487" y="8750"/>
                </a:lnTo>
                <a:lnTo>
                  <a:pt x="425" y="8703"/>
                </a:lnTo>
                <a:lnTo>
                  <a:pt x="364" y="8656"/>
                </a:lnTo>
                <a:lnTo>
                  <a:pt x="304" y="8607"/>
                </a:lnTo>
                <a:lnTo>
                  <a:pt x="243" y="8558"/>
                </a:lnTo>
                <a:lnTo>
                  <a:pt x="227" y="8544"/>
                </a:lnTo>
                <a:lnTo>
                  <a:pt x="211" y="8529"/>
                </a:lnTo>
                <a:lnTo>
                  <a:pt x="196" y="8513"/>
                </a:lnTo>
                <a:lnTo>
                  <a:pt x="182" y="8497"/>
                </a:lnTo>
                <a:lnTo>
                  <a:pt x="169" y="8481"/>
                </a:lnTo>
                <a:lnTo>
                  <a:pt x="157" y="8463"/>
                </a:lnTo>
                <a:lnTo>
                  <a:pt x="145" y="8446"/>
                </a:lnTo>
                <a:lnTo>
                  <a:pt x="134" y="8428"/>
                </a:lnTo>
                <a:lnTo>
                  <a:pt x="124" y="8409"/>
                </a:lnTo>
                <a:lnTo>
                  <a:pt x="115" y="8390"/>
                </a:lnTo>
                <a:lnTo>
                  <a:pt x="106" y="8372"/>
                </a:lnTo>
                <a:lnTo>
                  <a:pt x="98" y="8351"/>
                </a:lnTo>
                <a:lnTo>
                  <a:pt x="91" y="8332"/>
                </a:lnTo>
                <a:lnTo>
                  <a:pt x="83" y="8311"/>
                </a:lnTo>
                <a:lnTo>
                  <a:pt x="77" y="8291"/>
                </a:lnTo>
                <a:lnTo>
                  <a:pt x="71" y="8271"/>
                </a:lnTo>
                <a:lnTo>
                  <a:pt x="61" y="8229"/>
                </a:lnTo>
                <a:lnTo>
                  <a:pt x="53" y="8187"/>
                </a:lnTo>
                <a:lnTo>
                  <a:pt x="46" y="8144"/>
                </a:lnTo>
                <a:lnTo>
                  <a:pt x="39" y="8101"/>
                </a:lnTo>
                <a:lnTo>
                  <a:pt x="28" y="8016"/>
                </a:lnTo>
                <a:lnTo>
                  <a:pt x="19" y="7933"/>
                </a:lnTo>
                <a:lnTo>
                  <a:pt x="10" y="7807"/>
                </a:lnTo>
                <a:lnTo>
                  <a:pt x="4" y="7680"/>
                </a:lnTo>
                <a:lnTo>
                  <a:pt x="1" y="7555"/>
                </a:lnTo>
                <a:lnTo>
                  <a:pt x="0" y="7430"/>
                </a:lnTo>
                <a:lnTo>
                  <a:pt x="1" y="7304"/>
                </a:lnTo>
                <a:lnTo>
                  <a:pt x="6" y="7179"/>
                </a:lnTo>
                <a:lnTo>
                  <a:pt x="12" y="7053"/>
                </a:lnTo>
                <a:lnTo>
                  <a:pt x="21" y="6928"/>
                </a:lnTo>
                <a:lnTo>
                  <a:pt x="32" y="6804"/>
                </a:lnTo>
                <a:lnTo>
                  <a:pt x="47" y="6679"/>
                </a:lnTo>
                <a:lnTo>
                  <a:pt x="62" y="6555"/>
                </a:lnTo>
                <a:lnTo>
                  <a:pt x="80" y="6430"/>
                </a:lnTo>
                <a:lnTo>
                  <a:pt x="100" y="6306"/>
                </a:lnTo>
                <a:lnTo>
                  <a:pt x="122" y="6183"/>
                </a:lnTo>
                <a:lnTo>
                  <a:pt x="147" y="6059"/>
                </a:lnTo>
                <a:lnTo>
                  <a:pt x="172" y="5937"/>
                </a:lnTo>
                <a:lnTo>
                  <a:pt x="201" y="5815"/>
                </a:lnTo>
                <a:lnTo>
                  <a:pt x="230" y="5692"/>
                </a:lnTo>
                <a:lnTo>
                  <a:pt x="262" y="5570"/>
                </a:lnTo>
                <a:lnTo>
                  <a:pt x="294" y="5449"/>
                </a:lnTo>
                <a:lnTo>
                  <a:pt x="329" y="5327"/>
                </a:lnTo>
                <a:lnTo>
                  <a:pt x="366" y="5207"/>
                </a:lnTo>
                <a:lnTo>
                  <a:pt x="404" y="5087"/>
                </a:lnTo>
                <a:lnTo>
                  <a:pt x="443" y="4967"/>
                </a:lnTo>
                <a:lnTo>
                  <a:pt x="483" y="4848"/>
                </a:lnTo>
                <a:lnTo>
                  <a:pt x="526" y="4730"/>
                </a:lnTo>
                <a:lnTo>
                  <a:pt x="569" y="4612"/>
                </a:lnTo>
                <a:lnTo>
                  <a:pt x="614" y="4494"/>
                </a:lnTo>
                <a:lnTo>
                  <a:pt x="659" y="4377"/>
                </a:lnTo>
                <a:lnTo>
                  <a:pt x="706" y="4261"/>
                </a:lnTo>
                <a:lnTo>
                  <a:pt x="753" y="4145"/>
                </a:lnTo>
                <a:lnTo>
                  <a:pt x="802" y="4029"/>
                </a:lnTo>
                <a:close/>
              </a:path>
            </a:pathLst>
          </a:custGeom>
          <a:solidFill>
            <a:srgbClr val="00326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60840" rIns="122040" bIns="608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3" name="Google Shape;215;p20"/>
          <p:cNvGrpSpPr/>
          <p:nvPr/>
        </p:nvGrpSpPr>
        <p:grpSpPr>
          <a:xfrm>
            <a:off x="5059080" y="2379960"/>
            <a:ext cx="2023920" cy="1793160"/>
            <a:chOff x="5059080" y="2379960"/>
            <a:chExt cx="2023920" cy="1793160"/>
          </a:xfrm>
        </p:grpSpPr>
        <p:sp>
          <p:nvSpPr>
            <p:cNvPr id="154" name="Google Shape;216;p20"/>
            <p:cNvSpPr/>
            <p:nvPr/>
          </p:nvSpPr>
          <p:spPr>
            <a:xfrm>
              <a:off x="5059080" y="2379960"/>
              <a:ext cx="673920" cy="1793160"/>
            </a:xfrm>
            <a:custGeom>
              <a:avLst/>
              <a:gdLst>
                <a:gd name="textAreaLeft" fmla="*/ 0 w 673920"/>
                <a:gd name="textAreaRight" fmla="*/ 674280 w 673920"/>
                <a:gd name="textAreaTop" fmla="*/ 0 h 1793160"/>
                <a:gd name="textAreaBottom" fmla="*/ 1793520 h 1793160"/>
              </a:gdLst>
              <a:ahLst/>
              <a:cxnLst/>
              <a:rect l="textAreaLeft" t="textAreaTop" r="textAreaRight" b="textAreaBottom"/>
              <a:pathLst>
                <a:path w="2930" h="7787">
                  <a:moveTo>
                    <a:pt x="1414" y="0"/>
                  </a:moveTo>
                  <a:lnTo>
                    <a:pt x="1465" y="34"/>
                  </a:lnTo>
                  <a:lnTo>
                    <a:pt x="1516" y="68"/>
                  </a:lnTo>
                  <a:lnTo>
                    <a:pt x="1566" y="104"/>
                  </a:lnTo>
                  <a:lnTo>
                    <a:pt x="1616" y="140"/>
                  </a:lnTo>
                  <a:lnTo>
                    <a:pt x="1716" y="211"/>
                  </a:lnTo>
                  <a:lnTo>
                    <a:pt x="1814" y="286"/>
                  </a:lnTo>
                  <a:lnTo>
                    <a:pt x="1910" y="360"/>
                  </a:lnTo>
                  <a:lnTo>
                    <a:pt x="2006" y="436"/>
                  </a:lnTo>
                  <a:lnTo>
                    <a:pt x="2102" y="514"/>
                  </a:lnTo>
                  <a:lnTo>
                    <a:pt x="2196" y="592"/>
                  </a:lnTo>
                  <a:lnTo>
                    <a:pt x="2290" y="672"/>
                  </a:lnTo>
                  <a:lnTo>
                    <a:pt x="2382" y="752"/>
                  </a:lnTo>
                  <a:lnTo>
                    <a:pt x="2475" y="833"/>
                  </a:lnTo>
                  <a:lnTo>
                    <a:pt x="2567" y="915"/>
                  </a:lnTo>
                  <a:lnTo>
                    <a:pt x="2659" y="997"/>
                  </a:lnTo>
                  <a:lnTo>
                    <a:pt x="2749" y="1080"/>
                  </a:lnTo>
                  <a:lnTo>
                    <a:pt x="2840" y="1162"/>
                  </a:lnTo>
                  <a:lnTo>
                    <a:pt x="2930" y="1245"/>
                  </a:lnTo>
                  <a:lnTo>
                    <a:pt x="2853" y="1379"/>
                  </a:lnTo>
                  <a:lnTo>
                    <a:pt x="2777" y="1513"/>
                  </a:lnTo>
                  <a:lnTo>
                    <a:pt x="2700" y="1648"/>
                  </a:lnTo>
                  <a:lnTo>
                    <a:pt x="2625" y="1783"/>
                  </a:lnTo>
                  <a:lnTo>
                    <a:pt x="2551" y="1919"/>
                  </a:lnTo>
                  <a:lnTo>
                    <a:pt x="2476" y="2055"/>
                  </a:lnTo>
                  <a:lnTo>
                    <a:pt x="2403" y="2192"/>
                  </a:lnTo>
                  <a:lnTo>
                    <a:pt x="2330" y="2329"/>
                  </a:lnTo>
                  <a:lnTo>
                    <a:pt x="2260" y="2466"/>
                  </a:lnTo>
                  <a:lnTo>
                    <a:pt x="2190" y="2605"/>
                  </a:lnTo>
                  <a:lnTo>
                    <a:pt x="2120" y="2744"/>
                  </a:lnTo>
                  <a:lnTo>
                    <a:pt x="2052" y="2883"/>
                  </a:lnTo>
                  <a:lnTo>
                    <a:pt x="1986" y="3023"/>
                  </a:lnTo>
                  <a:lnTo>
                    <a:pt x="1921" y="3164"/>
                  </a:lnTo>
                  <a:lnTo>
                    <a:pt x="1856" y="3305"/>
                  </a:lnTo>
                  <a:lnTo>
                    <a:pt x="1794" y="3447"/>
                  </a:lnTo>
                  <a:lnTo>
                    <a:pt x="1734" y="3589"/>
                  </a:lnTo>
                  <a:lnTo>
                    <a:pt x="1675" y="3733"/>
                  </a:lnTo>
                  <a:lnTo>
                    <a:pt x="1618" y="3876"/>
                  </a:lnTo>
                  <a:lnTo>
                    <a:pt x="1562" y="4020"/>
                  </a:lnTo>
                  <a:lnTo>
                    <a:pt x="1509" y="4165"/>
                  </a:lnTo>
                  <a:lnTo>
                    <a:pt x="1457" y="4311"/>
                  </a:lnTo>
                  <a:lnTo>
                    <a:pt x="1407" y="4457"/>
                  </a:lnTo>
                  <a:lnTo>
                    <a:pt x="1360" y="4604"/>
                  </a:lnTo>
                  <a:lnTo>
                    <a:pt x="1314" y="4752"/>
                  </a:lnTo>
                  <a:lnTo>
                    <a:pt x="1271" y="4901"/>
                  </a:lnTo>
                  <a:lnTo>
                    <a:pt x="1230" y="5050"/>
                  </a:lnTo>
                  <a:lnTo>
                    <a:pt x="1193" y="5200"/>
                  </a:lnTo>
                  <a:lnTo>
                    <a:pt x="1156" y="5351"/>
                  </a:lnTo>
                  <a:lnTo>
                    <a:pt x="1123" y="5503"/>
                  </a:lnTo>
                  <a:lnTo>
                    <a:pt x="1093" y="5654"/>
                  </a:lnTo>
                  <a:lnTo>
                    <a:pt x="1065" y="5807"/>
                  </a:lnTo>
                  <a:lnTo>
                    <a:pt x="1054" y="5869"/>
                  </a:lnTo>
                  <a:lnTo>
                    <a:pt x="1043" y="5930"/>
                  </a:lnTo>
                  <a:lnTo>
                    <a:pt x="1034" y="5991"/>
                  </a:lnTo>
                  <a:lnTo>
                    <a:pt x="1025" y="6053"/>
                  </a:lnTo>
                  <a:lnTo>
                    <a:pt x="1017" y="6114"/>
                  </a:lnTo>
                  <a:lnTo>
                    <a:pt x="1009" y="6175"/>
                  </a:lnTo>
                  <a:lnTo>
                    <a:pt x="1003" y="6238"/>
                  </a:lnTo>
                  <a:lnTo>
                    <a:pt x="997" y="6299"/>
                  </a:lnTo>
                  <a:lnTo>
                    <a:pt x="992" y="6361"/>
                  </a:lnTo>
                  <a:lnTo>
                    <a:pt x="987" y="6423"/>
                  </a:lnTo>
                  <a:lnTo>
                    <a:pt x="984" y="6484"/>
                  </a:lnTo>
                  <a:lnTo>
                    <a:pt x="980" y="6547"/>
                  </a:lnTo>
                  <a:lnTo>
                    <a:pt x="975" y="6670"/>
                  </a:lnTo>
                  <a:lnTo>
                    <a:pt x="972" y="6794"/>
                  </a:lnTo>
                  <a:lnTo>
                    <a:pt x="970" y="6919"/>
                  </a:lnTo>
                  <a:lnTo>
                    <a:pt x="970" y="7043"/>
                  </a:lnTo>
                  <a:lnTo>
                    <a:pt x="972" y="7166"/>
                  </a:lnTo>
                  <a:lnTo>
                    <a:pt x="974" y="7291"/>
                  </a:lnTo>
                  <a:lnTo>
                    <a:pt x="977" y="7415"/>
                  </a:lnTo>
                  <a:lnTo>
                    <a:pt x="982" y="7540"/>
                  </a:lnTo>
                  <a:lnTo>
                    <a:pt x="986" y="7663"/>
                  </a:lnTo>
                  <a:lnTo>
                    <a:pt x="991" y="7787"/>
                  </a:lnTo>
                  <a:lnTo>
                    <a:pt x="935" y="7751"/>
                  </a:lnTo>
                  <a:lnTo>
                    <a:pt x="878" y="7715"/>
                  </a:lnTo>
                  <a:lnTo>
                    <a:pt x="821" y="7679"/>
                  </a:lnTo>
                  <a:lnTo>
                    <a:pt x="764" y="7645"/>
                  </a:lnTo>
                  <a:lnTo>
                    <a:pt x="707" y="7609"/>
                  </a:lnTo>
                  <a:lnTo>
                    <a:pt x="648" y="7573"/>
                  </a:lnTo>
                  <a:lnTo>
                    <a:pt x="592" y="7537"/>
                  </a:lnTo>
                  <a:lnTo>
                    <a:pt x="535" y="7500"/>
                  </a:lnTo>
                  <a:lnTo>
                    <a:pt x="480" y="7461"/>
                  </a:lnTo>
                  <a:lnTo>
                    <a:pt x="425" y="7422"/>
                  </a:lnTo>
                  <a:lnTo>
                    <a:pt x="399" y="7402"/>
                  </a:lnTo>
                  <a:lnTo>
                    <a:pt x="372" y="7382"/>
                  </a:lnTo>
                  <a:lnTo>
                    <a:pt x="346" y="7360"/>
                  </a:lnTo>
                  <a:lnTo>
                    <a:pt x="320" y="7339"/>
                  </a:lnTo>
                  <a:lnTo>
                    <a:pt x="295" y="7317"/>
                  </a:lnTo>
                  <a:lnTo>
                    <a:pt x="269" y="7295"/>
                  </a:lnTo>
                  <a:lnTo>
                    <a:pt x="245" y="7272"/>
                  </a:lnTo>
                  <a:lnTo>
                    <a:pt x="221" y="7249"/>
                  </a:lnTo>
                  <a:lnTo>
                    <a:pt x="198" y="7226"/>
                  </a:lnTo>
                  <a:lnTo>
                    <a:pt x="174" y="7201"/>
                  </a:lnTo>
                  <a:lnTo>
                    <a:pt x="152" y="7176"/>
                  </a:lnTo>
                  <a:lnTo>
                    <a:pt x="130" y="7150"/>
                  </a:lnTo>
                  <a:lnTo>
                    <a:pt x="117" y="7127"/>
                  </a:lnTo>
                  <a:lnTo>
                    <a:pt x="106" y="7103"/>
                  </a:lnTo>
                  <a:lnTo>
                    <a:pt x="95" y="7079"/>
                  </a:lnTo>
                  <a:lnTo>
                    <a:pt x="86" y="7054"/>
                  </a:lnTo>
                  <a:lnTo>
                    <a:pt x="77" y="7030"/>
                  </a:lnTo>
                  <a:lnTo>
                    <a:pt x="68" y="7005"/>
                  </a:lnTo>
                  <a:lnTo>
                    <a:pt x="61" y="6981"/>
                  </a:lnTo>
                  <a:lnTo>
                    <a:pt x="54" y="6955"/>
                  </a:lnTo>
                  <a:lnTo>
                    <a:pt x="48" y="6930"/>
                  </a:lnTo>
                  <a:lnTo>
                    <a:pt x="42" y="6904"/>
                  </a:lnTo>
                  <a:lnTo>
                    <a:pt x="38" y="6879"/>
                  </a:lnTo>
                  <a:lnTo>
                    <a:pt x="33" y="6852"/>
                  </a:lnTo>
                  <a:lnTo>
                    <a:pt x="26" y="6800"/>
                  </a:lnTo>
                  <a:lnTo>
                    <a:pt x="19" y="6748"/>
                  </a:lnTo>
                  <a:lnTo>
                    <a:pt x="15" y="6695"/>
                  </a:lnTo>
                  <a:lnTo>
                    <a:pt x="12" y="6642"/>
                  </a:lnTo>
                  <a:lnTo>
                    <a:pt x="10" y="6589"/>
                  </a:lnTo>
                  <a:lnTo>
                    <a:pt x="8" y="6536"/>
                  </a:lnTo>
                  <a:lnTo>
                    <a:pt x="7" y="6483"/>
                  </a:lnTo>
                  <a:lnTo>
                    <a:pt x="5" y="6431"/>
                  </a:lnTo>
                  <a:lnTo>
                    <a:pt x="3" y="6378"/>
                  </a:lnTo>
                  <a:lnTo>
                    <a:pt x="0" y="6327"/>
                  </a:lnTo>
                  <a:lnTo>
                    <a:pt x="2" y="6122"/>
                  </a:lnTo>
                  <a:lnTo>
                    <a:pt x="7" y="5919"/>
                  </a:lnTo>
                  <a:lnTo>
                    <a:pt x="15" y="5715"/>
                  </a:lnTo>
                  <a:lnTo>
                    <a:pt x="27" y="5511"/>
                  </a:lnTo>
                  <a:lnTo>
                    <a:pt x="41" y="5308"/>
                  </a:lnTo>
                  <a:lnTo>
                    <a:pt x="59" y="5105"/>
                  </a:lnTo>
                  <a:lnTo>
                    <a:pt x="80" y="4902"/>
                  </a:lnTo>
                  <a:lnTo>
                    <a:pt x="103" y="4699"/>
                  </a:lnTo>
                  <a:lnTo>
                    <a:pt x="131" y="4497"/>
                  </a:lnTo>
                  <a:lnTo>
                    <a:pt x="160" y="4296"/>
                  </a:lnTo>
                  <a:lnTo>
                    <a:pt x="193" y="4095"/>
                  </a:lnTo>
                  <a:lnTo>
                    <a:pt x="227" y="3895"/>
                  </a:lnTo>
                  <a:lnTo>
                    <a:pt x="265" y="3694"/>
                  </a:lnTo>
                  <a:lnTo>
                    <a:pt x="306" y="3494"/>
                  </a:lnTo>
                  <a:lnTo>
                    <a:pt x="350" y="3295"/>
                  </a:lnTo>
                  <a:lnTo>
                    <a:pt x="395" y="3096"/>
                  </a:lnTo>
                  <a:lnTo>
                    <a:pt x="443" y="2898"/>
                  </a:lnTo>
                  <a:lnTo>
                    <a:pt x="493" y="2700"/>
                  </a:lnTo>
                  <a:lnTo>
                    <a:pt x="546" y="2503"/>
                  </a:lnTo>
                  <a:lnTo>
                    <a:pt x="602" y="2306"/>
                  </a:lnTo>
                  <a:lnTo>
                    <a:pt x="659" y="2110"/>
                  </a:lnTo>
                  <a:lnTo>
                    <a:pt x="718" y="1916"/>
                  </a:lnTo>
                  <a:lnTo>
                    <a:pt x="779" y="1721"/>
                  </a:lnTo>
                  <a:lnTo>
                    <a:pt x="842" y="1526"/>
                  </a:lnTo>
                  <a:lnTo>
                    <a:pt x="907" y="1333"/>
                  </a:lnTo>
                  <a:lnTo>
                    <a:pt x="975" y="1140"/>
                  </a:lnTo>
                  <a:lnTo>
                    <a:pt x="1044" y="948"/>
                  </a:lnTo>
                  <a:lnTo>
                    <a:pt x="1114" y="758"/>
                  </a:lnTo>
                  <a:lnTo>
                    <a:pt x="1187" y="567"/>
                  </a:lnTo>
                  <a:lnTo>
                    <a:pt x="1261" y="377"/>
                  </a:lnTo>
                  <a:lnTo>
                    <a:pt x="1336" y="188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rgbClr val="003E8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60840" rIns="122040" bIns="6084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Google Shape;217;p20"/>
            <p:cNvSpPr/>
            <p:nvPr/>
          </p:nvSpPr>
          <p:spPr>
            <a:xfrm>
              <a:off x="6429960" y="2379960"/>
              <a:ext cx="653040" cy="1756080"/>
            </a:xfrm>
            <a:custGeom>
              <a:avLst/>
              <a:gdLst>
                <a:gd name="textAreaLeft" fmla="*/ 0 w 653040"/>
                <a:gd name="textAreaRight" fmla="*/ 653400 w 653040"/>
                <a:gd name="textAreaTop" fmla="*/ 0 h 1756080"/>
                <a:gd name="textAreaBottom" fmla="*/ 1756440 h 1756080"/>
              </a:gdLst>
              <a:ahLst/>
              <a:cxnLst/>
              <a:rect l="textAreaLeft" t="textAreaTop" r="textAreaRight" b="textAreaBottom"/>
              <a:pathLst>
                <a:path w="2835" h="7622">
                  <a:moveTo>
                    <a:pt x="0" y="1198"/>
                  </a:moveTo>
                  <a:lnTo>
                    <a:pt x="81" y="1115"/>
                  </a:lnTo>
                  <a:lnTo>
                    <a:pt x="162" y="1034"/>
                  </a:lnTo>
                  <a:lnTo>
                    <a:pt x="245" y="953"/>
                  </a:lnTo>
                  <a:lnTo>
                    <a:pt x="329" y="875"/>
                  </a:lnTo>
                  <a:lnTo>
                    <a:pt x="414" y="796"/>
                  </a:lnTo>
                  <a:lnTo>
                    <a:pt x="500" y="720"/>
                  </a:lnTo>
                  <a:lnTo>
                    <a:pt x="587" y="643"/>
                  </a:lnTo>
                  <a:lnTo>
                    <a:pt x="675" y="569"/>
                  </a:lnTo>
                  <a:lnTo>
                    <a:pt x="764" y="495"/>
                  </a:lnTo>
                  <a:lnTo>
                    <a:pt x="852" y="422"/>
                  </a:lnTo>
                  <a:lnTo>
                    <a:pt x="943" y="350"/>
                  </a:lnTo>
                  <a:lnTo>
                    <a:pt x="1033" y="278"/>
                  </a:lnTo>
                  <a:lnTo>
                    <a:pt x="1125" y="207"/>
                  </a:lnTo>
                  <a:lnTo>
                    <a:pt x="1216" y="138"/>
                  </a:lnTo>
                  <a:lnTo>
                    <a:pt x="1309" y="68"/>
                  </a:lnTo>
                  <a:lnTo>
                    <a:pt x="1402" y="0"/>
                  </a:lnTo>
                  <a:lnTo>
                    <a:pt x="1435" y="67"/>
                  </a:lnTo>
                  <a:lnTo>
                    <a:pt x="1468" y="136"/>
                  </a:lnTo>
                  <a:lnTo>
                    <a:pt x="1501" y="205"/>
                  </a:lnTo>
                  <a:lnTo>
                    <a:pt x="1532" y="273"/>
                  </a:lnTo>
                  <a:lnTo>
                    <a:pt x="1564" y="343"/>
                  </a:lnTo>
                  <a:lnTo>
                    <a:pt x="1594" y="412"/>
                  </a:lnTo>
                  <a:lnTo>
                    <a:pt x="1624" y="482"/>
                  </a:lnTo>
                  <a:lnTo>
                    <a:pt x="1654" y="553"/>
                  </a:lnTo>
                  <a:lnTo>
                    <a:pt x="1682" y="622"/>
                  </a:lnTo>
                  <a:lnTo>
                    <a:pt x="1710" y="693"/>
                  </a:lnTo>
                  <a:lnTo>
                    <a:pt x="1737" y="764"/>
                  </a:lnTo>
                  <a:lnTo>
                    <a:pt x="1765" y="834"/>
                  </a:lnTo>
                  <a:lnTo>
                    <a:pt x="1818" y="977"/>
                  </a:lnTo>
                  <a:lnTo>
                    <a:pt x="1869" y="1119"/>
                  </a:lnTo>
                  <a:lnTo>
                    <a:pt x="1918" y="1263"/>
                  </a:lnTo>
                  <a:lnTo>
                    <a:pt x="1966" y="1407"/>
                  </a:lnTo>
                  <a:lnTo>
                    <a:pt x="2012" y="1552"/>
                  </a:lnTo>
                  <a:lnTo>
                    <a:pt x="2058" y="1697"/>
                  </a:lnTo>
                  <a:lnTo>
                    <a:pt x="2103" y="1841"/>
                  </a:lnTo>
                  <a:lnTo>
                    <a:pt x="2147" y="1987"/>
                  </a:lnTo>
                  <a:lnTo>
                    <a:pt x="2191" y="2133"/>
                  </a:lnTo>
                  <a:lnTo>
                    <a:pt x="2235" y="2278"/>
                  </a:lnTo>
                  <a:lnTo>
                    <a:pt x="2272" y="2415"/>
                  </a:lnTo>
                  <a:lnTo>
                    <a:pt x="2310" y="2553"/>
                  </a:lnTo>
                  <a:lnTo>
                    <a:pt x="2347" y="2691"/>
                  </a:lnTo>
                  <a:lnTo>
                    <a:pt x="2382" y="2829"/>
                  </a:lnTo>
                  <a:lnTo>
                    <a:pt x="2416" y="2968"/>
                  </a:lnTo>
                  <a:lnTo>
                    <a:pt x="2450" y="3107"/>
                  </a:lnTo>
                  <a:lnTo>
                    <a:pt x="2482" y="3245"/>
                  </a:lnTo>
                  <a:lnTo>
                    <a:pt x="2514" y="3385"/>
                  </a:lnTo>
                  <a:lnTo>
                    <a:pt x="2543" y="3525"/>
                  </a:lnTo>
                  <a:lnTo>
                    <a:pt x="2573" y="3665"/>
                  </a:lnTo>
                  <a:lnTo>
                    <a:pt x="2601" y="3805"/>
                  </a:lnTo>
                  <a:lnTo>
                    <a:pt x="2627" y="3946"/>
                  </a:lnTo>
                  <a:lnTo>
                    <a:pt x="2652" y="4086"/>
                  </a:lnTo>
                  <a:lnTo>
                    <a:pt x="2676" y="4227"/>
                  </a:lnTo>
                  <a:lnTo>
                    <a:pt x="2697" y="4369"/>
                  </a:lnTo>
                  <a:lnTo>
                    <a:pt x="2719" y="4511"/>
                  </a:lnTo>
                  <a:lnTo>
                    <a:pt x="2737" y="4651"/>
                  </a:lnTo>
                  <a:lnTo>
                    <a:pt x="2756" y="4793"/>
                  </a:lnTo>
                  <a:lnTo>
                    <a:pt x="2771" y="4936"/>
                  </a:lnTo>
                  <a:lnTo>
                    <a:pt x="2785" y="5077"/>
                  </a:lnTo>
                  <a:lnTo>
                    <a:pt x="2798" y="5219"/>
                  </a:lnTo>
                  <a:lnTo>
                    <a:pt x="2809" y="5362"/>
                  </a:lnTo>
                  <a:lnTo>
                    <a:pt x="2818" y="5504"/>
                  </a:lnTo>
                  <a:lnTo>
                    <a:pt x="2825" y="5646"/>
                  </a:lnTo>
                  <a:lnTo>
                    <a:pt x="2830" y="5789"/>
                  </a:lnTo>
                  <a:lnTo>
                    <a:pt x="2834" y="5932"/>
                  </a:lnTo>
                  <a:lnTo>
                    <a:pt x="2835" y="6075"/>
                  </a:lnTo>
                  <a:lnTo>
                    <a:pt x="2834" y="6217"/>
                  </a:lnTo>
                  <a:lnTo>
                    <a:pt x="2832" y="6360"/>
                  </a:lnTo>
                  <a:lnTo>
                    <a:pt x="2827" y="6503"/>
                  </a:lnTo>
                  <a:lnTo>
                    <a:pt x="2820" y="6645"/>
                  </a:lnTo>
                  <a:lnTo>
                    <a:pt x="2811" y="6788"/>
                  </a:lnTo>
                  <a:lnTo>
                    <a:pt x="2808" y="6828"/>
                  </a:lnTo>
                  <a:lnTo>
                    <a:pt x="2801" y="6867"/>
                  </a:lnTo>
                  <a:lnTo>
                    <a:pt x="2793" y="6904"/>
                  </a:lnTo>
                  <a:lnTo>
                    <a:pt x="2783" y="6940"/>
                  </a:lnTo>
                  <a:lnTo>
                    <a:pt x="2770" y="6975"/>
                  </a:lnTo>
                  <a:lnTo>
                    <a:pt x="2756" y="7008"/>
                  </a:lnTo>
                  <a:lnTo>
                    <a:pt x="2738" y="7040"/>
                  </a:lnTo>
                  <a:lnTo>
                    <a:pt x="2720" y="7072"/>
                  </a:lnTo>
                  <a:lnTo>
                    <a:pt x="2700" y="7101"/>
                  </a:lnTo>
                  <a:lnTo>
                    <a:pt x="2678" y="7130"/>
                  </a:lnTo>
                  <a:lnTo>
                    <a:pt x="2655" y="7158"/>
                  </a:lnTo>
                  <a:lnTo>
                    <a:pt x="2630" y="7185"/>
                  </a:lnTo>
                  <a:lnTo>
                    <a:pt x="2605" y="7211"/>
                  </a:lnTo>
                  <a:lnTo>
                    <a:pt x="2577" y="7236"/>
                  </a:lnTo>
                  <a:lnTo>
                    <a:pt x="2549" y="7260"/>
                  </a:lnTo>
                  <a:lnTo>
                    <a:pt x="2520" y="7285"/>
                  </a:lnTo>
                  <a:lnTo>
                    <a:pt x="2490" y="7308"/>
                  </a:lnTo>
                  <a:lnTo>
                    <a:pt x="2460" y="7331"/>
                  </a:lnTo>
                  <a:lnTo>
                    <a:pt x="2428" y="7353"/>
                  </a:lnTo>
                  <a:lnTo>
                    <a:pt x="2397" y="7374"/>
                  </a:lnTo>
                  <a:lnTo>
                    <a:pt x="2332" y="7417"/>
                  </a:lnTo>
                  <a:lnTo>
                    <a:pt x="2267" y="7458"/>
                  </a:lnTo>
                  <a:lnTo>
                    <a:pt x="2203" y="7499"/>
                  </a:lnTo>
                  <a:lnTo>
                    <a:pt x="2139" y="7540"/>
                  </a:lnTo>
                  <a:lnTo>
                    <a:pt x="2108" y="7560"/>
                  </a:lnTo>
                  <a:lnTo>
                    <a:pt x="2078" y="7580"/>
                  </a:lnTo>
                  <a:lnTo>
                    <a:pt x="2048" y="7601"/>
                  </a:lnTo>
                  <a:lnTo>
                    <a:pt x="2020" y="7622"/>
                  </a:lnTo>
                  <a:lnTo>
                    <a:pt x="2017" y="7498"/>
                  </a:lnTo>
                  <a:lnTo>
                    <a:pt x="2015" y="7373"/>
                  </a:lnTo>
                  <a:lnTo>
                    <a:pt x="2013" y="7248"/>
                  </a:lnTo>
                  <a:lnTo>
                    <a:pt x="2012" y="7124"/>
                  </a:lnTo>
                  <a:lnTo>
                    <a:pt x="2009" y="6999"/>
                  </a:lnTo>
                  <a:lnTo>
                    <a:pt x="2006" y="6875"/>
                  </a:lnTo>
                  <a:lnTo>
                    <a:pt x="2002" y="6749"/>
                  </a:lnTo>
                  <a:lnTo>
                    <a:pt x="1996" y="6625"/>
                  </a:lnTo>
                  <a:lnTo>
                    <a:pt x="1990" y="6501"/>
                  </a:lnTo>
                  <a:lnTo>
                    <a:pt x="1981" y="6377"/>
                  </a:lnTo>
                  <a:lnTo>
                    <a:pt x="1976" y="6315"/>
                  </a:lnTo>
                  <a:lnTo>
                    <a:pt x="1971" y="6253"/>
                  </a:lnTo>
                  <a:lnTo>
                    <a:pt x="1964" y="6191"/>
                  </a:lnTo>
                  <a:lnTo>
                    <a:pt x="1957" y="6130"/>
                  </a:lnTo>
                  <a:lnTo>
                    <a:pt x="1950" y="6067"/>
                  </a:lnTo>
                  <a:lnTo>
                    <a:pt x="1942" y="6005"/>
                  </a:lnTo>
                  <a:lnTo>
                    <a:pt x="1934" y="5944"/>
                  </a:lnTo>
                  <a:lnTo>
                    <a:pt x="1925" y="5883"/>
                  </a:lnTo>
                  <a:lnTo>
                    <a:pt x="1915" y="5821"/>
                  </a:lnTo>
                  <a:lnTo>
                    <a:pt x="1903" y="5759"/>
                  </a:lnTo>
                  <a:lnTo>
                    <a:pt x="1892" y="5698"/>
                  </a:lnTo>
                  <a:lnTo>
                    <a:pt x="1880" y="5637"/>
                  </a:lnTo>
                  <a:lnTo>
                    <a:pt x="1849" y="5488"/>
                  </a:lnTo>
                  <a:lnTo>
                    <a:pt x="1816" y="5340"/>
                  </a:lnTo>
                  <a:lnTo>
                    <a:pt x="1780" y="5193"/>
                  </a:lnTo>
                  <a:lnTo>
                    <a:pt x="1743" y="5047"/>
                  </a:lnTo>
                  <a:lnTo>
                    <a:pt x="1704" y="4900"/>
                  </a:lnTo>
                  <a:lnTo>
                    <a:pt x="1662" y="4755"/>
                  </a:lnTo>
                  <a:lnTo>
                    <a:pt x="1618" y="4609"/>
                  </a:lnTo>
                  <a:lnTo>
                    <a:pt x="1572" y="4466"/>
                  </a:lnTo>
                  <a:lnTo>
                    <a:pt x="1524" y="4322"/>
                  </a:lnTo>
                  <a:lnTo>
                    <a:pt x="1474" y="4179"/>
                  </a:lnTo>
                  <a:lnTo>
                    <a:pt x="1423" y="4036"/>
                  </a:lnTo>
                  <a:lnTo>
                    <a:pt x="1370" y="3895"/>
                  </a:lnTo>
                  <a:lnTo>
                    <a:pt x="1315" y="3754"/>
                  </a:lnTo>
                  <a:lnTo>
                    <a:pt x="1258" y="3613"/>
                  </a:lnTo>
                  <a:lnTo>
                    <a:pt x="1200" y="3474"/>
                  </a:lnTo>
                  <a:lnTo>
                    <a:pt x="1140" y="3335"/>
                  </a:lnTo>
                  <a:lnTo>
                    <a:pt x="1079" y="3196"/>
                  </a:lnTo>
                  <a:lnTo>
                    <a:pt x="1015" y="3059"/>
                  </a:lnTo>
                  <a:lnTo>
                    <a:pt x="951" y="2921"/>
                  </a:lnTo>
                  <a:lnTo>
                    <a:pt x="885" y="2784"/>
                  </a:lnTo>
                  <a:lnTo>
                    <a:pt x="818" y="2649"/>
                  </a:lnTo>
                  <a:lnTo>
                    <a:pt x="749" y="2514"/>
                  </a:lnTo>
                  <a:lnTo>
                    <a:pt x="679" y="2380"/>
                  </a:lnTo>
                  <a:lnTo>
                    <a:pt x="608" y="2245"/>
                  </a:lnTo>
                  <a:lnTo>
                    <a:pt x="535" y="2113"/>
                  </a:lnTo>
                  <a:lnTo>
                    <a:pt x="462" y="1979"/>
                  </a:lnTo>
                  <a:lnTo>
                    <a:pt x="388" y="1847"/>
                  </a:lnTo>
                  <a:lnTo>
                    <a:pt x="312" y="1716"/>
                  </a:lnTo>
                  <a:lnTo>
                    <a:pt x="236" y="1585"/>
                  </a:lnTo>
                  <a:lnTo>
                    <a:pt x="158" y="1456"/>
                  </a:lnTo>
                  <a:lnTo>
                    <a:pt x="80" y="1326"/>
                  </a:lnTo>
                  <a:lnTo>
                    <a:pt x="0" y="1198"/>
                  </a:lnTo>
                  <a:close/>
                </a:path>
              </a:pathLst>
            </a:custGeom>
            <a:solidFill>
              <a:srgbClr val="003E8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60840" rIns="122040" bIns="6084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6" name="Google Shape;218;p20"/>
          <p:cNvGrpSpPr/>
          <p:nvPr/>
        </p:nvGrpSpPr>
        <p:grpSpPr>
          <a:xfrm>
            <a:off x="4692960" y="2636640"/>
            <a:ext cx="2744280" cy="1960560"/>
            <a:chOff x="4692960" y="2636640"/>
            <a:chExt cx="2744280" cy="1960560"/>
          </a:xfrm>
        </p:grpSpPr>
        <p:sp>
          <p:nvSpPr>
            <p:cNvPr id="157" name="Google Shape;219;p20"/>
            <p:cNvSpPr/>
            <p:nvPr/>
          </p:nvSpPr>
          <p:spPr>
            <a:xfrm>
              <a:off x="4692960" y="2638080"/>
              <a:ext cx="514440" cy="1959120"/>
            </a:xfrm>
            <a:custGeom>
              <a:avLst/>
              <a:gdLst>
                <a:gd name="textAreaLeft" fmla="*/ 0 w 514440"/>
                <a:gd name="textAreaRight" fmla="*/ 514800 w 514440"/>
                <a:gd name="textAreaTop" fmla="*/ 0 h 1959120"/>
                <a:gd name="textAreaBottom" fmla="*/ 1959480 h 1959120"/>
              </a:gdLst>
              <a:ahLst/>
              <a:cxnLst/>
              <a:rect l="textAreaLeft" t="textAreaTop" r="textAreaRight" b="textAreaBottom"/>
              <a:pathLst>
                <a:path w="2233" h="8510">
                  <a:moveTo>
                    <a:pt x="199" y="0"/>
                  </a:moveTo>
                  <a:lnTo>
                    <a:pt x="315" y="40"/>
                  </a:lnTo>
                  <a:lnTo>
                    <a:pt x="430" y="82"/>
                  </a:lnTo>
                  <a:lnTo>
                    <a:pt x="545" y="126"/>
                  </a:lnTo>
                  <a:lnTo>
                    <a:pt x="659" y="171"/>
                  </a:lnTo>
                  <a:lnTo>
                    <a:pt x="773" y="218"/>
                  </a:lnTo>
                  <a:lnTo>
                    <a:pt x="886" y="267"/>
                  </a:lnTo>
                  <a:lnTo>
                    <a:pt x="998" y="317"/>
                  </a:lnTo>
                  <a:lnTo>
                    <a:pt x="1109" y="369"/>
                  </a:lnTo>
                  <a:lnTo>
                    <a:pt x="1219" y="422"/>
                  </a:lnTo>
                  <a:lnTo>
                    <a:pt x="1329" y="476"/>
                  </a:lnTo>
                  <a:lnTo>
                    <a:pt x="1438" y="532"/>
                  </a:lnTo>
                  <a:lnTo>
                    <a:pt x="1547" y="589"/>
                  </a:lnTo>
                  <a:lnTo>
                    <a:pt x="1655" y="648"/>
                  </a:lnTo>
                  <a:lnTo>
                    <a:pt x="1762" y="708"/>
                  </a:lnTo>
                  <a:lnTo>
                    <a:pt x="1869" y="768"/>
                  </a:lnTo>
                  <a:lnTo>
                    <a:pt x="1975" y="830"/>
                  </a:lnTo>
                  <a:lnTo>
                    <a:pt x="1931" y="980"/>
                  </a:lnTo>
                  <a:lnTo>
                    <a:pt x="1888" y="1130"/>
                  </a:lnTo>
                  <a:lnTo>
                    <a:pt x="1847" y="1281"/>
                  </a:lnTo>
                  <a:lnTo>
                    <a:pt x="1806" y="1431"/>
                  </a:lnTo>
                  <a:lnTo>
                    <a:pt x="1767" y="1582"/>
                  </a:lnTo>
                  <a:lnTo>
                    <a:pt x="1730" y="1734"/>
                  </a:lnTo>
                  <a:lnTo>
                    <a:pt x="1693" y="1886"/>
                  </a:lnTo>
                  <a:lnTo>
                    <a:pt x="1657" y="2038"/>
                  </a:lnTo>
                  <a:lnTo>
                    <a:pt x="1624" y="2189"/>
                  </a:lnTo>
                  <a:lnTo>
                    <a:pt x="1592" y="2342"/>
                  </a:lnTo>
                  <a:lnTo>
                    <a:pt x="1562" y="2495"/>
                  </a:lnTo>
                  <a:lnTo>
                    <a:pt x="1532" y="2648"/>
                  </a:lnTo>
                  <a:lnTo>
                    <a:pt x="1504" y="2802"/>
                  </a:lnTo>
                  <a:lnTo>
                    <a:pt x="1479" y="2955"/>
                  </a:lnTo>
                  <a:lnTo>
                    <a:pt x="1455" y="3109"/>
                  </a:lnTo>
                  <a:lnTo>
                    <a:pt x="1431" y="3264"/>
                  </a:lnTo>
                  <a:lnTo>
                    <a:pt x="1411" y="3418"/>
                  </a:lnTo>
                  <a:lnTo>
                    <a:pt x="1391" y="3573"/>
                  </a:lnTo>
                  <a:lnTo>
                    <a:pt x="1374" y="3728"/>
                  </a:lnTo>
                  <a:lnTo>
                    <a:pt x="1358" y="3883"/>
                  </a:lnTo>
                  <a:lnTo>
                    <a:pt x="1343" y="4038"/>
                  </a:lnTo>
                  <a:lnTo>
                    <a:pt x="1332" y="4193"/>
                  </a:lnTo>
                  <a:lnTo>
                    <a:pt x="1322" y="4348"/>
                  </a:lnTo>
                  <a:lnTo>
                    <a:pt x="1314" y="4504"/>
                  </a:lnTo>
                  <a:lnTo>
                    <a:pt x="1308" y="4660"/>
                  </a:lnTo>
                  <a:lnTo>
                    <a:pt x="1303" y="4816"/>
                  </a:lnTo>
                  <a:lnTo>
                    <a:pt x="1301" y="4971"/>
                  </a:lnTo>
                  <a:lnTo>
                    <a:pt x="1301" y="5128"/>
                  </a:lnTo>
                  <a:lnTo>
                    <a:pt x="1303" y="5284"/>
                  </a:lnTo>
                  <a:lnTo>
                    <a:pt x="1307" y="5440"/>
                  </a:lnTo>
                  <a:lnTo>
                    <a:pt x="1313" y="5596"/>
                  </a:lnTo>
                  <a:lnTo>
                    <a:pt x="1322" y="5752"/>
                  </a:lnTo>
                  <a:lnTo>
                    <a:pt x="1240" y="5692"/>
                  </a:lnTo>
                  <a:lnTo>
                    <a:pt x="1160" y="5631"/>
                  </a:lnTo>
                  <a:lnTo>
                    <a:pt x="1078" y="5572"/>
                  </a:lnTo>
                  <a:lnTo>
                    <a:pt x="998" y="5512"/>
                  </a:lnTo>
                  <a:lnTo>
                    <a:pt x="916" y="5452"/>
                  </a:lnTo>
                  <a:lnTo>
                    <a:pt x="836" y="5393"/>
                  </a:lnTo>
                  <a:lnTo>
                    <a:pt x="754" y="5333"/>
                  </a:lnTo>
                  <a:lnTo>
                    <a:pt x="673" y="5274"/>
                  </a:lnTo>
                  <a:lnTo>
                    <a:pt x="651" y="5334"/>
                  </a:lnTo>
                  <a:lnTo>
                    <a:pt x="629" y="5395"/>
                  </a:lnTo>
                  <a:lnTo>
                    <a:pt x="606" y="5457"/>
                  </a:lnTo>
                  <a:lnTo>
                    <a:pt x="585" y="5519"/>
                  </a:lnTo>
                  <a:lnTo>
                    <a:pt x="565" y="5582"/>
                  </a:lnTo>
                  <a:lnTo>
                    <a:pt x="545" y="5645"/>
                  </a:lnTo>
                  <a:lnTo>
                    <a:pt x="536" y="5676"/>
                  </a:lnTo>
                  <a:lnTo>
                    <a:pt x="528" y="5708"/>
                  </a:lnTo>
                  <a:lnTo>
                    <a:pt x="520" y="5740"/>
                  </a:lnTo>
                  <a:lnTo>
                    <a:pt x="513" y="5771"/>
                  </a:lnTo>
                  <a:lnTo>
                    <a:pt x="505" y="5803"/>
                  </a:lnTo>
                  <a:lnTo>
                    <a:pt x="499" y="5835"/>
                  </a:lnTo>
                  <a:lnTo>
                    <a:pt x="494" y="5867"/>
                  </a:lnTo>
                  <a:lnTo>
                    <a:pt x="490" y="5900"/>
                  </a:lnTo>
                  <a:lnTo>
                    <a:pt x="486" y="5931"/>
                  </a:lnTo>
                  <a:lnTo>
                    <a:pt x="484" y="5964"/>
                  </a:lnTo>
                  <a:lnTo>
                    <a:pt x="482" y="5995"/>
                  </a:lnTo>
                  <a:lnTo>
                    <a:pt x="482" y="6028"/>
                  </a:lnTo>
                  <a:lnTo>
                    <a:pt x="482" y="6060"/>
                  </a:lnTo>
                  <a:lnTo>
                    <a:pt x="484" y="6092"/>
                  </a:lnTo>
                  <a:lnTo>
                    <a:pt x="486" y="6125"/>
                  </a:lnTo>
                  <a:lnTo>
                    <a:pt x="490" y="6157"/>
                  </a:lnTo>
                  <a:lnTo>
                    <a:pt x="495" y="6189"/>
                  </a:lnTo>
                  <a:lnTo>
                    <a:pt x="502" y="6222"/>
                  </a:lnTo>
                  <a:lnTo>
                    <a:pt x="511" y="6253"/>
                  </a:lnTo>
                  <a:lnTo>
                    <a:pt x="520" y="6286"/>
                  </a:lnTo>
                  <a:lnTo>
                    <a:pt x="535" y="6337"/>
                  </a:lnTo>
                  <a:lnTo>
                    <a:pt x="552" y="6387"/>
                  </a:lnTo>
                  <a:lnTo>
                    <a:pt x="572" y="6435"/>
                  </a:lnTo>
                  <a:lnTo>
                    <a:pt x="593" y="6483"/>
                  </a:lnTo>
                  <a:lnTo>
                    <a:pt x="616" y="6529"/>
                  </a:lnTo>
                  <a:lnTo>
                    <a:pt x="640" y="6575"/>
                  </a:lnTo>
                  <a:lnTo>
                    <a:pt x="666" y="6619"/>
                  </a:lnTo>
                  <a:lnTo>
                    <a:pt x="693" y="6662"/>
                  </a:lnTo>
                  <a:lnTo>
                    <a:pt x="722" y="6705"/>
                  </a:lnTo>
                  <a:lnTo>
                    <a:pt x="751" y="6747"/>
                  </a:lnTo>
                  <a:lnTo>
                    <a:pt x="782" y="6789"/>
                  </a:lnTo>
                  <a:lnTo>
                    <a:pt x="813" y="6828"/>
                  </a:lnTo>
                  <a:lnTo>
                    <a:pt x="847" y="6868"/>
                  </a:lnTo>
                  <a:lnTo>
                    <a:pt x="881" y="6907"/>
                  </a:lnTo>
                  <a:lnTo>
                    <a:pt x="915" y="6946"/>
                  </a:lnTo>
                  <a:lnTo>
                    <a:pt x="951" y="6983"/>
                  </a:lnTo>
                  <a:lnTo>
                    <a:pt x="988" y="7020"/>
                  </a:lnTo>
                  <a:lnTo>
                    <a:pt x="1024" y="7057"/>
                  </a:lnTo>
                  <a:lnTo>
                    <a:pt x="1062" y="7093"/>
                  </a:lnTo>
                  <a:lnTo>
                    <a:pt x="1101" y="7129"/>
                  </a:lnTo>
                  <a:lnTo>
                    <a:pt x="1178" y="7200"/>
                  </a:lnTo>
                  <a:lnTo>
                    <a:pt x="1257" y="7269"/>
                  </a:lnTo>
                  <a:lnTo>
                    <a:pt x="1335" y="7337"/>
                  </a:lnTo>
                  <a:lnTo>
                    <a:pt x="1414" y="7405"/>
                  </a:lnTo>
                  <a:lnTo>
                    <a:pt x="1492" y="7473"/>
                  </a:lnTo>
                  <a:lnTo>
                    <a:pt x="1569" y="7541"/>
                  </a:lnTo>
                  <a:lnTo>
                    <a:pt x="1597" y="7566"/>
                  </a:lnTo>
                  <a:lnTo>
                    <a:pt x="1625" y="7590"/>
                  </a:lnTo>
                  <a:lnTo>
                    <a:pt x="1651" y="7617"/>
                  </a:lnTo>
                  <a:lnTo>
                    <a:pt x="1678" y="7642"/>
                  </a:lnTo>
                  <a:lnTo>
                    <a:pt x="1703" y="7669"/>
                  </a:lnTo>
                  <a:lnTo>
                    <a:pt x="1728" y="7696"/>
                  </a:lnTo>
                  <a:lnTo>
                    <a:pt x="1752" y="7724"/>
                  </a:lnTo>
                  <a:lnTo>
                    <a:pt x="1777" y="7752"/>
                  </a:lnTo>
                  <a:lnTo>
                    <a:pt x="1800" y="7781"/>
                  </a:lnTo>
                  <a:lnTo>
                    <a:pt x="1823" y="7809"/>
                  </a:lnTo>
                  <a:lnTo>
                    <a:pt x="1845" y="7839"/>
                  </a:lnTo>
                  <a:lnTo>
                    <a:pt x="1866" y="7868"/>
                  </a:lnTo>
                  <a:lnTo>
                    <a:pt x="1888" y="7899"/>
                  </a:lnTo>
                  <a:lnTo>
                    <a:pt x="1909" y="7929"/>
                  </a:lnTo>
                  <a:lnTo>
                    <a:pt x="1930" y="7960"/>
                  </a:lnTo>
                  <a:lnTo>
                    <a:pt x="1949" y="7991"/>
                  </a:lnTo>
                  <a:lnTo>
                    <a:pt x="1989" y="8054"/>
                  </a:lnTo>
                  <a:lnTo>
                    <a:pt x="2026" y="8117"/>
                  </a:lnTo>
                  <a:lnTo>
                    <a:pt x="2063" y="8181"/>
                  </a:lnTo>
                  <a:lnTo>
                    <a:pt x="2098" y="8247"/>
                  </a:lnTo>
                  <a:lnTo>
                    <a:pt x="2132" y="8313"/>
                  </a:lnTo>
                  <a:lnTo>
                    <a:pt x="2167" y="8378"/>
                  </a:lnTo>
                  <a:lnTo>
                    <a:pt x="2201" y="8444"/>
                  </a:lnTo>
                  <a:lnTo>
                    <a:pt x="2233" y="8510"/>
                  </a:lnTo>
                  <a:lnTo>
                    <a:pt x="2111" y="8446"/>
                  </a:lnTo>
                  <a:lnTo>
                    <a:pt x="1987" y="8380"/>
                  </a:lnTo>
                  <a:lnTo>
                    <a:pt x="1925" y="8347"/>
                  </a:lnTo>
                  <a:lnTo>
                    <a:pt x="1863" y="8312"/>
                  </a:lnTo>
                  <a:lnTo>
                    <a:pt x="1802" y="8276"/>
                  </a:lnTo>
                  <a:lnTo>
                    <a:pt x="1741" y="8239"/>
                  </a:lnTo>
                  <a:lnTo>
                    <a:pt x="1681" y="8203"/>
                  </a:lnTo>
                  <a:lnTo>
                    <a:pt x="1621" y="8164"/>
                  </a:lnTo>
                  <a:lnTo>
                    <a:pt x="1562" y="8125"/>
                  </a:lnTo>
                  <a:lnTo>
                    <a:pt x="1502" y="8086"/>
                  </a:lnTo>
                  <a:lnTo>
                    <a:pt x="1444" y="8044"/>
                  </a:lnTo>
                  <a:lnTo>
                    <a:pt x="1388" y="8002"/>
                  </a:lnTo>
                  <a:lnTo>
                    <a:pt x="1332" y="7958"/>
                  </a:lnTo>
                  <a:lnTo>
                    <a:pt x="1277" y="7914"/>
                  </a:lnTo>
                  <a:lnTo>
                    <a:pt x="1224" y="7868"/>
                  </a:lnTo>
                  <a:lnTo>
                    <a:pt x="1171" y="7821"/>
                  </a:lnTo>
                  <a:lnTo>
                    <a:pt x="1121" y="7774"/>
                  </a:lnTo>
                  <a:lnTo>
                    <a:pt x="1071" y="7724"/>
                  </a:lnTo>
                  <a:lnTo>
                    <a:pt x="1024" y="7673"/>
                  </a:lnTo>
                  <a:lnTo>
                    <a:pt x="978" y="7621"/>
                  </a:lnTo>
                  <a:lnTo>
                    <a:pt x="934" y="7567"/>
                  </a:lnTo>
                  <a:lnTo>
                    <a:pt x="892" y="7512"/>
                  </a:lnTo>
                  <a:lnTo>
                    <a:pt x="851" y="7455"/>
                  </a:lnTo>
                  <a:lnTo>
                    <a:pt x="813" y="7396"/>
                  </a:lnTo>
                  <a:lnTo>
                    <a:pt x="778" y="7337"/>
                  </a:lnTo>
                  <a:lnTo>
                    <a:pt x="744" y="7275"/>
                  </a:lnTo>
                  <a:lnTo>
                    <a:pt x="712" y="7212"/>
                  </a:lnTo>
                  <a:lnTo>
                    <a:pt x="684" y="7147"/>
                  </a:lnTo>
                  <a:lnTo>
                    <a:pt x="657" y="7080"/>
                  </a:lnTo>
                  <a:lnTo>
                    <a:pt x="634" y="7011"/>
                  </a:lnTo>
                  <a:lnTo>
                    <a:pt x="564" y="6800"/>
                  </a:lnTo>
                  <a:lnTo>
                    <a:pt x="498" y="6588"/>
                  </a:lnTo>
                  <a:lnTo>
                    <a:pt x="437" y="6375"/>
                  </a:lnTo>
                  <a:lnTo>
                    <a:pt x="381" y="6161"/>
                  </a:lnTo>
                  <a:lnTo>
                    <a:pt x="329" y="5945"/>
                  </a:lnTo>
                  <a:lnTo>
                    <a:pt x="281" y="5730"/>
                  </a:lnTo>
                  <a:lnTo>
                    <a:pt x="237" y="5513"/>
                  </a:lnTo>
                  <a:lnTo>
                    <a:pt x="198" y="5296"/>
                  </a:lnTo>
                  <a:lnTo>
                    <a:pt x="162" y="5078"/>
                  </a:lnTo>
                  <a:lnTo>
                    <a:pt x="130" y="4859"/>
                  </a:lnTo>
                  <a:lnTo>
                    <a:pt x="102" y="4639"/>
                  </a:lnTo>
                  <a:lnTo>
                    <a:pt x="77" y="4420"/>
                  </a:lnTo>
                  <a:lnTo>
                    <a:pt x="56" y="4200"/>
                  </a:lnTo>
                  <a:lnTo>
                    <a:pt x="39" y="3980"/>
                  </a:lnTo>
                  <a:lnTo>
                    <a:pt x="24" y="3759"/>
                  </a:lnTo>
                  <a:lnTo>
                    <a:pt x="14" y="3537"/>
                  </a:lnTo>
                  <a:lnTo>
                    <a:pt x="6" y="3316"/>
                  </a:lnTo>
                  <a:lnTo>
                    <a:pt x="1" y="3094"/>
                  </a:lnTo>
                  <a:lnTo>
                    <a:pt x="0" y="2873"/>
                  </a:lnTo>
                  <a:lnTo>
                    <a:pt x="1" y="2650"/>
                  </a:lnTo>
                  <a:lnTo>
                    <a:pt x="4" y="2428"/>
                  </a:lnTo>
                  <a:lnTo>
                    <a:pt x="11" y="2207"/>
                  </a:lnTo>
                  <a:lnTo>
                    <a:pt x="19" y="1985"/>
                  </a:lnTo>
                  <a:lnTo>
                    <a:pt x="31" y="1763"/>
                  </a:lnTo>
                  <a:lnTo>
                    <a:pt x="45" y="1541"/>
                  </a:lnTo>
                  <a:lnTo>
                    <a:pt x="61" y="1320"/>
                  </a:lnTo>
                  <a:lnTo>
                    <a:pt x="79" y="1100"/>
                  </a:lnTo>
                  <a:lnTo>
                    <a:pt x="99" y="878"/>
                  </a:lnTo>
                  <a:lnTo>
                    <a:pt x="121" y="658"/>
                  </a:lnTo>
                  <a:lnTo>
                    <a:pt x="146" y="439"/>
                  </a:lnTo>
                  <a:lnTo>
                    <a:pt x="171" y="2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00326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60840" rIns="122040" bIns="6084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" name="Google Shape;220;p20"/>
            <p:cNvSpPr/>
            <p:nvPr/>
          </p:nvSpPr>
          <p:spPr>
            <a:xfrm>
              <a:off x="6966360" y="2636640"/>
              <a:ext cx="470880" cy="1927080"/>
            </a:xfrm>
            <a:custGeom>
              <a:avLst/>
              <a:gdLst>
                <a:gd name="textAreaLeft" fmla="*/ 0 w 470880"/>
                <a:gd name="textAreaRight" fmla="*/ 471240 w 470880"/>
                <a:gd name="textAreaTop" fmla="*/ 0 h 1927080"/>
                <a:gd name="textAreaBottom" fmla="*/ 1927440 h 1927080"/>
              </a:gdLst>
              <a:ahLst/>
              <a:cxnLst/>
              <a:rect l="textAreaLeft" t="textAreaTop" r="textAreaRight" b="textAreaBottom"/>
              <a:pathLst>
                <a:path w="2048" h="8362">
                  <a:moveTo>
                    <a:pt x="135" y="780"/>
                  </a:moveTo>
                  <a:lnTo>
                    <a:pt x="239" y="725"/>
                  </a:lnTo>
                  <a:lnTo>
                    <a:pt x="344" y="671"/>
                  </a:lnTo>
                  <a:lnTo>
                    <a:pt x="449" y="617"/>
                  </a:lnTo>
                  <a:lnTo>
                    <a:pt x="554" y="564"/>
                  </a:lnTo>
                  <a:lnTo>
                    <a:pt x="660" y="512"/>
                  </a:lnTo>
                  <a:lnTo>
                    <a:pt x="766" y="460"/>
                  </a:lnTo>
                  <a:lnTo>
                    <a:pt x="872" y="409"/>
                  </a:lnTo>
                  <a:lnTo>
                    <a:pt x="979" y="359"/>
                  </a:lnTo>
                  <a:lnTo>
                    <a:pt x="1086" y="310"/>
                  </a:lnTo>
                  <a:lnTo>
                    <a:pt x="1194" y="262"/>
                  </a:lnTo>
                  <a:lnTo>
                    <a:pt x="1302" y="215"/>
                  </a:lnTo>
                  <a:lnTo>
                    <a:pt x="1410" y="170"/>
                  </a:lnTo>
                  <a:lnTo>
                    <a:pt x="1519" y="125"/>
                  </a:lnTo>
                  <a:lnTo>
                    <a:pt x="1629" y="82"/>
                  </a:lnTo>
                  <a:lnTo>
                    <a:pt x="1740" y="40"/>
                  </a:lnTo>
                  <a:lnTo>
                    <a:pt x="1851" y="0"/>
                  </a:lnTo>
                  <a:lnTo>
                    <a:pt x="1866" y="99"/>
                  </a:lnTo>
                  <a:lnTo>
                    <a:pt x="1881" y="199"/>
                  </a:lnTo>
                  <a:lnTo>
                    <a:pt x="1895" y="298"/>
                  </a:lnTo>
                  <a:lnTo>
                    <a:pt x="1909" y="398"/>
                  </a:lnTo>
                  <a:lnTo>
                    <a:pt x="1922" y="498"/>
                  </a:lnTo>
                  <a:lnTo>
                    <a:pt x="1934" y="598"/>
                  </a:lnTo>
                  <a:lnTo>
                    <a:pt x="1945" y="698"/>
                  </a:lnTo>
                  <a:lnTo>
                    <a:pt x="1956" y="798"/>
                  </a:lnTo>
                  <a:lnTo>
                    <a:pt x="1966" y="898"/>
                  </a:lnTo>
                  <a:lnTo>
                    <a:pt x="1975" y="998"/>
                  </a:lnTo>
                  <a:lnTo>
                    <a:pt x="1984" y="1097"/>
                  </a:lnTo>
                  <a:lnTo>
                    <a:pt x="1992" y="1197"/>
                  </a:lnTo>
                  <a:lnTo>
                    <a:pt x="1999" y="1298"/>
                  </a:lnTo>
                  <a:lnTo>
                    <a:pt x="2007" y="1398"/>
                  </a:lnTo>
                  <a:lnTo>
                    <a:pt x="2013" y="1499"/>
                  </a:lnTo>
                  <a:lnTo>
                    <a:pt x="2018" y="1599"/>
                  </a:lnTo>
                  <a:lnTo>
                    <a:pt x="2024" y="1699"/>
                  </a:lnTo>
                  <a:lnTo>
                    <a:pt x="2028" y="1800"/>
                  </a:lnTo>
                  <a:lnTo>
                    <a:pt x="2032" y="1901"/>
                  </a:lnTo>
                  <a:lnTo>
                    <a:pt x="2036" y="2001"/>
                  </a:lnTo>
                  <a:lnTo>
                    <a:pt x="2041" y="2202"/>
                  </a:lnTo>
                  <a:lnTo>
                    <a:pt x="2045" y="2404"/>
                  </a:lnTo>
                  <a:lnTo>
                    <a:pt x="2048" y="2604"/>
                  </a:lnTo>
                  <a:lnTo>
                    <a:pt x="2048" y="2805"/>
                  </a:lnTo>
                  <a:lnTo>
                    <a:pt x="2048" y="3007"/>
                  </a:lnTo>
                  <a:lnTo>
                    <a:pt x="2046" y="3208"/>
                  </a:lnTo>
                  <a:lnTo>
                    <a:pt x="2044" y="3321"/>
                  </a:lnTo>
                  <a:lnTo>
                    <a:pt x="2041" y="3433"/>
                  </a:lnTo>
                  <a:lnTo>
                    <a:pt x="2038" y="3546"/>
                  </a:lnTo>
                  <a:lnTo>
                    <a:pt x="2034" y="3660"/>
                  </a:lnTo>
                  <a:lnTo>
                    <a:pt x="2028" y="3773"/>
                  </a:lnTo>
                  <a:lnTo>
                    <a:pt x="2022" y="3886"/>
                  </a:lnTo>
                  <a:lnTo>
                    <a:pt x="2015" y="3998"/>
                  </a:lnTo>
                  <a:lnTo>
                    <a:pt x="2007" y="4111"/>
                  </a:lnTo>
                  <a:lnTo>
                    <a:pt x="1998" y="4223"/>
                  </a:lnTo>
                  <a:lnTo>
                    <a:pt x="1988" y="4337"/>
                  </a:lnTo>
                  <a:lnTo>
                    <a:pt x="1977" y="4449"/>
                  </a:lnTo>
                  <a:lnTo>
                    <a:pt x="1966" y="4562"/>
                  </a:lnTo>
                  <a:lnTo>
                    <a:pt x="1953" y="4674"/>
                  </a:lnTo>
                  <a:lnTo>
                    <a:pt x="1938" y="4786"/>
                  </a:lnTo>
                  <a:lnTo>
                    <a:pt x="1924" y="4898"/>
                  </a:lnTo>
                  <a:lnTo>
                    <a:pt x="1908" y="5010"/>
                  </a:lnTo>
                  <a:lnTo>
                    <a:pt x="1891" y="5122"/>
                  </a:lnTo>
                  <a:lnTo>
                    <a:pt x="1873" y="5234"/>
                  </a:lnTo>
                  <a:lnTo>
                    <a:pt x="1855" y="5345"/>
                  </a:lnTo>
                  <a:lnTo>
                    <a:pt x="1834" y="5456"/>
                  </a:lnTo>
                  <a:lnTo>
                    <a:pt x="1814" y="5567"/>
                  </a:lnTo>
                  <a:lnTo>
                    <a:pt x="1792" y="5678"/>
                  </a:lnTo>
                  <a:lnTo>
                    <a:pt x="1768" y="5789"/>
                  </a:lnTo>
                  <a:lnTo>
                    <a:pt x="1745" y="5900"/>
                  </a:lnTo>
                  <a:lnTo>
                    <a:pt x="1719" y="6010"/>
                  </a:lnTo>
                  <a:lnTo>
                    <a:pt x="1693" y="6120"/>
                  </a:lnTo>
                  <a:lnTo>
                    <a:pt x="1665" y="6229"/>
                  </a:lnTo>
                  <a:lnTo>
                    <a:pt x="1637" y="6338"/>
                  </a:lnTo>
                  <a:lnTo>
                    <a:pt x="1607" y="6447"/>
                  </a:lnTo>
                  <a:lnTo>
                    <a:pt x="1575" y="6556"/>
                  </a:lnTo>
                  <a:lnTo>
                    <a:pt x="1544" y="6665"/>
                  </a:lnTo>
                  <a:lnTo>
                    <a:pt x="1510" y="6773"/>
                  </a:lnTo>
                  <a:lnTo>
                    <a:pt x="1491" y="6843"/>
                  </a:lnTo>
                  <a:lnTo>
                    <a:pt x="1469" y="6911"/>
                  </a:lnTo>
                  <a:lnTo>
                    <a:pt x="1445" y="6979"/>
                  </a:lnTo>
                  <a:lnTo>
                    <a:pt x="1418" y="7044"/>
                  </a:lnTo>
                  <a:lnTo>
                    <a:pt x="1390" y="7110"/>
                  </a:lnTo>
                  <a:lnTo>
                    <a:pt x="1359" y="7173"/>
                  </a:lnTo>
                  <a:lnTo>
                    <a:pt x="1326" y="7235"/>
                  </a:lnTo>
                  <a:lnTo>
                    <a:pt x="1291" y="7296"/>
                  </a:lnTo>
                  <a:lnTo>
                    <a:pt x="1253" y="7356"/>
                  </a:lnTo>
                  <a:lnTo>
                    <a:pt x="1215" y="7415"/>
                  </a:lnTo>
                  <a:lnTo>
                    <a:pt x="1173" y="7472"/>
                  </a:lnTo>
                  <a:lnTo>
                    <a:pt x="1130" y="7528"/>
                  </a:lnTo>
                  <a:lnTo>
                    <a:pt x="1086" y="7582"/>
                  </a:lnTo>
                  <a:lnTo>
                    <a:pt x="1039" y="7635"/>
                  </a:lnTo>
                  <a:lnTo>
                    <a:pt x="991" y="7687"/>
                  </a:lnTo>
                  <a:lnTo>
                    <a:pt x="942" y="7738"/>
                  </a:lnTo>
                  <a:lnTo>
                    <a:pt x="891" y="7787"/>
                  </a:lnTo>
                  <a:lnTo>
                    <a:pt x="839" y="7835"/>
                  </a:lnTo>
                  <a:lnTo>
                    <a:pt x="785" y="7882"/>
                  </a:lnTo>
                  <a:lnTo>
                    <a:pt x="730" y="7926"/>
                  </a:lnTo>
                  <a:lnTo>
                    <a:pt x="674" y="7970"/>
                  </a:lnTo>
                  <a:lnTo>
                    <a:pt x="617" y="8013"/>
                  </a:lnTo>
                  <a:lnTo>
                    <a:pt x="559" y="8054"/>
                  </a:lnTo>
                  <a:lnTo>
                    <a:pt x="500" y="8094"/>
                  </a:lnTo>
                  <a:lnTo>
                    <a:pt x="440" y="8132"/>
                  </a:lnTo>
                  <a:lnTo>
                    <a:pt x="380" y="8169"/>
                  </a:lnTo>
                  <a:lnTo>
                    <a:pt x="318" y="8205"/>
                  </a:lnTo>
                  <a:lnTo>
                    <a:pt x="255" y="8238"/>
                  </a:lnTo>
                  <a:lnTo>
                    <a:pt x="192" y="8271"/>
                  </a:lnTo>
                  <a:lnTo>
                    <a:pt x="129" y="8303"/>
                  </a:lnTo>
                  <a:lnTo>
                    <a:pt x="65" y="8333"/>
                  </a:lnTo>
                  <a:lnTo>
                    <a:pt x="0" y="8362"/>
                  </a:lnTo>
                  <a:lnTo>
                    <a:pt x="22" y="8307"/>
                  </a:lnTo>
                  <a:lnTo>
                    <a:pt x="43" y="8253"/>
                  </a:lnTo>
                  <a:lnTo>
                    <a:pt x="66" y="8198"/>
                  </a:lnTo>
                  <a:lnTo>
                    <a:pt x="88" y="8144"/>
                  </a:lnTo>
                  <a:lnTo>
                    <a:pt x="112" y="8090"/>
                  </a:lnTo>
                  <a:lnTo>
                    <a:pt x="136" y="8035"/>
                  </a:lnTo>
                  <a:lnTo>
                    <a:pt x="162" y="7982"/>
                  </a:lnTo>
                  <a:lnTo>
                    <a:pt x="188" y="7929"/>
                  </a:lnTo>
                  <a:lnTo>
                    <a:pt x="216" y="7878"/>
                  </a:lnTo>
                  <a:lnTo>
                    <a:pt x="245" y="7828"/>
                  </a:lnTo>
                  <a:lnTo>
                    <a:pt x="260" y="7802"/>
                  </a:lnTo>
                  <a:lnTo>
                    <a:pt x="276" y="7778"/>
                  </a:lnTo>
                  <a:lnTo>
                    <a:pt x="292" y="7753"/>
                  </a:lnTo>
                  <a:lnTo>
                    <a:pt x="308" y="7730"/>
                  </a:lnTo>
                  <a:lnTo>
                    <a:pt x="326" y="7705"/>
                  </a:lnTo>
                  <a:lnTo>
                    <a:pt x="343" y="7682"/>
                  </a:lnTo>
                  <a:lnTo>
                    <a:pt x="361" y="7659"/>
                  </a:lnTo>
                  <a:lnTo>
                    <a:pt x="380" y="7637"/>
                  </a:lnTo>
                  <a:lnTo>
                    <a:pt x="399" y="7614"/>
                  </a:lnTo>
                  <a:lnTo>
                    <a:pt x="419" y="7593"/>
                  </a:lnTo>
                  <a:lnTo>
                    <a:pt x="440" y="7572"/>
                  </a:lnTo>
                  <a:lnTo>
                    <a:pt x="461" y="7550"/>
                  </a:lnTo>
                  <a:lnTo>
                    <a:pt x="497" y="7515"/>
                  </a:lnTo>
                  <a:lnTo>
                    <a:pt x="533" y="7478"/>
                  </a:lnTo>
                  <a:lnTo>
                    <a:pt x="569" y="7442"/>
                  </a:lnTo>
                  <a:lnTo>
                    <a:pt x="607" y="7406"/>
                  </a:lnTo>
                  <a:lnTo>
                    <a:pt x="683" y="7336"/>
                  </a:lnTo>
                  <a:lnTo>
                    <a:pt x="760" y="7266"/>
                  </a:lnTo>
                  <a:lnTo>
                    <a:pt x="837" y="7195"/>
                  </a:lnTo>
                  <a:lnTo>
                    <a:pt x="914" y="7125"/>
                  </a:lnTo>
                  <a:lnTo>
                    <a:pt x="952" y="7088"/>
                  </a:lnTo>
                  <a:lnTo>
                    <a:pt x="989" y="7053"/>
                  </a:lnTo>
                  <a:lnTo>
                    <a:pt x="1026" y="7016"/>
                  </a:lnTo>
                  <a:lnTo>
                    <a:pt x="1063" y="6979"/>
                  </a:lnTo>
                  <a:lnTo>
                    <a:pt x="1098" y="6942"/>
                  </a:lnTo>
                  <a:lnTo>
                    <a:pt x="1134" y="6904"/>
                  </a:lnTo>
                  <a:lnTo>
                    <a:pt x="1168" y="6865"/>
                  </a:lnTo>
                  <a:lnTo>
                    <a:pt x="1201" y="6826"/>
                  </a:lnTo>
                  <a:lnTo>
                    <a:pt x="1234" y="6787"/>
                  </a:lnTo>
                  <a:lnTo>
                    <a:pt x="1265" y="6746"/>
                  </a:lnTo>
                  <a:lnTo>
                    <a:pt x="1295" y="6704"/>
                  </a:lnTo>
                  <a:lnTo>
                    <a:pt x="1324" y="6662"/>
                  </a:lnTo>
                  <a:lnTo>
                    <a:pt x="1352" y="6619"/>
                  </a:lnTo>
                  <a:lnTo>
                    <a:pt x="1378" y="6574"/>
                  </a:lnTo>
                  <a:lnTo>
                    <a:pt x="1402" y="6530"/>
                  </a:lnTo>
                  <a:lnTo>
                    <a:pt x="1426" y="6484"/>
                  </a:lnTo>
                  <a:lnTo>
                    <a:pt x="1447" y="6437"/>
                  </a:lnTo>
                  <a:lnTo>
                    <a:pt x="1466" y="6388"/>
                  </a:lnTo>
                  <a:lnTo>
                    <a:pt x="1485" y="6339"/>
                  </a:lnTo>
                  <a:lnTo>
                    <a:pt x="1500" y="6288"/>
                  </a:lnTo>
                  <a:lnTo>
                    <a:pt x="1510" y="6256"/>
                  </a:lnTo>
                  <a:lnTo>
                    <a:pt x="1517" y="6224"/>
                  </a:lnTo>
                  <a:lnTo>
                    <a:pt x="1524" y="6191"/>
                  </a:lnTo>
                  <a:lnTo>
                    <a:pt x="1530" y="6160"/>
                  </a:lnTo>
                  <a:lnTo>
                    <a:pt x="1534" y="6127"/>
                  </a:lnTo>
                  <a:lnTo>
                    <a:pt x="1536" y="6095"/>
                  </a:lnTo>
                  <a:lnTo>
                    <a:pt x="1538" y="6063"/>
                  </a:lnTo>
                  <a:lnTo>
                    <a:pt x="1538" y="6030"/>
                  </a:lnTo>
                  <a:lnTo>
                    <a:pt x="1538" y="5998"/>
                  </a:lnTo>
                  <a:lnTo>
                    <a:pt x="1536" y="5966"/>
                  </a:lnTo>
                  <a:lnTo>
                    <a:pt x="1533" y="5934"/>
                  </a:lnTo>
                  <a:lnTo>
                    <a:pt x="1530" y="5903"/>
                  </a:lnTo>
                  <a:lnTo>
                    <a:pt x="1524" y="5870"/>
                  </a:lnTo>
                  <a:lnTo>
                    <a:pt x="1519" y="5838"/>
                  </a:lnTo>
                  <a:lnTo>
                    <a:pt x="1513" y="5807"/>
                  </a:lnTo>
                  <a:lnTo>
                    <a:pt x="1506" y="5775"/>
                  </a:lnTo>
                  <a:lnTo>
                    <a:pt x="1499" y="5744"/>
                  </a:lnTo>
                  <a:lnTo>
                    <a:pt x="1491" y="5712"/>
                  </a:lnTo>
                  <a:lnTo>
                    <a:pt x="1483" y="5680"/>
                  </a:lnTo>
                  <a:lnTo>
                    <a:pt x="1473" y="5649"/>
                  </a:lnTo>
                  <a:lnTo>
                    <a:pt x="1454" y="5586"/>
                  </a:lnTo>
                  <a:lnTo>
                    <a:pt x="1433" y="5523"/>
                  </a:lnTo>
                  <a:lnTo>
                    <a:pt x="1411" y="5462"/>
                  </a:lnTo>
                  <a:lnTo>
                    <a:pt x="1389" y="5400"/>
                  </a:lnTo>
                  <a:lnTo>
                    <a:pt x="1367" y="5340"/>
                  </a:lnTo>
                  <a:lnTo>
                    <a:pt x="1345" y="5280"/>
                  </a:lnTo>
                  <a:lnTo>
                    <a:pt x="1276" y="5329"/>
                  </a:lnTo>
                  <a:lnTo>
                    <a:pt x="1206" y="5378"/>
                  </a:lnTo>
                  <a:lnTo>
                    <a:pt x="1137" y="5426"/>
                  </a:lnTo>
                  <a:lnTo>
                    <a:pt x="1068" y="5475"/>
                  </a:lnTo>
                  <a:lnTo>
                    <a:pt x="998" y="5524"/>
                  </a:lnTo>
                  <a:lnTo>
                    <a:pt x="929" y="5574"/>
                  </a:lnTo>
                  <a:lnTo>
                    <a:pt x="861" y="5623"/>
                  </a:lnTo>
                  <a:lnTo>
                    <a:pt x="792" y="5673"/>
                  </a:lnTo>
                  <a:lnTo>
                    <a:pt x="795" y="5519"/>
                  </a:lnTo>
                  <a:lnTo>
                    <a:pt x="797" y="5365"/>
                  </a:lnTo>
                  <a:lnTo>
                    <a:pt x="799" y="5211"/>
                  </a:lnTo>
                  <a:lnTo>
                    <a:pt x="799" y="5057"/>
                  </a:lnTo>
                  <a:lnTo>
                    <a:pt x="798" y="4903"/>
                  </a:lnTo>
                  <a:lnTo>
                    <a:pt x="795" y="4749"/>
                  </a:lnTo>
                  <a:lnTo>
                    <a:pt x="790" y="4596"/>
                  </a:lnTo>
                  <a:lnTo>
                    <a:pt x="785" y="4442"/>
                  </a:lnTo>
                  <a:lnTo>
                    <a:pt x="777" y="4288"/>
                  </a:lnTo>
                  <a:lnTo>
                    <a:pt x="768" y="4135"/>
                  </a:lnTo>
                  <a:lnTo>
                    <a:pt x="763" y="4057"/>
                  </a:lnTo>
                  <a:lnTo>
                    <a:pt x="757" y="3981"/>
                  </a:lnTo>
                  <a:lnTo>
                    <a:pt x="751" y="3904"/>
                  </a:lnTo>
                  <a:lnTo>
                    <a:pt x="744" y="3828"/>
                  </a:lnTo>
                  <a:lnTo>
                    <a:pt x="735" y="3751"/>
                  </a:lnTo>
                  <a:lnTo>
                    <a:pt x="727" y="3675"/>
                  </a:lnTo>
                  <a:lnTo>
                    <a:pt x="719" y="3598"/>
                  </a:lnTo>
                  <a:lnTo>
                    <a:pt x="710" y="3522"/>
                  </a:lnTo>
                  <a:lnTo>
                    <a:pt x="700" y="3445"/>
                  </a:lnTo>
                  <a:lnTo>
                    <a:pt x="689" y="3369"/>
                  </a:lnTo>
                  <a:lnTo>
                    <a:pt x="677" y="3293"/>
                  </a:lnTo>
                  <a:lnTo>
                    <a:pt x="666" y="3217"/>
                  </a:lnTo>
                  <a:lnTo>
                    <a:pt x="655" y="3140"/>
                  </a:lnTo>
                  <a:lnTo>
                    <a:pt x="644" y="3062"/>
                  </a:lnTo>
                  <a:lnTo>
                    <a:pt x="631" y="2986"/>
                  </a:lnTo>
                  <a:lnTo>
                    <a:pt x="618" y="2908"/>
                  </a:lnTo>
                  <a:lnTo>
                    <a:pt x="605" y="2832"/>
                  </a:lnTo>
                  <a:lnTo>
                    <a:pt x="591" y="2755"/>
                  </a:lnTo>
                  <a:lnTo>
                    <a:pt x="576" y="2678"/>
                  </a:lnTo>
                  <a:lnTo>
                    <a:pt x="561" y="2601"/>
                  </a:lnTo>
                  <a:lnTo>
                    <a:pt x="530" y="2449"/>
                  </a:lnTo>
                  <a:lnTo>
                    <a:pt x="496" y="2297"/>
                  </a:lnTo>
                  <a:lnTo>
                    <a:pt x="461" y="2146"/>
                  </a:lnTo>
                  <a:lnTo>
                    <a:pt x="425" y="1994"/>
                  </a:lnTo>
                  <a:lnTo>
                    <a:pt x="388" y="1842"/>
                  </a:lnTo>
                  <a:lnTo>
                    <a:pt x="351" y="1691"/>
                  </a:lnTo>
                  <a:lnTo>
                    <a:pt x="313" y="1539"/>
                  </a:lnTo>
                  <a:lnTo>
                    <a:pt x="276" y="1388"/>
                  </a:lnTo>
                  <a:lnTo>
                    <a:pt x="239" y="1236"/>
                  </a:lnTo>
                  <a:lnTo>
                    <a:pt x="203" y="1084"/>
                  </a:lnTo>
                  <a:lnTo>
                    <a:pt x="168" y="932"/>
                  </a:lnTo>
                  <a:lnTo>
                    <a:pt x="135" y="780"/>
                  </a:lnTo>
                  <a:close/>
                </a:path>
              </a:pathLst>
            </a:custGeom>
            <a:solidFill>
              <a:srgbClr val="00326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60840" rIns="122040" bIns="6084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9" name="Google Shape;221;p20"/>
          <p:cNvGrpSpPr/>
          <p:nvPr/>
        </p:nvGrpSpPr>
        <p:grpSpPr>
          <a:xfrm>
            <a:off x="4186440" y="3052440"/>
            <a:ext cx="3753720" cy="1067400"/>
            <a:chOff x="4186440" y="3052440"/>
            <a:chExt cx="3753720" cy="1067400"/>
          </a:xfrm>
        </p:grpSpPr>
        <p:sp>
          <p:nvSpPr>
            <p:cNvPr id="160" name="Google Shape;222;p20"/>
            <p:cNvSpPr/>
            <p:nvPr/>
          </p:nvSpPr>
          <p:spPr>
            <a:xfrm>
              <a:off x="4186440" y="3052440"/>
              <a:ext cx="524160" cy="1067400"/>
            </a:xfrm>
            <a:custGeom>
              <a:avLst/>
              <a:gdLst>
                <a:gd name="textAreaLeft" fmla="*/ 0 w 524160"/>
                <a:gd name="textAreaRight" fmla="*/ 524520 w 524160"/>
                <a:gd name="textAreaTop" fmla="*/ 0 h 1067400"/>
                <a:gd name="textAreaBottom" fmla="*/ 1067760 h 1067400"/>
              </a:gdLst>
              <a:ahLst/>
              <a:cxnLst/>
              <a:rect l="textAreaLeft" t="textAreaTop" r="textAreaRight" b="textAreaBottom"/>
              <a:pathLst>
                <a:path w="2275" h="4633">
                  <a:moveTo>
                    <a:pt x="0" y="0"/>
                  </a:moveTo>
                  <a:lnTo>
                    <a:pt x="119" y="12"/>
                  </a:lnTo>
                  <a:lnTo>
                    <a:pt x="239" y="27"/>
                  </a:lnTo>
                  <a:lnTo>
                    <a:pt x="357" y="42"/>
                  </a:lnTo>
                  <a:lnTo>
                    <a:pt x="476" y="58"/>
                  </a:lnTo>
                  <a:lnTo>
                    <a:pt x="594" y="76"/>
                  </a:lnTo>
                  <a:lnTo>
                    <a:pt x="714" y="94"/>
                  </a:lnTo>
                  <a:lnTo>
                    <a:pt x="832" y="113"/>
                  </a:lnTo>
                  <a:lnTo>
                    <a:pt x="950" y="134"/>
                  </a:lnTo>
                  <a:lnTo>
                    <a:pt x="1067" y="154"/>
                  </a:lnTo>
                  <a:lnTo>
                    <a:pt x="1186" y="176"/>
                  </a:lnTo>
                  <a:lnTo>
                    <a:pt x="1304" y="199"/>
                  </a:lnTo>
                  <a:lnTo>
                    <a:pt x="1421" y="223"/>
                  </a:lnTo>
                  <a:lnTo>
                    <a:pt x="1538" y="247"/>
                  </a:lnTo>
                  <a:lnTo>
                    <a:pt x="1656" y="272"/>
                  </a:lnTo>
                  <a:lnTo>
                    <a:pt x="1773" y="298"/>
                  </a:lnTo>
                  <a:lnTo>
                    <a:pt x="1890" y="323"/>
                  </a:lnTo>
                  <a:lnTo>
                    <a:pt x="1892" y="476"/>
                  </a:lnTo>
                  <a:lnTo>
                    <a:pt x="1894" y="629"/>
                  </a:lnTo>
                  <a:lnTo>
                    <a:pt x="1896" y="782"/>
                  </a:lnTo>
                  <a:lnTo>
                    <a:pt x="1898" y="935"/>
                  </a:lnTo>
                  <a:lnTo>
                    <a:pt x="1901" y="1088"/>
                  </a:lnTo>
                  <a:lnTo>
                    <a:pt x="1904" y="1241"/>
                  </a:lnTo>
                  <a:lnTo>
                    <a:pt x="1907" y="1394"/>
                  </a:lnTo>
                  <a:lnTo>
                    <a:pt x="1911" y="1546"/>
                  </a:lnTo>
                  <a:lnTo>
                    <a:pt x="1917" y="1699"/>
                  </a:lnTo>
                  <a:lnTo>
                    <a:pt x="1924" y="1852"/>
                  </a:lnTo>
                  <a:lnTo>
                    <a:pt x="1931" y="2005"/>
                  </a:lnTo>
                  <a:lnTo>
                    <a:pt x="1939" y="2156"/>
                  </a:lnTo>
                  <a:lnTo>
                    <a:pt x="1949" y="2309"/>
                  </a:lnTo>
                  <a:lnTo>
                    <a:pt x="1961" y="2461"/>
                  </a:lnTo>
                  <a:lnTo>
                    <a:pt x="1975" y="2614"/>
                  </a:lnTo>
                  <a:lnTo>
                    <a:pt x="1991" y="2766"/>
                  </a:lnTo>
                  <a:lnTo>
                    <a:pt x="2002" y="2883"/>
                  </a:lnTo>
                  <a:lnTo>
                    <a:pt x="2016" y="3001"/>
                  </a:lnTo>
                  <a:lnTo>
                    <a:pt x="2033" y="3118"/>
                  </a:lnTo>
                  <a:lnTo>
                    <a:pt x="2049" y="3235"/>
                  </a:lnTo>
                  <a:lnTo>
                    <a:pt x="2067" y="3351"/>
                  </a:lnTo>
                  <a:lnTo>
                    <a:pt x="2087" y="3468"/>
                  </a:lnTo>
                  <a:lnTo>
                    <a:pt x="2107" y="3584"/>
                  </a:lnTo>
                  <a:lnTo>
                    <a:pt x="2128" y="3700"/>
                  </a:lnTo>
                  <a:lnTo>
                    <a:pt x="2148" y="3816"/>
                  </a:lnTo>
                  <a:lnTo>
                    <a:pt x="2168" y="3932"/>
                  </a:lnTo>
                  <a:lnTo>
                    <a:pt x="2189" y="4050"/>
                  </a:lnTo>
                  <a:lnTo>
                    <a:pt x="2208" y="4166"/>
                  </a:lnTo>
                  <a:lnTo>
                    <a:pt x="2227" y="4282"/>
                  </a:lnTo>
                  <a:lnTo>
                    <a:pt x="2245" y="4399"/>
                  </a:lnTo>
                  <a:lnTo>
                    <a:pt x="2261" y="4516"/>
                  </a:lnTo>
                  <a:lnTo>
                    <a:pt x="2275" y="4633"/>
                  </a:lnTo>
                  <a:lnTo>
                    <a:pt x="2216" y="4555"/>
                  </a:lnTo>
                  <a:lnTo>
                    <a:pt x="2158" y="4477"/>
                  </a:lnTo>
                  <a:lnTo>
                    <a:pt x="2102" y="4397"/>
                  </a:lnTo>
                  <a:lnTo>
                    <a:pt x="2048" y="4316"/>
                  </a:lnTo>
                  <a:lnTo>
                    <a:pt x="1996" y="4234"/>
                  </a:lnTo>
                  <a:lnTo>
                    <a:pt x="1946" y="4152"/>
                  </a:lnTo>
                  <a:lnTo>
                    <a:pt x="1897" y="4068"/>
                  </a:lnTo>
                  <a:lnTo>
                    <a:pt x="1850" y="3983"/>
                  </a:lnTo>
                  <a:lnTo>
                    <a:pt x="1804" y="3898"/>
                  </a:lnTo>
                  <a:lnTo>
                    <a:pt x="1760" y="3812"/>
                  </a:lnTo>
                  <a:lnTo>
                    <a:pt x="1717" y="3726"/>
                  </a:lnTo>
                  <a:lnTo>
                    <a:pt x="1674" y="3638"/>
                  </a:lnTo>
                  <a:lnTo>
                    <a:pt x="1633" y="3550"/>
                  </a:lnTo>
                  <a:lnTo>
                    <a:pt x="1593" y="3461"/>
                  </a:lnTo>
                  <a:lnTo>
                    <a:pt x="1554" y="3373"/>
                  </a:lnTo>
                  <a:lnTo>
                    <a:pt x="1515" y="3284"/>
                  </a:lnTo>
                  <a:lnTo>
                    <a:pt x="1439" y="3105"/>
                  </a:lnTo>
                  <a:lnTo>
                    <a:pt x="1365" y="2924"/>
                  </a:lnTo>
                  <a:lnTo>
                    <a:pt x="1293" y="2744"/>
                  </a:lnTo>
                  <a:lnTo>
                    <a:pt x="1219" y="2563"/>
                  </a:lnTo>
                  <a:lnTo>
                    <a:pt x="1146" y="2383"/>
                  </a:lnTo>
                  <a:lnTo>
                    <a:pt x="1070" y="2204"/>
                  </a:lnTo>
                  <a:lnTo>
                    <a:pt x="1032" y="2115"/>
                  </a:lnTo>
                  <a:lnTo>
                    <a:pt x="993" y="2026"/>
                  </a:lnTo>
                  <a:lnTo>
                    <a:pt x="952" y="1938"/>
                  </a:lnTo>
                  <a:lnTo>
                    <a:pt x="911" y="1851"/>
                  </a:lnTo>
                  <a:lnTo>
                    <a:pt x="897" y="1818"/>
                  </a:lnTo>
                  <a:lnTo>
                    <a:pt x="882" y="1786"/>
                  </a:lnTo>
                  <a:lnTo>
                    <a:pt x="867" y="1755"/>
                  </a:lnTo>
                  <a:lnTo>
                    <a:pt x="850" y="1724"/>
                  </a:lnTo>
                  <a:lnTo>
                    <a:pt x="833" y="1694"/>
                  </a:lnTo>
                  <a:lnTo>
                    <a:pt x="816" y="1663"/>
                  </a:lnTo>
                  <a:lnTo>
                    <a:pt x="798" y="1632"/>
                  </a:lnTo>
                  <a:lnTo>
                    <a:pt x="780" y="1603"/>
                  </a:lnTo>
                  <a:lnTo>
                    <a:pt x="743" y="1544"/>
                  </a:lnTo>
                  <a:lnTo>
                    <a:pt x="704" y="1486"/>
                  </a:lnTo>
                  <a:lnTo>
                    <a:pt x="664" y="1428"/>
                  </a:lnTo>
                  <a:lnTo>
                    <a:pt x="623" y="1372"/>
                  </a:lnTo>
                  <a:lnTo>
                    <a:pt x="580" y="1316"/>
                  </a:lnTo>
                  <a:lnTo>
                    <a:pt x="537" y="1261"/>
                  </a:lnTo>
                  <a:lnTo>
                    <a:pt x="494" y="1207"/>
                  </a:lnTo>
                  <a:lnTo>
                    <a:pt x="449" y="1153"/>
                  </a:lnTo>
                  <a:lnTo>
                    <a:pt x="405" y="1099"/>
                  </a:lnTo>
                  <a:lnTo>
                    <a:pt x="360" y="1045"/>
                  </a:lnTo>
                  <a:lnTo>
                    <a:pt x="315" y="991"/>
                  </a:lnTo>
                  <a:lnTo>
                    <a:pt x="270" y="938"/>
                  </a:lnTo>
                  <a:lnTo>
                    <a:pt x="250" y="914"/>
                  </a:lnTo>
                  <a:lnTo>
                    <a:pt x="232" y="888"/>
                  </a:lnTo>
                  <a:lnTo>
                    <a:pt x="213" y="863"/>
                  </a:lnTo>
                  <a:lnTo>
                    <a:pt x="197" y="836"/>
                  </a:lnTo>
                  <a:lnTo>
                    <a:pt x="182" y="810"/>
                  </a:lnTo>
                  <a:lnTo>
                    <a:pt x="167" y="782"/>
                  </a:lnTo>
                  <a:lnTo>
                    <a:pt x="154" y="755"/>
                  </a:lnTo>
                  <a:lnTo>
                    <a:pt x="142" y="727"/>
                  </a:lnTo>
                  <a:lnTo>
                    <a:pt x="131" y="698"/>
                  </a:lnTo>
                  <a:lnTo>
                    <a:pt x="119" y="670"/>
                  </a:lnTo>
                  <a:lnTo>
                    <a:pt x="110" y="641"/>
                  </a:lnTo>
                  <a:lnTo>
                    <a:pt x="101" y="612"/>
                  </a:lnTo>
                  <a:lnTo>
                    <a:pt x="93" y="582"/>
                  </a:lnTo>
                  <a:lnTo>
                    <a:pt x="86" y="552"/>
                  </a:lnTo>
                  <a:lnTo>
                    <a:pt x="79" y="522"/>
                  </a:lnTo>
                  <a:lnTo>
                    <a:pt x="71" y="492"/>
                  </a:lnTo>
                  <a:lnTo>
                    <a:pt x="60" y="430"/>
                  </a:lnTo>
                  <a:lnTo>
                    <a:pt x="50" y="369"/>
                  </a:lnTo>
                  <a:lnTo>
                    <a:pt x="42" y="307"/>
                  </a:lnTo>
                  <a:lnTo>
                    <a:pt x="34" y="245"/>
                  </a:lnTo>
                  <a:lnTo>
                    <a:pt x="26" y="183"/>
                  </a:lnTo>
                  <a:lnTo>
                    <a:pt x="17" y="121"/>
                  </a:lnTo>
                  <a:lnTo>
                    <a:pt x="9" y="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E8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60840" rIns="122040" bIns="6084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Google Shape;223;p20"/>
            <p:cNvSpPr/>
            <p:nvPr/>
          </p:nvSpPr>
          <p:spPr>
            <a:xfrm>
              <a:off x="7419240" y="3055680"/>
              <a:ext cx="520920" cy="1060920"/>
            </a:xfrm>
            <a:custGeom>
              <a:avLst/>
              <a:gdLst>
                <a:gd name="textAreaLeft" fmla="*/ 0 w 520920"/>
                <a:gd name="textAreaRight" fmla="*/ 521280 w 520920"/>
                <a:gd name="textAreaTop" fmla="*/ 0 h 1060920"/>
                <a:gd name="textAreaBottom" fmla="*/ 1061280 h 1060920"/>
              </a:gdLst>
              <a:ahLst/>
              <a:cxnLst/>
              <a:rect l="textAreaLeft" t="textAreaTop" r="textAreaRight" b="textAreaBottom"/>
              <a:pathLst>
                <a:path w="2262" h="4604">
                  <a:moveTo>
                    <a:pt x="381" y="313"/>
                  </a:moveTo>
                  <a:lnTo>
                    <a:pt x="497" y="286"/>
                  </a:lnTo>
                  <a:lnTo>
                    <a:pt x="614" y="258"/>
                  </a:lnTo>
                  <a:lnTo>
                    <a:pt x="730" y="233"/>
                  </a:lnTo>
                  <a:lnTo>
                    <a:pt x="846" y="207"/>
                  </a:lnTo>
                  <a:lnTo>
                    <a:pt x="963" y="183"/>
                  </a:lnTo>
                  <a:lnTo>
                    <a:pt x="1080" y="159"/>
                  </a:lnTo>
                  <a:lnTo>
                    <a:pt x="1198" y="137"/>
                  </a:lnTo>
                  <a:lnTo>
                    <a:pt x="1315" y="116"/>
                  </a:lnTo>
                  <a:lnTo>
                    <a:pt x="1432" y="95"/>
                  </a:lnTo>
                  <a:lnTo>
                    <a:pt x="1550" y="77"/>
                  </a:lnTo>
                  <a:lnTo>
                    <a:pt x="1669" y="59"/>
                  </a:lnTo>
                  <a:lnTo>
                    <a:pt x="1787" y="44"/>
                  </a:lnTo>
                  <a:lnTo>
                    <a:pt x="1905" y="31"/>
                  </a:lnTo>
                  <a:lnTo>
                    <a:pt x="2024" y="19"/>
                  </a:lnTo>
                  <a:lnTo>
                    <a:pt x="2143" y="9"/>
                  </a:lnTo>
                  <a:lnTo>
                    <a:pt x="2262" y="0"/>
                  </a:lnTo>
                  <a:lnTo>
                    <a:pt x="2253" y="61"/>
                  </a:lnTo>
                  <a:lnTo>
                    <a:pt x="2245" y="121"/>
                  </a:lnTo>
                  <a:lnTo>
                    <a:pt x="2236" y="182"/>
                  </a:lnTo>
                  <a:lnTo>
                    <a:pt x="2228" y="242"/>
                  </a:lnTo>
                  <a:lnTo>
                    <a:pt x="2219" y="303"/>
                  </a:lnTo>
                  <a:lnTo>
                    <a:pt x="2209" y="364"/>
                  </a:lnTo>
                  <a:lnTo>
                    <a:pt x="2198" y="426"/>
                  </a:lnTo>
                  <a:lnTo>
                    <a:pt x="2185" y="486"/>
                  </a:lnTo>
                  <a:lnTo>
                    <a:pt x="2178" y="515"/>
                  </a:lnTo>
                  <a:lnTo>
                    <a:pt x="2170" y="545"/>
                  </a:lnTo>
                  <a:lnTo>
                    <a:pt x="2162" y="574"/>
                  </a:lnTo>
                  <a:lnTo>
                    <a:pt x="2153" y="603"/>
                  </a:lnTo>
                  <a:lnTo>
                    <a:pt x="2144" y="631"/>
                  </a:lnTo>
                  <a:lnTo>
                    <a:pt x="2132" y="660"/>
                  </a:lnTo>
                  <a:lnTo>
                    <a:pt x="2121" y="689"/>
                  </a:lnTo>
                  <a:lnTo>
                    <a:pt x="2109" y="716"/>
                  </a:lnTo>
                  <a:lnTo>
                    <a:pt x="2096" y="744"/>
                  </a:lnTo>
                  <a:lnTo>
                    <a:pt x="2082" y="770"/>
                  </a:lnTo>
                  <a:lnTo>
                    <a:pt x="2067" y="797"/>
                  </a:lnTo>
                  <a:lnTo>
                    <a:pt x="2051" y="822"/>
                  </a:lnTo>
                  <a:lnTo>
                    <a:pt x="2034" y="848"/>
                  </a:lnTo>
                  <a:lnTo>
                    <a:pt x="2015" y="872"/>
                  </a:lnTo>
                  <a:lnTo>
                    <a:pt x="1996" y="897"/>
                  </a:lnTo>
                  <a:lnTo>
                    <a:pt x="1974" y="920"/>
                  </a:lnTo>
                  <a:lnTo>
                    <a:pt x="1922" y="979"/>
                  </a:lnTo>
                  <a:lnTo>
                    <a:pt x="1871" y="1039"/>
                  </a:lnTo>
                  <a:lnTo>
                    <a:pt x="1821" y="1098"/>
                  </a:lnTo>
                  <a:lnTo>
                    <a:pt x="1772" y="1160"/>
                  </a:lnTo>
                  <a:lnTo>
                    <a:pt x="1723" y="1221"/>
                  </a:lnTo>
                  <a:lnTo>
                    <a:pt x="1675" y="1283"/>
                  </a:lnTo>
                  <a:lnTo>
                    <a:pt x="1627" y="1346"/>
                  </a:lnTo>
                  <a:lnTo>
                    <a:pt x="1582" y="1409"/>
                  </a:lnTo>
                  <a:lnTo>
                    <a:pt x="1537" y="1475"/>
                  </a:lnTo>
                  <a:lnTo>
                    <a:pt x="1494" y="1540"/>
                  </a:lnTo>
                  <a:lnTo>
                    <a:pt x="1474" y="1572"/>
                  </a:lnTo>
                  <a:lnTo>
                    <a:pt x="1454" y="1606"/>
                  </a:lnTo>
                  <a:lnTo>
                    <a:pt x="1433" y="1640"/>
                  </a:lnTo>
                  <a:lnTo>
                    <a:pt x="1414" y="1674"/>
                  </a:lnTo>
                  <a:lnTo>
                    <a:pt x="1394" y="1708"/>
                  </a:lnTo>
                  <a:lnTo>
                    <a:pt x="1376" y="1743"/>
                  </a:lnTo>
                  <a:lnTo>
                    <a:pt x="1358" y="1777"/>
                  </a:lnTo>
                  <a:lnTo>
                    <a:pt x="1340" y="1813"/>
                  </a:lnTo>
                  <a:lnTo>
                    <a:pt x="1323" y="1848"/>
                  </a:lnTo>
                  <a:lnTo>
                    <a:pt x="1307" y="1883"/>
                  </a:lnTo>
                  <a:lnTo>
                    <a:pt x="1290" y="1920"/>
                  </a:lnTo>
                  <a:lnTo>
                    <a:pt x="1275" y="1957"/>
                  </a:lnTo>
                  <a:lnTo>
                    <a:pt x="1203" y="2125"/>
                  </a:lnTo>
                  <a:lnTo>
                    <a:pt x="1132" y="2295"/>
                  </a:lnTo>
                  <a:lnTo>
                    <a:pt x="1063" y="2466"/>
                  </a:lnTo>
                  <a:lnTo>
                    <a:pt x="994" y="2636"/>
                  </a:lnTo>
                  <a:lnTo>
                    <a:pt x="924" y="2807"/>
                  </a:lnTo>
                  <a:lnTo>
                    <a:pt x="854" y="2977"/>
                  </a:lnTo>
                  <a:lnTo>
                    <a:pt x="783" y="3148"/>
                  </a:lnTo>
                  <a:lnTo>
                    <a:pt x="710" y="3317"/>
                  </a:lnTo>
                  <a:lnTo>
                    <a:pt x="673" y="3402"/>
                  </a:lnTo>
                  <a:lnTo>
                    <a:pt x="635" y="3485"/>
                  </a:lnTo>
                  <a:lnTo>
                    <a:pt x="596" y="3569"/>
                  </a:lnTo>
                  <a:lnTo>
                    <a:pt x="557" y="3651"/>
                  </a:lnTo>
                  <a:lnTo>
                    <a:pt x="517" y="3734"/>
                  </a:lnTo>
                  <a:lnTo>
                    <a:pt x="476" y="3817"/>
                  </a:lnTo>
                  <a:lnTo>
                    <a:pt x="434" y="3898"/>
                  </a:lnTo>
                  <a:lnTo>
                    <a:pt x="390" y="3980"/>
                  </a:lnTo>
                  <a:lnTo>
                    <a:pt x="346" y="4060"/>
                  </a:lnTo>
                  <a:lnTo>
                    <a:pt x="301" y="4140"/>
                  </a:lnTo>
                  <a:lnTo>
                    <a:pt x="255" y="4219"/>
                  </a:lnTo>
                  <a:lnTo>
                    <a:pt x="207" y="4298"/>
                  </a:lnTo>
                  <a:lnTo>
                    <a:pt x="157" y="4375"/>
                  </a:lnTo>
                  <a:lnTo>
                    <a:pt x="106" y="4453"/>
                  </a:lnTo>
                  <a:lnTo>
                    <a:pt x="54" y="4528"/>
                  </a:lnTo>
                  <a:lnTo>
                    <a:pt x="0" y="4604"/>
                  </a:lnTo>
                  <a:lnTo>
                    <a:pt x="17" y="4489"/>
                  </a:lnTo>
                  <a:lnTo>
                    <a:pt x="36" y="4375"/>
                  </a:lnTo>
                  <a:lnTo>
                    <a:pt x="55" y="4262"/>
                  </a:lnTo>
                  <a:lnTo>
                    <a:pt x="75" y="4148"/>
                  </a:lnTo>
                  <a:lnTo>
                    <a:pt x="96" y="4034"/>
                  </a:lnTo>
                  <a:lnTo>
                    <a:pt x="116" y="3921"/>
                  </a:lnTo>
                  <a:lnTo>
                    <a:pt x="136" y="3806"/>
                  </a:lnTo>
                  <a:lnTo>
                    <a:pt x="157" y="3693"/>
                  </a:lnTo>
                  <a:lnTo>
                    <a:pt x="177" y="3579"/>
                  </a:lnTo>
                  <a:lnTo>
                    <a:pt x="197" y="3466"/>
                  </a:lnTo>
                  <a:lnTo>
                    <a:pt x="216" y="3352"/>
                  </a:lnTo>
                  <a:lnTo>
                    <a:pt x="233" y="3237"/>
                  </a:lnTo>
                  <a:lnTo>
                    <a:pt x="251" y="3123"/>
                  </a:lnTo>
                  <a:lnTo>
                    <a:pt x="267" y="3009"/>
                  </a:lnTo>
                  <a:lnTo>
                    <a:pt x="281" y="2894"/>
                  </a:lnTo>
                  <a:lnTo>
                    <a:pt x="294" y="2780"/>
                  </a:lnTo>
                  <a:lnTo>
                    <a:pt x="303" y="2702"/>
                  </a:lnTo>
                  <a:lnTo>
                    <a:pt x="311" y="2626"/>
                  </a:lnTo>
                  <a:lnTo>
                    <a:pt x="319" y="2549"/>
                  </a:lnTo>
                  <a:lnTo>
                    <a:pt x="326" y="2472"/>
                  </a:lnTo>
                  <a:lnTo>
                    <a:pt x="338" y="2319"/>
                  </a:lnTo>
                  <a:lnTo>
                    <a:pt x="350" y="2165"/>
                  </a:lnTo>
                  <a:lnTo>
                    <a:pt x="358" y="2011"/>
                  </a:lnTo>
                  <a:lnTo>
                    <a:pt x="366" y="1856"/>
                  </a:lnTo>
                  <a:lnTo>
                    <a:pt x="371" y="1702"/>
                  </a:lnTo>
                  <a:lnTo>
                    <a:pt x="376" y="1548"/>
                  </a:lnTo>
                  <a:lnTo>
                    <a:pt x="379" y="1394"/>
                  </a:lnTo>
                  <a:lnTo>
                    <a:pt x="381" y="1239"/>
                  </a:lnTo>
                  <a:lnTo>
                    <a:pt x="382" y="1085"/>
                  </a:lnTo>
                  <a:lnTo>
                    <a:pt x="383" y="931"/>
                  </a:lnTo>
                  <a:lnTo>
                    <a:pt x="383" y="776"/>
                  </a:lnTo>
                  <a:lnTo>
                    <a:pt x="382" y="622"/>
                  </a:lnTo>
                  <a:lnTo>
                    <a:pt x="382" y="467"/>
                  </a:lnTo>
                  <a:lnTo>
                    <a:pt x="381" y="313"/>
                  </a:lnTo>
                  <a:close/>
                </a:path>
              </a:pathLst>
            </a:custGeom>
            <a:solidFill>
              <a:srgbClr val="003E8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60840" rIns="122040" bIns="6084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62" name="Google Shape;224;p20"/>
          <p:cNvSpPr/>
          <p:nvPr/>
        </p:nvSpPr>
        <p:spPr>
          <a:xfrm>
            <a:off x="4212360" y="3336120"/>
            <a:ext cx="1814040" cy="2246040"/>
          </a:xfrm>
          <a:custGeom>
            <a:avLst/>
            <a:gdLst>
              <a:gd name="textAreaLeft" fmla="*/ 0 w 1814040"/>
              <a:gd name="textAreaRight" fmla="*/ 1814400 w 1814040"/>
              <a:gd name="textAreaTop" fmla="*/ 0 h 2246040"/>
              <a:gd name="textAreaBottom" fmla="*/ 2246400 h 2246040"/>
            </a:gdLst>
            <a:ahLst/>
            <a:cxnLst/>
            <a:rect l="textAreaLeft" t="textAreaTop" r="textAreaRight" b="textAreaBottom"/>
            <a:pathLst>
              <a:path w="7871" h="9750">
                <a:moveTo>
                  <a:pt x="320" y="2460"/>
                </a:moveTo>
                <a:lnTo>
                  <a:pt x="299" y="2385"/>
                </a:lnTo>
                <a:lnTo>
                  <a:pt x="278" y="2311"/>
                </a:lnTo>
                <a:lnTo>
                  <a:pt x="257" y="2236"/>
                </a:lnTo>
                <a:lnTo>
                  <a:pt x="237" y="2160"/>
                </a:lnTo>
                <a:lnTo>
                  <a:pt x="216" y="2085"/>
                </a:lnTo>
                <a:lnTo>
                  <a:pt x="198" y="2009"/>
                </a:lnTo>
                <a:lnTo>
                  <a:pt x="179" y="1934"/>
                </a:lnTo>
                <a:lnTo>
                  <a:pt x="161" y="1857"/>
                </a:lnTo>
                <a:lnTo>
                  <a:pt x="144" y="1781"/>
                </a:lnTo>
                <a:lnTo>
                  <a:pt x="128" y="1704"/>
                </a:lnTo>
                <a:lnTo>
                  <a:pt x="112" y="1628"/>
                </a:lnTo>
                <a:lnTo>
                  <a:pt x="97" y="1551"/>
                </a:lnTo>
                <a:lnTo>
                  <a:pt x="84" y="1475"/>
                </a:lnTo>
                <a:lnTo>
                  <a:pt x="71" y="1397"/>
                </a:lnTo>
                <a:lnTo>
                  <a:pt x="58" y="1320"/>
                </a:lnTo>
                <a:lnTo>
                  <a:pt x="47" y="1244"/>
                </a:lnTo>
                <a:lnTo>
                  <a:pt x="38" y="1166"/>
                </a:lnTo>
                <a:lnTo>
                  <a:pt x="29" y="1089"/>
                </a:lnTo>
                <a:lnTo>
                  <a:pt x="21" y="1011"/>
                </a:lnTo>
                <a:lnTo>
                  <a:pt x="15" y="934"/>
                </a:lnTo>
                <a:lnTo>
                  <a:pt x="9" y="855"/>
                </a:lnTo>
                <a:lnTo>
                  <a:pt x="4" y="778"/>
                </a:lnTo>
                <a:lnTo>
                  <a:pt x="2" y="700"/>
                </a:lnTo>
                <a:lnTo>
                  <a:pt x="0" y="623"/>
                </a:lnTo>
                <a:lnTo>
                  <a:pt x="0" y="544"/>
                </a:lnTo>
                <a:lnTo>
                  <a:pt x="1" y="467"/>
                </a:lnTo>
                <a:lnTo>
                  <a:pt x="4" y="389"/>
                </a:lnTo>
                <a:lnTo>
                  <a:pt x="8" y="311"/>
                </a:lnTo>
                <a:lnTo>
                  <a:pt x="14" y="233"/>
                </a:lnTo>
                <a:lnTo>
                  <a:pt x="22" y="155"/>
                </a:lnTo>
                <a:lnTo>
                  <a:pt x="30" y="77"/>
                </a:lnTo>
                <a:lnTo>
                  <a:pt x="41" y="0"/>
                </a:lnTo>
                <a:lnTo>
                  <a:pt x="94" y="65"/>
                </a:lnTo>
                <a:lnTo>
                  <a:pt x="145" y="130"/>
                </a:lnTo>
                <a:lnTo>
                  <a:pt x="195" y="197"/>
                </a:lnTo>
                <a:lnTo>
                  <a:pt x="243" y="266"/>
                </a:lnTo>
                <a:lnTo>
                  <a:pt x="289" y="335"/>
                </a:lnTo>
                <a:lnTo>
                  <a:pt x="333" y="405"/>
                </a:lnTo>
                <a:lnTo>
                  <a:pt x="375" y="476"/>
                </a:lnTo>
                <a:lnTo>
                  <a:pt x="417" y="548"/>
                </a:lnTo>
                <a:lnTo>
                  <a:pt x="457" y="621"/>
                </a:lnTo>
                <a:lnTo>
                  <a:pt x="497" y="694"/>
                </a:lnTo>
                <a:lnTo>
                  <a:pt x="533" y="767"/>
                </a:lnTo>
                <a:lnTo>
                  <a:pt x="570" y="842"/>
                </a:lnTo>
                <a:lnTo>
                  <a:pt x="606" y="916"/>
                </a:lnTo>
                <a:lnTo>
                  <a:pt x="641" y="992"/>
                </a:lnTo>
                <a:lnTo>
                  <a:pt x="675" y="1068"/>
                </a:lnTo>
                <a:lnTo>
                  <a:pt x="709" y="1145"/>
                </a:lnTo>
                <a:lnTo>
                  <a:pt x="773" y="1298"/>
                </a:lnTo>
                <a:lnTo>
                  <a:pt x="836" y="1451"/>
                </a:lnTo>
                <a:lnTo>
                  <a:pt x="899" y="1606"/>
                </a:lnTo>
                <a:lnTo>
                  <a:pt x="962" y="1761"/>
                </a:lnTo>
                <a:lnTo>
                  <a:pt x="1025" y="1915"/>
                </a:lnTo>
                <a:lnTo>
                  <a:pt x="1089" y="2069"/>
                </a:lnTo>
                <a:lnTo>
                  <a:pt x="1122" y="2145"/>
                </a:lnTo>
                <a:lnTo>
                  <a:pt x="1155" y="2221"/>
                </a:lnTo>
                <a:lnTo>
                  <a:pt x="1189" y="2297"/>
                </a:lnTo>
                <a:lnTo>
                  <a:pt x="1225" y="2372"/>
                </a:lnTo>
                <a:lnTo>
                  <a:pt x="1286" y="2498"/>
                </a:lnTo>
                <a:lnTo>
                  <a:pt x="1348" y="2624"/>
                </a:lnTo>
                <a:lnTo>
                  <a:pt x="1412" y="2750"/>
                </a:lnTo>
                <a:lnTo>
                  <a:pt x="1477" y="2876"/>
                </a:lnTo>
                <a:lnTo>
                  <a:pt x="1545" y="3001"/>
                </a:lnTo>
                <a:lnTo>
                  <a:pt x="1614" y="3127"/>
                </a:lnTo>
                <a:lnTo>
                  <a:pt x="1684" y="3251"/>
                </a:lnTo>
                <a:lnTo>
                  <a:pt x="1757" y="3374"/>
                </a:lnTo>
                <a:lnTo>
                  <a:pt x="1831" y="3497"/>
                </a:lnTo>
                <a:lnTo>
                  <a:pt x="1908" y="3618"/>
                </a:lnTo>
                <a:lnTo>
                  <a:pt x="1986" y="3738"/>
                </a:lnTo>
                <a:lnTo>
                  <a:pt x="2066" y="3857"/>
                </a:lnTo>
                <a:lnTo>
                  <a:pt x="2148" y="3974"/>
                </a:lnTo>
                <a:lnTo>
                  <a:pt x="2233" y="4089"/>
                </a:lnTo>
                <a:lnTo>
                  <a:pt x="2319" y="4203"/>
                </a:lnTo>
                <a:lnTo>
                  <a:pt x="2408" y="4314"/>
                </a:lnTo>
                <a:lnTo>
                  <a:pt x="2499" y="4424"/>
                </a:lnTo>
                <a:lnTo>
                  <a:pt x="2592" y="4532"/>
                </a:lnTo>
                <a:lnTo>
                  <a:pt x="2687" y="4637"/>
                </a:lnTo>
                <a:lnTo>
                  <a:pt x="2785" y="4740"/>
                </a:lnTo>
                <a:lnTo>
                  <a:pt x="2886" y="4839"/>
                </a:lnTo>
                <a:lnTo>
                  <a:pt x="2989" y="4936"/>
                </a:lnTo>
                <a:lnTo>
                  <a:pt x="3094" y="5030"/>
                </a:lnTo>
                <a:lnTo>
                  <a:pt x="3202" y="5121"/>
                </a:lnTo>
                <a:lnTo>
                  <a:pt x="3313" y="5209"/>
                </a:lnTo>
                <a:lnTo>
                  <a:pt x="3426" y="5293"/>
                </a:lnTo>
                <a:lnTo>
                  <a:pt x="3543" y="5374"/>
                </a:lnTo>
                <a:lnTo>
                  <a:pt x="3661" y="5451"/>
                </a:lnTo>
                <a:lnTo>
                  <a:pt x="3783" y="5525"/>
                </a:lnTo>
                <a:lnTo>
                  <a:pt x="3908" y="5594"/>
                </a:lnTo>
                <a:lnTo>
                  <a:pt x="4035" y="5659"/>
                </a:lnTo>
                <a:lnTo>
                  <a:pt x="4165" y="5720"/>
                </a:lnTo>
                <a:lnTo>
                  <a:pt x="4202" y="5736"/>
                </a:lnTo>
                <a:lnTo>
                  <a:pt x="4239" y="5749"/>
                </a:lnTo>
                <a:lnTo>
                  <a:pt x="4276" y="5761"/>
                </a:lnTo>
                <a:lnTo>
                  <a:pt x="4313" y="5772"/>
                </a:lnTo>
                <a:lnTo>
                  <a:pt x="4350" y="5782"/>
                </a:lnTo>
                <a:lnTo>
                  <a:pt x="4388" y="5791"/>
                </a:lnTo>
                <a:lnTo>
                  <a:pt x="4425" y="5799"/>
                </a:lnTo>
                <a:lnTo>
                  <a:pt x="4463" y="5806"/>
                </a:lnTo>
                <a:lnTo>
                  <a:pt x="4502" y="5812"/>
                </a:lnTo>
                <a:lnTo>
                  <a:pt x="4540" y="5818"/>
                </a:lnTo>
                <a:lnTo>
                  <a:pt x="4578" y="5822"/>
                </a:lnTo>
                <a:lnTo>
                  <a:pt x="4616" y="5826"/>
                </a:lnTo>
                <a:lnTo>
                  <a:pt x="4655" y="5829"/>
                </a:lnTo>
                <a:lnTo>
                  <a:pt x="4693" y="5831"/>
                </a:lnTo>
                <a:lnTo>
                  <a:pt x="4732" y="5834"/>
                </a:lnTo>
                <a:lnTo>
                  <a:pt x="4771" y="5835"/>
                </a:lnTo>
                <a:lnTo>
                  <a:pt x="4848" y="5836"/>
                </a:lnTo>
                <a:lnTo>
                  <a:pt x="4926" y="5835"/>
                </a:lnTo>
                <a:lnTo>
                  <a:pt x="5004" y="5831"/>
                </a:lnTo>
                <a:lnTo>
                  <a:pt x="5082" y="5827"/>
                </a:lnTo>
                <a:lnTo>
                  <a:pt x="5159" y="5822"/>
                </a:lnTo>
                <a:lnTo>
                  <a:pt x="5237" y="5817"/>
                </a:lnTo>
                <a:lnTo>
                  <a:pt x="5314" y="5811"/>
                </a:lnTo>
                <a:lnTo>
                  <a:pt x="5391" y="5806"/>
                </a:lnTo>
                <a:lnTo>
                  <a:pt x="5367" y="5751"/>
                </a:lnTo>
                <a:lnTo>
                  <a:pt x="5342" y="5697"/>
                </a:lnTo>
                <a:lnTo>
                  <a:pt x="5316" y="5643"/>
                </a:lnTo>
                <a:lnTo>
                  <a:pt x="5290" y="5589"/>
                </a:lnTo>
                <a:lnTo>
                  <a:pt x="5262" y="5536"/>
                </a:lnTo>
                <a:lnTo>
                  <a:pt x="5234" y="5484"/>
                </a:lnTo>
                <a:lnTo>
                  <a:pt x="5204" y="5432"/>
                </a:lnTo>
                <a:lnTo>
                  <a:pt x="5173" y="5381"/>
                </a:lnTo>
                <a:lnTo>
                  <a:pt x="5140" y="5331"/>
                </a:lnTo>
                <a:lnTo>
                  <a:pt x="5106" y="5282"/>
                </a:lnTo>
                <a:lnTo>
                  <a:pt x="5088" y="5258"/>
                </a:lnTo>
                <a:lnTo>
                  <a:pt x="5070" y="5235"/>
                </a:lnTo>
                <a:lnTo>
                  <a:pt x="5051" y="5212"/>
                </a:lnTo>
                <a:lnTo>
                  <a:pt x="5032" y="5189"/>
                </a:lnTo>
                <a:lnTo>
                  <a:pt x="5013" y="5167"/>
                </a:lnTo>
                <a:lnTo>
                  <a:pt x="4992" y="5145"/>
                </a:lnTo>
                <a:lnTo>
                  <a:pt x="4971" y="5124"/>
                </a:lnTo>
                <a:lnTo>
                  <a:pt x="4950" y="5102"/>
                </a:lnTo>
                <a:lnTo>
                  <a:pt x="4928" y="5082"/>
                </a:lnTo>
                <a:lnTo>
                  <a:pt x="4906" y="5062"/>
                </a:lnTo>
                <a:lnTo>
                  <a:pt x="4883" y="5042"/>
                </a:lnTo>
                <a:lnTo>
                  <a:pt x="4859" y="5024"/>
                </a:lnTo>
                <a:lnTo>
                  <a:pt x="4803" y="4978"/>
                </a:lnTo>
                <a:lnTo>
                  <a:pt x="4745" y="4932"/>
                </a:lnTo>
                <a:lnTo>
                  <a:pt x="4688" y="4888"/>
                </a:lnTo>
                <a:lnTo>
                  <a:pt x="4630" y="4845"/>
                </a:lnTo>
                <a:lnTo>
                  <a:pt x="4513" y="4758"/>
                </a:lnTo>
                <a:lnTo>
                  <a:pt x="4394" y="4672"/>
                </a:lnTo>
                <a:lnTo>
                  <a:pt x="4275" y="4588"/>
                </a:lnTo>
                <a:lnTo>
                  <a:pt x="4155" y="4503"/>
                </a:lnTo>
                <a:lnTo>
                  <a:pt x="4036" y="4418"/>
                </a:lnTo>
                <a:lnTo>
                  <a:pt x="3918" y="4332"/>
                </a:lnTo>
                <a:lnTo>
                  <a:pt x="3860" y="4288"/>
                </a:lnTo>
                <a:lnTo>
                  <a:pt x="3802" y="4244"/>
                </a:lnTo>
                <a:lnTo>
                  <a:pt x="3743" y="4199"/>
                </a:lnTo>
                <a:lnTo>
                  <a:pt x="3687" y="4154"/>
                </a:lnTo>
                <a:lnTo>
                  <a:pt x="3630" y="4108"/>
                </a:lnTo>
                <a:lnTo>
                  <a:pt x="3575" y="4062"/>
                </a:lnTo>
                <a:lnTo>
                  <a:pt x="3520" y="4014"/>
                </a:lnTo>
                <a:lnTo>
                  <a:pt x="3466" y="3965"/>
                </a:lnTo>
                <a:lnTo>
                  <a:pt x="3413" y="3916"/>
                </a:lnTo>
                <a:lnTo>
                  <a:pt x="3361" y="3865"/>
                </a:lnTo>
                <a:lnTo>
                  <a:pt x="3310" y="3813"/>
                </a:lnTo>
                <a:lnTo>
                  <a:pt x="3260" y="3760"/>
                </a:lnTo>
                <a:lnTo>
                  <a:pt x="3212" y="3706"/>
                </a:lnTo>
                <a:lnTo>
                  <a:pt x="3164" y="3650"/>
                </a:lnTo>
                <a:lnTo>
                  <a:pt x="3119" y="3593"/>
                </a:lnTo>
                <a:lnTo>
                  <a:pt x="3074" y="3533"/>
                </a:lnTo>
                <a:lnTo>
                  <a:pt x="3057" y="3512"/>
                </a:lnTo>
                <a:lnTo>
                  <a:pt x="3042" y="3490"/>
                </a:lnTo>
                <a:lnTo>
                  <a:pt x="3027" y="3466"/>
                </a:lnTo>
                <a:lnTo>
                  <a:pt x="3013" y="3443"/>
                </a:lnTo>
                <a:lnTo>
                  <a:pt x="3000" y="3419"/>
                </a:lnTo>
                <a:lnTo>
                  <a:pt x="2988" y="3396"/>
                </a:lnTo>
                <a:lnTo>
                  <a:pt x="2976" y="3371"/>
                </a:lnTo>
                <a:lnTo>
                  <a:pt x="2966" y="3347"/>
                </a:lnTo>
                <a:lnTo>
                  <a:pt x="2955" y="3322"/>
                </a:lnTo>
                <a:lnTo>
                  <a:pt x="2946" y="3297"/>
                </a:lnTo>
                <a:lnTo>
                  <a:pt x="2937" y="3271"/>
                </a:lnTo>
                <a:lnTo>
                  <a:pt x="2929" y="3246"/>
                </a:lnTo>
                <a:lnTo>
                  <a:pt x="2922" y="3220"/>
                </a:lnTo>
                <a:lnTo>
                  <a:pt x="2915" y="3194"/>
                </a:lnTo>
                <a:lnTo>
                  <a:pt x="2908" y="3168"/>
                </a:lnTo>
                <a:lnTo>
                  <a:pt x="2901" y="3142"/>
                </a:lnTo>
                <a:lnTo>
                  <a:pt x="2891" y="3089"/>
                </a:lnTo>
                <a:lnTo>
                  <a:pt x="2881" y="3035"/>
                </a:lnTo>
                <a:lnTo>
                  <a:pt x="2873" y="2981"/>
                </a:lnTo>
                <a:lnTo>
                  <a:pt x="2866" y="2928"/>
                </a:lnTo>
                <a:lnTo>
                  <a:pt x="2859" y="2874"/>
                </a:lnTo>
                <a:lnTo>
                  <a:pt x="2851" y="2820"/>
                </a:lnTo>
                <a:lnTo>
                  <a:pt x="2844" y="2767"/>
                </a:lnTo>
                <a:lnTo>
                  <a:pt x="2837" y="2714"/>
                </a:lnTo>
                <a:lnTo>
                  <a:pt x="3053" y="2866"/>
                </a:lnTo>
                <a:lnTo>
                  <a:pt x="3268" y="3019"/>
                </a:lnTo>
                <a:lnTo>
                  <a:pt x="3485" y="3172"/>
                </a:lnTo>
                <a:lnTo>
                  <a:pt x="3700" y="3325"/>
                </a:lnTo>
                <a:lnTo>
                  <a:pt x="3915" y="3479"/>
                </a:lnTo>
                <a:lnTo>
                  <a:pt x="4130" y="3633"/>
                </a:lnTo>
                <a:lnTo>
                  <a:pt x="4346" y="3786"/>
                </a:lnTo>
                <a:lnTo>
                  <a:pt x="4561" y="3940"/>
                </a:lnTo>
                <a:lnTo>
                  <a:pt x="4777" y="4092"/>
                </a:lnTo>
                <a:lnTo>
                  <a:pt x="4994" y="4244"/>
                </a:lnTo>
                <a:lnTo>
                  <a:pt x="5210" y="4396"/>
                </a:lnTo>
                <a:lnTo>
                  <a:pt x="5428" y="4546"/>
                </a:lnTo>
                <a:lnTo>
                  <a:pt x="5647" y="4695"/>
                </a:lnTo>
                <a:lnTo>
                  <a:pt x="5866" y="4843"/>
                </a:lnTo>
                <a:lnTo>
                  <a:pt x="6087" y="4989"/>
                </a:lnTo>
                <a:lnTo>
                  <a:pt x="6308" y="5134"/>
                </a:lnTo>
                <a:lnTo>
                  <a:pt x="6355" y="5164"/>
                </a:lnTo>
                <a:lnTo>
                  <a:pt x="6401" y="5194"/>
                </a:lnTo>
                <a:lnTo>
                  <a:pt x="6447" y="5226"/>
                </a:lnTo>
                <a:lnTo>
                  <a:pt x="6492" y="5258"/>
                </a:lnTo>
                <a:lnTo>
                  <a:pt x="6537" y="5291"/>
                </a:lnTo>
                <a:lnTo>
                  <a:pt x="6580" y="5325"/>
                </a:lnTo>
                <a:lnTo>
                  <a:pt x="6623" y="5359"/>
                </a:lnTo>
                <a:lnTo>
                  <a:pt x="6666" y="5395"/>
                </a:lnTo>
                <a:lnTo>
                  <a:pt x="6708" y="5431"/>
                </a:lnTo>
                <a:lnTo>
                  <a:pt x="6749" y="5469"/>
                </a:lnTo>
                <a:lnTo>
                  <a:pt x="6789" y="5506"/>
                </a:lnTo>
                <a:lnTo>
                  <a:pt x="6829" y="5544"/>
                </a:lnTo>
                <a:lnTo>
                  <a:pt x="6868" y="5584"/>
                </a:lnTo>
                <a:lnTo>
                  <a:pt x="6907" y="5623"/>
                </a:lnTo>
                <a:lnTo>
                  <a:pt x="6944" y="5664"/>
                </a:lnTo>
                <a:lnTo>
                  <a:pt x="6981" y="5705"/>
                </a:lnTo>
                <a:lnTo>
                  <a:pt x="7017" y="5747"/>
                </a:lnTo>
                <a:lnTo>
                  <a:pt x="7051" y="5790"/>
                </a:lnTo>
                <a:lnTo>
                  <a:pt x="7086" y="5834"/>
                </a:lnTo>
                <a:lnTo>
                  <a:pt x="7120" y="5877"/>
                </a:lnTo>
                <a:lnTo>
                  <a:pt x="7152" y="5922"/>
                </a:lnTo>
                <a:lnTo>
                  <a:pt x="7184" y="5967"/>
                </a:lnTo>
                <a:lnTo>
                  <a:pt x="7214" y="6013"/>
                </a:lnTo>
                <a:lnTo>
                  <a:pt x="7244" y="6060"/>
                </a:lnTo>
                <a:lnTo>
                  <a:pt x="7273" y="6107"/>
                </a:lnTo>
                <a:lnTo>
                  <a:pt x="7300" y="6155"/>
                </a:lnTo>
                <a:lnTo>
                  <a:pt x="7328" y="6204"/>
                </a:lnTo>
                <a:lnTo>
                  <a:pt x="7353" y="6253"/>
                </a:lnTo>
                <a:lnTo>
                  <a:pt x="7378" y="6302"/>
                </a:lnTo>
                <a:lnTo>
                  <a:pt x="7402" y="6352"/>
                </a:lnTo>
                <a:lnTo>
                  <a:pt x="7424" y="6403"/>
                </a:lnTo>
                <a:lnTo>
                  <a:pt x="7446" y="6454"/>
                </a:lnTo>
                <a:lnTo>
                  <a:pt x="7489" y="6551"/>
                </a:lnTo>
                <a:lnTo>
                  <a:pt x="7529" y="6649"/>
                </a:lnTo>
                <a:lnTo>
                  <a:pt x="7566" y="6748"/>
                </a:lnTo>
                <a:lnTo>
                  <a:pt x="7601" y="6847"/>
                </a:lnTo>
                <a:lnTo>
                  <a:pt x="7632" y="6947"/>
                </a:lnTo>
                <a:lnTo>
                  <a:pt x="7662" y="7047"/>
                </a:lnTo>
                <a:lnTo>
                  <a:pt x="7688" y="7148"/>
                </a:lnTo>
                <a:lnTo>
                  <a:pt x="7714" y="7249"/>
                </a:lnTo>
                <a:lnTo>
                  <a:pt x="7736" y="7351"/>
                </a:lnTo>
                <a:lnTo>
                  <a:pt x="7757" y="7453"/>
                </a:lnTo>
                <a:lnTo>
                  <a:pt x="7774" y="7556"/>
                </a:lnTo>
                <a:lnTo>
                  <a:pt x="7790" y="7658"/>
                </a:lnTo>
                <a:lnTo>
                  <a:pt x="7806" y="7761"/>
                </a:lnTo>
                <a:lnTo>
                  <a:pt x="7818" y="7865"/>
                </a:lnTo>
                <a:lnTo>
                  <a:pt x="7829" y="7969"/>
                </a:lnTo>
                <a:lnTo>
                  <a:pt x="7838" y="8073"/>
                </a:lnTo>
                <a:lnTo>
                  <a:pt x="7846" y="8178"/>
                </a:lnTo>
                <a:lnTo>
                  <a:pt x="7854" y="8282"/>
                </a:lnTo>
                <a:lnTo>
                  <a:pt x="7859" y="8387"/>
                </a:lnTo>
                <a:lnTo>
                  <a:pt x="7864" y="8492"/>
                </a:lnTo>
                <a:lnTo>
                  <a:pt x="7867" y="8598"/>
                </a:lnTo>
                <a:lnTo>
                  <a:pt x="7869" y="8703"/>
                </a:lnTo>
                <a:lnTo>
                  <a:pt x="7871" y="8808"/>
                </a:lnTo>
                <a:lnTo>
                  <a:pt x="7871" y="8913"/>
                </a:lnTo>
                <a:lnTo>
                  <a:pt x="7871" y="9123"/>
                </a:lnTo>
                <a:lnTo>
                  <a:pt x="7868" y="9333"/>
                </a:lnTo>
                <a:lnTo>
                  <a:pt x="7865" y="9542"/>
                </a:lnTo>
                <a:lnTo>
                  <a:pt x="7861" y="9750"/>
                </a:lnTo>
                <a:lnTo>
                  <a:pt x="7768" y="9689"/>
                </a:lnTo>
                <a:lnTo>
                  <a:pt x="7676" y="9629"/>
                </a:lnTo>
                <a:lnTo>
                  <a:pt x="7583" y="9569"/>
                </a:lnTo>
                <a:lnTo>
                  <a:pt x="7490" y="9510"/>
                </a:lnTo>
                <a:lnTo>
                  <a:pt x="7303" y="9393"/>
                </a:lnTo>
                <a:lnTo>
                  <a:pt x="7116" y="9278"/>
                </a:lnTo>
                <a:lnTo>
                  <a:pt x="6927" y="9163"/>
                </a:lnTo>
                <a:lnTo>
                  <a:pt x="6737" y="9051"/>
                </a:lnTo>
                <a:lnTo>
                  <a:pt x="6547" y="8940"/>
                </a:lnTo>
                <a:lnTo>
                  <a:pt x="6355" y="8831"/>
                </a:lnTo>
                <a:lnTo>
                  <a:pt x="6163" y="8723"/>
                </a:lnTo>
                <a:lnTo>
                  <a:pt x="5971" y="8616"/>
                </a:lnTo>
                <a:lnTo>
                  <a:pt x="5777" y="8511"/>
                </a:lnTo>
                <a:lnTo>
                  <a:pt x="5582" y="8407"/>
                </a:lnTo>
                <a:lnTo>
                  <a:pt x="5388" y="8304"/>
                </a:lnTo>
                <a:lnTo>
                  <a:pt x="5192" y="8202"/>
                </a:lnTo>
                <a:lnTo>
                  <a:pt x="4995" y="8101"/>
                </a:lnTo>
                <a:lnTo>
                  <a:pt x="4798" y="8002"/>
                </a:lnTo>
                <a:lnTo>
                  <a:pt x="4684" y="7945"/>
                </a:lnTo>
                <a:lnTo>
                  <a:pt x="4570" y="7887"/>
                </a:lnTo>
                <a:lnTo>
                  <a:pt x="4457" y="7828"/>
                </a:lnTo>
                <a:lnTo>
                  <a:pt x="4344" y="7768"/>
                </a:lnTo>
                <a:lnTo>
                  <a:pt x="4231" y="7706"/>
                </a:lnTo>
                <a:lnTo>
                  <a:pt x="4119" y="7644"/>
                </a:lnTo>
                <a:lnTo>
                  <a:pt x="4064" y="7613"/>
                </a:lnTo>
                <a:lnTo>
                  <a:pt x="4007" y="7580"/>
                </a:lnTo>
                <a:lnTo>
                  <a:pt x="3952" y="7547"/>
                </a:lnTo>
                <a:lnTo>
                  <a:pt x="3898" y="7514"/>
                </a:lnTo>
                <a:lnTo>
                  <a:pt x="3844" y="7480"/>
                </a:lnTo>
                <a:lnTo>
                  <a:pt x="3790" y="7445"/>
                </a:lnTo>
                <a:lnTo>
                  <a:pt x="3736" y="7411"/>
                </a:lnTo>
                <a:lnTo>
                  <a:pt x="3683" y="7375"/>
                </a:lnTo>
                <a:lnTo>
                  <a:pt x="3630" y="7339"/>
                </a:lnTo>
                <a:lnTo>
                  <a:pt x="3578" y="7303"/>
                </a:lnTo>
                <a:lnTo>
                  <a:pt x="3526" y="7265"/>
                </a:lnTo>
                <a:lnTo>
                  <a:pt x="3475" y="7226"/>
                </a:lnTo>
                <a:lnTo>
                  <a:pt x="3425" y="7187"/>
                </a:lnTo>
                <a:lnTo>
                  <a:pt x="3374" y="7148"/>
                </a:lnTo>
                <a:lnTo>
                  <a:pt x="3325" y="7108"/>
                </a:lnTo>
                <a:lnTo>
                  <a:pt x="3277" y="7066"/>
                </a:lnTo>
                <a:lnTo>
                  <a:pt x="3229" y="7024"/>
                </a:lnTo>
                <a:lnTo>
                  <a:pt x="3181" y="6982"/>
                </a:lnTo>
                <a:lnTo>
                  <a:pt x="3134" y="6938"/>
                </a:lnTo>
                <a:lnTo>
                  <a:pt x="3088" y="6893"/>
                </a:lnTo>
                <a:lnTo>
                  <a:pt x="3046" y="6852"/>
                </a:lnTo>
                <a:lnTo>
                  <a:pt x="3006" y="6811"/>
                </a:lnTo>
                <a:lnTo>
                  <a:pt x="2968" y="6769"/>
                </a:lnTo>
                <a:lnTo>
                  <a:pt x="2930" y="6727"/>
                </a:lnTo>
                <a:lnTo>
                  <a:pt x="2893" y="6684"/>
                </a:lnTo>
                <a:lnTo>
                  <a:pt x="2857" y="6639"/>
                </a:lnTo>
                <a:lnTo>
                  <a:pt x="2821" y="6595"/>
                </a:lnTo>
                <a:lnTo>
                  <a:pt x="2786" y="6549"/>
                </a:lnTo>
                <a:lnTo>
                  <a:pt x="2753" y="6504"/>
                </a:lnTo>
                <a:lnTo>
                  <a:pt x="2719" y="6457"/>
                </a:lnTo>
                <a:lnTo>
                  <a:pt x="2686" y="6412"/>
                </a:lnTo>
                <a:lnTo>
                  <a:pt x="2654" y="6365"/>
                </a:lnTo>
                <a:lnTo>
                  <a:pt x="2589" y="6270"/>
                </a:lnTo>
                <a:lnTo>
                  <a:pt x="2526" y="6175"/>
                </a:lnTo>
                <a:lnTo>
                  <a:pt x="2464" y="6079"/>
                </a:lnTo>
                <a:lnTo>
                  <a:pt x="2401" y="5983"/>
                </a:lnTo>
                <a:lnTo>
                  <a:pt x="2338" y="5889"/>
                </a:lnTo>
                <a:lnTo>
                  <a:pt x="2273" y="5794"/>
                </a:lnTo>
                <a:lnTo>
                  <a:pt x="2241" y="5748"/>
                </a:lnTo>
                <a:lnTo>
                  <a:pt x="2207" y="5701"/>
                </a:lnTo>
                <a:lnTo>
                  <a:pt x="2174" y="5655"/>
                </a:lnTo>
                <a:lnTo>
                  <a:pt x="2140" y="5610"/>
                </a:lnTo>
                <a:lnTo>
                  <a:pt x="2104" y="5565"/>
                </a:lnTo>
                <a:lnTo>
                  <a:pt x="2069" y="5521"/>
                </a:lnTo>
                <a:lnTo>
                  <a:pt x="2032" y="5477"/>
                </a:lnTo>
                <a:lnTo>
                  <a:pt x="1994" y="5434"/>
                </a:lnTo>
                <a:lnTo>
                  <a:pt x="1924" y="5352"/>
                </a:lnTo>
                <a:lnTo>
                  <a:pt x="1856" y="5271"/>
                </a:lnTo>
                <a:lnTo>
                  <a:pt x="1787" y="5187"/>
                </a:lnTo>
                <a:lnTo>
                  <a:pt x="1720" y="5104"/>
                </a:lnTo>
                <a:lnTo>
                  <a:pt x="1655" y="5018"/>
                </a:lnTo>
                <a:lnTo>
                  <a:pt x="1589" y="4932"/>
                </a:lnTo>
                <a:lnTo>
                  <a:pt x="1526" y="4847"/>
                </a:lnTo>
                <a:lnTo>
                  <a:pt x="1464" y="4759"/>
                </a:lnTo>
                <a:lnTo>
                  <a:pt x="1403" y="4670"/>
                </a:lnTo>
                <a:lnTo>
                  <a:pt x="1343" y="4582"/>
                </a:lnTo>
                <a:lnTo>
                  <a:pt x="1284" y="4492"/>
                </a:lnTo>
                <a:lnTo>
                  <a:pt x="1226" y="4402"/>
                </a:lnTo>
                <a:lnTo>
                  <a:pt x="1170" y="4310"/>
                </a:lnTo>
                <a:lnTo>
                  <a:pt x="1113" y="4219"/>
                </a:lnTo>
                <a:lnTo>
                  <a:pt x="1059" y="4126"/>
                </a:lnTo>
                <a:lnTo>
                  <a:pt x="1006" y="4033"/>
                </a:lnTo>
                <a:lnTo>
                  <a:pt x="954" y="3939"/>
                </a:lnTo>
                <a:lnTo>
                  <a:pt x="903" y="3844"/>
                </a:lnTo>
                <a:lnTo>
                  <a:pt x="854" y="3749"/>
                </a:lnTo>
                <a:lnTo>
                  <a:pt x="806" y="3653"/>
                </a:lnTo>
                <a:lnTo>
                  <a:pt x="758" y="3557"/>
                </a:lnTo>
                <a:lnTo>
                  <a:pt x="712" y="3460"/>
                </a:lnTo>
                <a:lnTo>
                  <a:pt x="667" y="3362"/>
                </a:lnTo>
                <a:lnTo>
                  <a:pt x="623" y="3263"/>
                </a:lnTo>
                <a:lnTo>
                  <a:pt x="581" y="3165"/>
                </a:lnTo>
                <a:lnTo>
                  <a:pt x="541" y="3065"/>
                </a:lnTo>
                <a:lnTo>
                  <a:pt x="501" y="2966"/>
                </a:lnTo>
                <a:lnTo>
                  <a:pt x="462" y="2866"/>
                </a:lnTo>
                <a:lnTo>
                  <a:pt x="424" y="2765"/>
                </a:lnTo>
                <a:lnTo>
                  <a:pt x="389" y="2664"/>
                </a:lnTo>
                <a:lnTo>
                  <a:pt x="354" y="2562"/>
                </a:lnTo>
                <a:lnTo>
                  <a:pt x="320" y="2460"/>
                </a:lnTo>
                <a:close/>
              </a:path>
            </a:pathLst>
          </a:custGeom>
          <a:solidFill>
            <a:srgbClr val="00326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60840" rIns="122040" bIns="608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225;p20"/>
          <p:cNvSpPr/>
          <p:nvPr/>
        </p:nvSpPr>
        <p:spPr>
          <a:xfrm>
            <a:off x="6089400" y="3341160"/>
            <a:ext cx="1819080" cy="2244600"/>
          </a:xfrm>
          <a:custGeom>
            <a:avLst/>
            <a:gdLst>
              <a:gd name="textAreaLeft" fmla="*/ 0 w 1819080"/>
              <a:gd name="textAreaRight" fmla="*/ 1819440 w 1819080"/>
              <a:gd name="textAreaTop" fmla="*/ 0 h 2244600"/>
              <a:gd name="textAreaBottom" fmla="*/ 2244960 h 2244600"/>
            </a:gdLst>
            <a:ahLst/>
            <a:cxnLst/>
            <a:rect l="textAreaLeft" t="textAreaTop" r="textAreaRight" b="textAreaBottom"/>
            <a:pathLst>
              <a:path w="7893" h="9744">
                <a:moveTo>
                  <a:pt x="6627" y="2466"/>
                </a:moveTo>
                <a:lnTo>
                  <a:pt x="6666" y="2389"/>
                </a:lnTo>
                <a:lnTo>
                  <a:pt x="6703" y="2311"/>
                </a:lnTo>
                <a:lnTo>
                  <a:pt x="6739" y="2233"/>
                </a:lnTo>
                <a:lnTo>
                  <a:pt x="6774" y="2154"/>
                </a:lnTo>
                <a:lnTo>
                  <a:pt x="6809" y="2075"/>
                </a:lnTo>
                <a:lnTo>
                  <a:pt x="6842" y="1995"/>
                </a:lnTo>
                <a:lnTo>
                  <a:pt x="6876" y="1915"/>
                </a:lnTo>
                <a:lnTo>
                  <a:pt x="6908" y="1834"/>
                </a:lnTo>
                <a:lnTo>
                  <a:pt x="6973" y="1673"/>
                </a:lnTo>
                <a:lnTo>
                  <a:pt x="7037" y="1512"/>
                </a:lnTo>
                <a:lnTo>
                  <a:pt x="7101" y="1351"/>
                </a:lnTo>
                <a:lnTo>
                  <a:pt x="7167" y="1191"/>
                </a:lnTo>
                <a:lnTo>
                  <a:pt x="7201" y="1111"/>
                </a:lnTo>
                <a:lnTo>
                  <a:pt x="7236" y="1032"/>
                </a:lnTo>
                <a:lnTo>
                  <a:pt x="7271" y="953"/>
                </a:lnTo>
                <a:lnTo>
                  <a:pt x="7307" y="875"/>
                </a:lnTo>
                <a:lnTo>
                  <a:pt x="7345" y="797"/>
                </a:lnTo>
                <a:lnTo>
                  <a:pt x="7383" y="720"/>
                </a:lnTo>
                <a:lnTo>
                  <a:pt x="7423" y="643"/>
                </a:lnTo>
                <a:lnTo>
                  <a:pt x="7464" y="568"/>
                </a:lnTo>
                <a:lnTo>
                  <a:pt x="7507" y="494"/>
                </a:lnTo>
                <a:lnTo>
                  <a:pt x="7552" y="420"/>
                </a:lnTo>
                <a:lnTo>
                  <a:pt x="7598" y="348"/>
                </a:lnTo>
                <a:lnTo>
                  <a:pt x="7645" y="275"/>
                </a:lnTo>
                <a:lnTo>
                  <a:pt x="7695" y="205"/>
                </a:lnTo>
                <a:lnTo>
                  <a:pt x="7747" y="136"/>
                </a:lnTo>
                <a:lnTo>
                  <a:pt x="7801" y="67"/>
                </a:lnTo>
                <a:lnTo>
                  <a:pt x="7859" y="0"/>
                </a:lnTo>
                <a:lnTo>
                  <a:pt x="7872" y="125"/>
                </a:lnTo>
                <a:lnTo>
                  <a:pt x="7882" y="251"/>
                </a:lnTo>
                <a:lnTo>
                  <a:pt x="7889" y="375"/>
                </a:lnTo>
                <a:lnTo>
                  <a:pt x="7893" y="501"/>
                </a:lnTo>
                <a:lnTo>
                  <a:pt x="7893" y="625"/>
                </a:lnTo>
                <a:lnTo>
                  <a:pt x="7891" y="750"/>
                </a:lnTo>
                <a:lnTo>
                  <a:pt x="7886" y="875"/>
                </a:lnTo>
                <a:lnTo>
                  <a:pt x="7877" y="999"/>
                </a:lnTo>
                <a:lnTo>
                  <a:pt x="7866" y="1124"/>
                </a:lnTo>
                <a:lnTo>
                  <a:pt x="7852" y="1247"/>
                </a:lnTo>
                <a:lnTo>
                  <a:pt x="7835" y="1371"/>
                </a:lnTo>
                <a:lnTo>
                  <a:pt x="7817" y="1495"/>
                </a:lnTo>
                <a:lnTo>
                  <a:pt x="7794" y="1617"/>
                </a:lnTo>
                <a:lnTo>
                  <a:pt x="7770" y="1740"/>
                </a:lnTo>
                <a:lnTo>
                  <a:pt x="7743" y="1863"/>
                </a:lnTo>
                <a:lnTo>
                  <a:pt x="7715" y="1984"/>
                </a:lnTo>
                <a:lnTo>
                  <a:pt x="7683" y="2105"/>
                </a:lnTo>
                <a:lnTo>
                  <a:pt x="7650" y="2227"/>
                </a:lnTo>
                <a:lnTo>
                  <a:pt x="7614" y="2347"/>
                </a:lnTo>
                <a:lnTo>
                  <a:pt x="7576" y="2466"/>
                </a:lnTo>
                <a:lnTo>
                  <a:pt x="7537" y="2586"/>
                </a:lnTo>
                <a:lnTo>
                  <a:pt x="7496" y="2704"/>
                </a:lnTo>
                <a:lnTo>
                  <a:pt x="7452" y="2822"/>
                </a:lnTo>
                <a:lnTo>
                  <a:pt x="7407" y="2939"/>
                </a:lnTo>
                <a:lnTo>
                  <a:pt x="7360" y="3056"/>
                </a:lnTo>
                <a:lnTo>
                  <a:pt x="7312" y="3171"/>
                </a:lnTo>
                <a:lnTo>
                  <a:pt x="7262" y="3286"/>
                </a:lnTo>
                <a:lnTo>
                  <a:pt x="7210" y="3400"/>
                </a:lnTo>
                <a:lnTo>
                  <a:pt x="7157" y="3513"/>
                </a:lnTo>
                <a:lnTo>
                  <a:pt x="7103" y="3626"/>
                </a:lnTo>
                <a:lnTo>
                  <a:pt x="7048" y="3737"/>
                </a:lnTo>
                <a:lnTo>
                  <a:pt x="6991" y="3847"/>
                </a:lnTo>
                <a:lnTo>
                  <a:pt x="6962" y="3902"/>
                </a:lnTo>
                <a:lnTo>
                  <a:pt x="6933" y="3956"/>
                </a:lnTo>
                <a:lnTo>
                  <a:pt x="6903" y="4010"/>
                </a:lnTo>
                <a:lnTo>
                  <a:pt x="6873" y="4063"/>
                </a:lnTo>
                <a:lnTo>
                  <a:pt x="6812" y="4169"/>
                </a:lnTo>
                <a:lnTo>
                  <a:pt x="6747" y="4275"/>
                </a:lnTo>
                <a:lnTo>
                  <a:pt x="6682" y="4379"/>
                </a:lnTo>
                <a:lnTo>
                  <a:pt x="6616" y="4482"/>
                </a:lnTo>
                <a:lnTo>
                  <a:pt x="6548" y="4584"/>
                </a:lnTo>
                <a:lnTo>
                  <a:pt x="6477" y="4686"/>
                </a:lnTo>
                <a:lnTo>
                  <a:pt x="6407" y="4786"/>
                </a:lnTo>
                <a:lnTo>
                  <a:pt x="6334" y="4885"/>
                </a:lnTo>
                <a:lnTo>
                  <a:pt x="6260" y="4984"/>
                </a:lnTo>
                <a:lnTo>
                  <a:pt x="6185" y="5080"/>
                </a:lnTo>
                <a:lnTo>
                  <a:pt x="6108" y="5177"/>
                </a:lnTo>
                <a:lnTo>
                  <a:pt x="6031" y="5273"/>
                </a:lnTo>
                <a:lnTo>
                  <a:pt x="5952" y="5367"/>
                </a:lnTo>
                <a:lnTo>
                  <a:pt x="5872" y="5461"/>
                </a:lnTo>
                <a:lnTo>
                  <a:pt x="5836" y="5503"/>
                </a:lnTo>
                <a:lnTo>
                  <a:pt x="5801" y="5545"/>
                </a:lnTo>
                <a:lnTo>
                  <a:pt x="5767" y="5588"/>
                </a:lnTo>
                <a:lnTo>
                  <a:pt x="5733" y="5632"/>
                </a:lnTo>
                <a:lnTo>
                  <a:pt x="5700" y="5676"/>
                </a:lnTo>
                <a:lnTo>
                  <a:pt x="5668" y="5721"/>
                </a:lnTo>
                <a:lnTo>
                  <a:pt x="5636" y="5766"/>
                </a:lnTo>
                <a:lnTo>
                  <a:pt x="5605" y="5810"/>
                </a:lnTo>
                <a:lnTo>
                  <a:pt x="5544" y="5902"/>
                </a:lnTo>
                <a:lnTo>
                  <a:pt x="5482" y="5994"/>
                </a:lnTo>
                <a:lnTo>
                  <a:pt x="5422" y="6086"/>
                </a:lnTo>
                <a:lnTo>
                  <a:pt x="5363" y="6179"/>
                </a:lnTo>
                <a:lnTo>
                  <a:pt x="5302" y="6270"/>
                </a:lnTo>
                <a:lnTo>
                  <a:pt x="5241" y="6362"/>
                </a:lnTo>
                <a:lnTo>
                  <a:pt x="5209" y="6407"/>
                </a:lnTo>
                <a:lnTo>
                  <a:pt x="5178" y="6452"/>
                </a:lnTo>
                <a:lnTo>
                  <a:pt x="5146" y="6497"/>
                </a:lnTo>
                <a:lnTo>
                  <a:pt x="5113" y="6540"/>
                </a:lnTo>
                <a:lnTo>
                  <a:pt x="5080" y="6584"/>
                </a:lnTo>
                <a:lnTo>
                  <a:pt x="5045" y="6627"/>
                </a:lnTo>
                <a:lnTo>
                  <a:pt x="5010" y="6670"/>
                </a:lnTo>
                <a:lnTo>
                  <a:pt x="4975" y="6712"/>
                </a:lnTo>
                <a:lnTo>
                  <a:pt x="4938" y="6753"/>
                </a:lnTo>
                <a:lnTo>
                  <a:pt x="4900" y="6792"/>
                </a:lnTo>
                <a:lnTo>
                  <a:pt x="4863" y="6832"/>
                </a:lnTo>
                <a:lnTo>
                  <a:pt x="4823" y="6871"/>
                </a:lnTo>
                <a:lnTo>
                  <a:pt x="4775" y="6917"/>
                </a:lnTo>
                <a:lnTo>
                  <a:pt x="4726" y="6962"/>
                </a:lnTo>
                <a:lnTo>
                  <a:pt x="4677" y="7006"/>
                </a:lnTo>
                <a:lnTo>
                  <a:pt x="4627" y="7049"/>
                </a:lnTo>
                <a:lnTo>
                  <a:pt x="4576" y="7092"/>
                </a:lnTo>
                <a:lnTo>
                  <a:pt x="4525" y="7134"/>
                </a:lnTo>
                <a:lnTo>
                  <a:pt x="4473" y="7175"/>
                </a:lnTo>
                <a:lnTo>
                  <a:pt x="4420" y="7214"/>
                </a:lnTo>
                <a:lnTo>
                  <a:pt x="4368" y="7253"/>
                </a:lnTo>
                <a:lnTo>
                  <a:pt x="4314" y="7292"/>
                </a:lnTo>
                <a:lnTo>
                  <a:pt x="4260" y="7330"/>
                </a:lnTo>
                <a:lnTo>
                  <a:pt x="4206" y="7367"/>
                </a:lnTo>
                <a:lnTo>
                  <a:pt x="4151" y="7404"/>
                </a:lnTo>
                <a:lnTo>
                  <a:pt x="4095" y="7440"/>
                </a:lnTo>
                <a:lnTo>
                  <a:pt x="4040" y="7474"/>
                </a:lnTo>
                <a:lnTo>
                  <a:pt x="3984" y="7510"/>
                </a:lnTo>
                <a:lnTo>
                  <a:pt x="3927" y="7544"/>
                </a:lnTo>
                <a:lnTo>
                  <a:pt x="3870" y="7577"/>
                </a:lnTo>
                <a:lnTo>
                  <a:pt x="3813" y="7611"/>
                </a:lnTo>
                <a:lnTo>
                  <a:pt x="3756" y="7644"/>
                </a:lnTo>
                <a:lnTo>
                  <a:pt x="3639" y="7708"/>
                </a:lnTo>
                <a:lnTo>
                  <a:pt x="3523" y="7770"/>
                </a:lnTo>
                <a:lnTo>
                  <a:pt x="3406" y="7832"/>
                </a:lnTo>
                <a:lnTo>
                  <a:pt x="3288" y="7892"/>
                </a:lnTo>
                <a:lnTo>
                  <a:pt x="3170" y="7951"/>
                </a:lnTo>
                <a:lnTo>
                  <a:pt x="3052" y="8010"/>
                </a:lnTo>
                <a:lnTo>
                  <a:pt x="2857" y="8109"/>
                </a:lnTo>
                <a:lnTo>
                  <a:pt x="2663" y="8208"/>
                </a:lnTo>
                <a:lnTo>
                  <a:pt x="2469" y="8309"/>
                </a:lnTo>
                <a:lnTo>
                  <a:pt x="2276" y="8412"/>
                </a:lnTo>
                <a:lnTo>
                  <a:pt x="2085" y="8515"/>
                </a:lnTo>
                <a:lnTo>
                  <a:pt x="1893" y="8620"/>
                </a:lnTo>
                <a:lnTo>
                  <a:pt x="1703" y="8726"/>
                </a:lnTo>
                <a:lnTo>
                  <a:pt x="1512" y="8834"/>
                </a:lnTo>
                <a:lnTo>
                  <a:pt x="1323" y="8942"/>
                </a:lnTo>
                <a:lnTo>
                  <a:pt x="1135" y="9054"/>
                </a:lnTo>
                <a:lnTo>
                  <a:pt x="947" y="9165"/>
                </a:lnTo>
                <a:lnTo>
                  <a:pt x="760" y="9278"/>
                </a:lnTo>
                <a:lnTo>
                  <a:pt x="574" y="9392"/>
                </a:lnTo>
                <a:lnTo>
                  <a:pt x="389" y="9508"/>
                </a:lnTo>
                <a:lnTo>
                  <a:pt x="205" y="9626"/>
                </a:lnTo>
                <a:lnTo>
                  <a:pt x="22" y="9744"/>
                </a:lnTo>
                <a:lnTo>
                  <a:pt x="15" y="9628"/>
                </a:lnTo>
                <a:lnTo>
                  <a:pt x="10" y="9510"/>
                </a:lnTo>
                <a:lnTo>
                  <a:pt x="6" y="9393"/>
                </a:lnTo>
                <a:lnTo>
                  <a:pt x="3" y="9275"/>
                </a:lnTo>
                <a:lnTo>
                  <a:pt x="1" y="9157"/>
                </a:lnTo>
                <a:lnTo>
                  <a:pt x="0" y="9038"/>
                </a:lnTo>
                <a:lnTo>
                  <a:pt x="0" y="8920"/>
                </a:lnTo>
                <a:lnTo>
                  <a:pt x="2" y="8802"/>
                </a:lnTo>
                <a:lnTo>
                  <a:pt x="5" y="8683"/>
                </a:lnTo>
                <a:lnTo>
                  <a:pt x="9" y="8564"/>
                </a:lnTo>
                <a:lnTo>
                  <a:pt x="16" y="8446"/>
                </a:lnTo>
                <a:lnTo>
                  <a:pt x="24" y="8328"/>
                </a:lnTo>
                <a:lnTo>
                  <a:pt x="34" y="8209"/>
                </a:lnTo>
                <a:lnTo>
                  <a:pt x="45" y="8091"/>
                </a:lnTo>
                <a:lnTo>
                  <a:pt x="58" y="7974"/>
                </a:lnTo>
                <a:lnTo>
                  <a:pt x="74" y="7856"/>
                </a:lnTo>
                <a:lnTo>
                  <a:pt x="91" y="7739"/>
                </a:lnTo>
                <a:lnTo>
                  <a:pt x="110" y="7622"/>
                </a:lnTo>
                <a:lnTo>
                  <a:pt x="132" y="7507"/>
                </a:lnTo>
                <a:lnTo>
                  <a:pt x="155" y="7391"/>
                </a:lnTo>
                <a:lnTo>
                  <a:pt x="182" y="7277"/>
                </a:lnTo>
                <a:lnTo>
                  <a:pt x="210" y="7162"/>
                </a:lnTo>
                <a:lnTo>
                  <a:pt x="241" y="7048"/>
                </a:lnTo>
                <a:lnTo>
                  <a:pt x="274" y="6936"/>
                </a:lnTo>
                <a:lnTo>
                  <a:pt x="311" y="6824"/>
                </a:lnTo>
                <a:lnTo>
                  <a:pt x="350" y="6713"/>
                </a:lnTo>
                <a:lnTo>
                  <a:pt x="392" y="6603"/>
                </a:lnTo>
                <a:lnTo>
                  <a:pt x="436" y="6495"/>
                </a:lnTo>
                <a:lnTo>
                  <a:pt x="484" y="6386"/>
                </a:lnTo>
                <a:lnTo>
                  <a:pt x="535" y="6279"/>
                </a:lnTo>
                <a:lnTo>
                  <a:pt x="589" y="6173"/>
                </a:lnTo>
                <a:lnTo>
                  <a:pt x="646" y="6069"/>
                </a:lnTo>
                <a:lnTo>
                  <a:pt x="684" y="6004"/>
                </a:lnTo>
                <a:lnTo>
                  <a:pt x="724" y="5941"/>
                </a:lnTo>
                <a:lnTo>
                  <a:pt x="766" y="5880"/>
                </a:lnTo>
                <a:lnTo>
                  <a:pt x="810" y="5821"/>
                </a:lnTo>
                <a:lnTo>
                  <a:pt x="854" y="5763"/>
                </a:lnTo>
                <a:lnTo>
                  <a:pt x="901" y="5706"/>
                </a:lnTo>
                <a:lnTo>
                  <a:pt x="950" y="5652"/>
                </a:lnTo>
                <a:lnTo>
                  <a:pt x="1000" y="5599"/>
                </a:lnTo>
                <a:lnTo>
                  <a:pt x="1052" y="5548"/>
                </a:lnTo>
                <a:lnTo>
                  <a:pt x="1105" y="5498"/>
                </a:lnTo>
                <a:lnTo>
                  <a:pt x="1159" y="5450"/>
                </a:lnTo>
                <a:lnTo>
                  <a:pt x="1215" y="5402"/>
                </a:lnTo>
                <a:lnTo>
                  <a:pt x="1271" y="5356"/>
                </a:lnTo>
                <a:lnTo>
                  <a:pt x="1328" y="5310"/>
                </a:lnTo>
                <a:lnTo>
                  <a:pt x="1387" y="5265"/>
                </a:lnTo>
                <a:lnTo>
                  <a:pt x="1446" y="5221"/>
                </a:lnTo>
                <a:lnTo>
                  <a:pt x="1506" y="5178"/>
                </a:lnTo>
                <a:lnTo>
                  <a:pt x="1566" y="5136"/>
                </a:lnTo>
                <a:lnTo>
                  <a:pt x="1627" y="5094"/>
                </a:lnTo>
                <a:lnTo>
                  <a:pt x="1688" y="5053"/>
                </a:lnTo>
                <a:lnTo>
                  <a:pt x="1812" y="4971"/>
                </a:lnTo>
                <a:lnTo>
                  <a:pt x="1936" y="4890"/>
                </a:lnTo>
                <a:lnTo>
                  <a:pt x="2060" y="4809"/>
                </a:lnTo>
                <a:lnTo>
                  <a:pt x="2183" y="4729"/>
                </a:lnTo>
                <a:lnTo>
                  <a:pt x="2244" y="4688"/>
                </a:lnTo>
                <a:lnTo>
                  <a:pt x="2304" y="4646"/>
                </a:lnTo>
                <a:lnTo>
                  <a:pt x="2364" y="4604"/>
                </a:lnTo>
                <a:lnTo>
                  <a:pt x="2423" y="4563"/>
                </a:lnTo>
                <a:lnTo>
                  <a:pt x="2591" y="4449"/>
                </a:lnTo>
                <a:lnTo>
                  <a:pt x="2759" y="4335"/>
                </a:lnTo>
                <a:lnTo>
                  <a:pt x="2925" y="4220"/>
                </a:lnTo>
                <a:lnTo>
                  <a:pt x="3091" y="4103"/>
                </a:lnTo>
                <a:lnTo>
                  <a:pt x="3256" y="3985"/>
                </a:lnTo>
                <a:lnTo>
                  <a:pt x="3420" y="3867"/>
                </a:lnTo>
                <a:lnTo>
                  <a:pt x="3584" y="3749"/>
                </a:lnTo>
                <a:lnTo>
                  <a:pt x="3748" y="3630"/>
                </a:lnTo>
                <a:lnTo>
                  <a:pt x="3913" y="3511"/>
                </a:lnTo>
                <a:lnTo>
                  <a:pt x="4077" y="3392"/>
                </a:lnTo>
                <a:lnTo>
                  <a:pt x="4241" y="3274"/>
                </a:lnTo>
                <a:lnTo>
                  <a:pt x="4405" y="3156"/>
                </a:lnTo>
                <a:lnTo>
                  <a:pt x="4570" y="3038"/>
                </a:lnTo>
                <a:lnTo>
                  <a:pt x="4736" y="2922"/>
                </a:lnTo>
                <a:lnTo>
                  <a:pt x="4902" y="2807"/>
                </a:lnTo>
                <a:lnTo>
                  <a:pt x="5070" y="2693"/>
                </a:lnTo>
                <a:lnTo>
                  <a:pt x="5061" y="2749"/>
                </a:lnTo>
                <a:lnTo>
                  <a:pt x="5053" y="2806"/>
                </a:lnTo>
                <a:lnTo>
                  <a:pt x="5045" y="2864"/>
                </a:lnTo>
                <a:lnTo>
                  <a:pt x="5037" y="2921"/>
                </a:lnTo>
                <a:lnTo>
                  <a:pt x="5027" y="2979"/>
                </a:lnTo>
                <a:lnTo>
                  <a:pt x="5016" y="3036"/>
                </a:lnTo>
                <a:lnTo>
                  <a:pt x="5005" y="3093"/>
                </a:lnTo>
                <a:lnTo>
                  <a:pt x="4992" y="3149"/>
                </a:lnTo>
                <a:lnTo>
                  <a:pt x="4985" y="3178"/>
                </a:lnTo>
                <a:lnTo>
                  <a:pt x="4978" y="3206"/>
                </a:lnTo>
                <a:lnTo>
                  <a:pt x="4970" y="3233"/>
                </a:lnTo>
                <a:lnTo>
                  <a:pt x="4960" y="3261"/>
                </a:lnTo>
                <a:lnTo>
                  <a:pt x="4951" y="3288"/>
                </a:lnTo>
                <a:lnTo>
                  <a:pt x="4941" y="3315"/>
                </a:lnTo>
                <a:lnTo>
                  <a:pt x="4930" y="3341"/>
                </a:lnTo>
                <a:lnTo>
                  <a:pt x="4919" y="3368"/>
                </a:lnTo>
                <a:lnTo>
                  <a:pt x="4906" y="3394"/>
                </a:lnTo>
                <a:lnTo>
                  <a:pt x="4893" y="3420"/>
                </a:lnTo>
                <a:lnTo>
                  <a:pt x="4880" y="3444"/>
                </a:lnTo>
                <a:lnTo>
                  <a:pt x="4865" y="3470"/>
                </a:lnTo>
                <a:lnTo>
                  <a:pt x="4849" y="3494"/>
                </a:lnTo>
                <a:lnTo>
                  <a:pt x="4833" y="3517"/>
                </a:lnTo>
                <a:lnTo>
                  <a:pt x="4816" y="3542"/>
                </a:lnTo>
                <a:lnTo>
                  <a:pt x="4797" y="3564"/>
                </a:lnTo>
                <a:lnTo>
                  <a:pt x="4751" y="3622"/>
                </a:lnTo>
                <a:lnTo>
                  <a:pt x="4704" y="3679"/>
                </a:lnTo>
                <a:lnTo>
                  <a:pt x="4656" y="3734"/>
                </a:lnTo>
                <a:lnTo>
                  <a:pt x="4606" y="3787"/>
                </a:lnTo>
                <a:lnTo>
                  <a:pt x="4555" y="3839"/>
                </a:lnTo>
                <a:lnTo>
                  <a:pt x="4503" y="3890"/>
                </a:lnTo>
                <a:lnTo>
                  <a:pt x="4450" y="3940"/>
                </a:lnTo>
                <a:lnTo>
                  <a:pt x="4396" y="3989"/>
                </a:lnTo>
                <a:lnTo>
                  <a:pt x="4341" y="4036"/>
                </a:lnTo>
                <a:lnTo>
                  <a:pt x="4286" y="4083"/>
                </a:lnTo>
                <a:lnTo>
                  <a:pt x="4229" y="4129"/>
                </a:lnTo>
                <a:lnTo>
                  <a:pt x="4172" y="4174"/>
                </a:lnTo>
                <a:lnTo>
                  <a:pt x="4114" y="4219"/>
                </a:lnTo>
                <a:lnTo>
                  <a:pt x="4056" y="4263"/>
                </a:lnTo>
                <a:lnTo>
                  <a:pt x="3998" y="4307"/>
                </a:lnTo>
                <a:lnTo>
                  <a:pt x="3939" y="4349"/>
                </a:lnTo>
                <a:lnTo>
                  <a:pt x="3820" y="4435"/>
                </a:lnTo>
                <a:lnTo>
                  <a:pt x="3700" y="4520"/>
                </a:lnTo>
                <a:lnTo>
                  <a:pt x="3581" y="4604"/>
                </a:lnTo>
                <a:lnTo>
                  <a:pt x="3462" y="4689"/>
                </a:lnTo>
                <a:lnTo>
                  <a:pt x="3403" y="4732"/>
                </a:lnTo>
                <a:lnTo>
                  <a:pt x="3344" y="4776"/>
                </a:lnTo>
                <a:lnTo>
                  <a:pt x="3285" y="4818"/>
                </a:lnTo>
                <a:lnTo>
                  <a:pt x="3226" y="4863"/>
                </a:lnTo>
                <a:lnTo>
                  <a:pt x="3169" y="4907"/>
                </a:lnTo>
                <a:lnTo>
                  <a:pt x="3112" y="4953"/>
                </a:lnTo>
                <a:lnTo>
                  <a:pt x="3056" y="4999"/>
                </a:lnTo>
                <a:lnTo>
                  <a:pt x="3000" y="5046"/>
                </a:lnTo>
                <a:lnTo>
                  <a:pt x="2979" y="5064"/>
                </a:lnTo>
                <a:lnTo>
                  <a:pt x="2957" y="5082"/>
                </a:lnTo>
                <a:lnTo>
                  <a:pt x="2937" y="5102"/>
                </a:lnTo>
                <a:lnTo>
                  <a:pt x="2917" y="5121"/>
                </a:lnTo>
                <a:lnTo>
                  <a:pt x="2897" y="5141"/>
                </a:lnTo>
                <a:lnTo>
                  <a:pt x="2878" y="5162"/>
                </a:lnTo>
                <a:lnTo>
                  <a:pt x="2859" y="5182"/>
                </a:lnTo>
                <a:lnTo>
                  <a:pt x="2842" y="5204"/>
                </a:lnTo>
                <a:lnTo>
                  <a:pt x="2825" y="5225"/>
                </a:lnTo>
                <a:lnTo>
                  <a:pt x="2808" y="5248"/>
                </a:lnTo>
                <a:lnTo>
                  <a:pt x="2791" y="5270"/>
                </a:lnTo>
                <a:lnTo>
                  <a:pt x="2775" y="5293"/>
                </a:lnTo>
                <a:lnTo>
                  <a:pt x="2744" y="5339"/>
                </a:lnTo>
                <a:lnTo>
                  <a:pt x="2716" y="5386"/>
                </a:lnTo>
                <a:lnTo>
                  <a:pt x="2687" y="5435"/>
                </a:lnTo>
                <a:lnTo>
                  <a:pt x="2661" y="5484"/>
                </a:lnTo>
                <a:lnTo>
                  <a:pt x="2635" y="5534"/>
                </a:lnTo>
                <a:lnTo>
                  <a:pt x="2611" y="5584"/>
                </a:lnTo>
                <a:lnTo>
                  <a:pt x="2587" y="5635"/>
                </a:lnTo>
                <a:lnTo>
                  <a:pt x="2564" y="5686"/>
                </a:lnTo>
                <a:lnTo>
                  <a:pt x="2541" y="5737"/>
                </a:lnTo>
                <a:lnTo>
                  <a:pt x="2519" y="5788"/>
                </a:lnTo>
                <a:lnTo>
                  <a:pt x="2613" y="5796"/>
                </a:lnTo>
                <a:lnTo>
                  <a:pt x="2707" y="5803"/>
                </a:lnTo>
                <a:lnTo>
                  <a:pt x="2801" y="5808"/>
                </a:lnTo>
                <a:lnTo>
                  <a:pt x="2897" y="5812"/>
                </a:lnTo>
                <a:lnTo>
                  <a:pt x="2944" y="5814"/>
                </a:lnTo>
                <a:lnTo>
                  <a:pt x="2992" y="5814"/>
                </a:lnTo>
                <a:lnTo>
                  <a:pt x="3040" y="5814"/>
                </a:lnTo>
                <a:lnTo>
                  <a:pt x="3088" y="5812"/>
                </a:lnTo>
                <a:lnTo>
                  <a:pt x="3135" y="5811"/>
                </a:lnTo>
                <a:lnTo>
                  <a:pt x="3183" y="5809"/>
                </a:lnTo>
                <a:lnTo>
                  <a:pt x="3230" y="5806"/>
                </a:lnTo>
                <a:lnTo>
                  <a:pt x="3276" y="5802"/>
                </a:lnTo>
                <a:lnTo>
                  <a:pt x="3324" y="5797"/>
                </a:lnTo>
                <a:lnTo>
                  <a:pt x="3371" y="5791"/>
                </a:lnTo>
                <a:lnTo>
                  <a:pt x="3417" y="5785"/>
                </a:lnTo>
                <a:lnTo>
                  <a:pt x="3464" y="5777"/>
                </a:lnTo>
                <a:lnTo>
                  <a:pt x="3510" y="5768"/>
                </a:lnTo>
                <a:lnTo>
                  <a:pt x="3556" y="5757"/>
                </a:lnTo>
                <a:lnTo>
                  <a:pt x="3602" y="5746"/>
                </a:lnTo>
                <a:lnTo>
                  <a:pt x="3646" y="5734"/>
                </a:lnTo>
                <a:lnTo>
                  <a:pt x="3691" y="5720"/>
                </a:lnTo>
                <a:lnTo>
                  <a:pt x="3736" y="5704"/>
                </a:lnTo>
                <a:lnTo>
                  <a:pt x="3781" y="5688"/>
                </a:lnTo>
                <a:lnTo>
                  <a:pt x="3825" y="5670"/>
                </a:lnTo>
                <a:lnTo>
                  <a:pt x="3868" y="5650"/>
                </a:lnTo>
                <a:lnTo>
                  <a:pt x="3910" y="5629"/>
                </a:lnTo>
                <a:lnTo>
                  <a:pt x="3953" y="5607"/>
                </a:lnTo>
                <a:lnTo>
                  <a:pt x="3995" y="5582"/>
                </a:lnTo>
                <a:lnTo>
                  <a:pt x="4108" y="5518"/>
                </a:lnTo>
                <a:lnTo>
                  <a:pt x="4219" y="5450"/>
                </a:lnTo>
                <a:lnTo>
                  <a:pt x="4328" y="5378"/>
                </a:lnTo>
                <a:lnTo>
                  <a:pt x="4434" y="5305"/>
                </a:lnTo>
                <a:lnTo>
                  <a:pt x="4539" y="5228"/>
                </a:lnTo>
                <a:lnTo>
                  <a:pt x="4641" y="5149"/>
                </a:lnTo>
                <a:lnTo>
                  <a:pt x="4741" y="5067"/>
                </a:lnTo>
                <a:lnTo>
                  <a:pt x="4839" y="4984"/>
                </a:lnTo>
                <a:lnTo>
                  <a:pt x="4934" y="4897"/>
                </a:lnTo>
                <a:lnTo>
                  <a:pt x="5028" y="4808"/>
                </a:lnTo>
                <a:lnTo>
                  <a:pt x="5119" y="4717"/>
                </a:lnTo>
                <a:lnTo>
                  <a:pt x="5209" y="4624"/>
                </a:lnTo>
                <a:lnTo>
                  <a:pt x="5297" y="4529"/>
                </a:lnTo>
                <a:lnTo>
                  <a:pt x="5382" y="4432"/>
                </a:lnTo>
                <a:lnTo>
                  <a:pt x="5466" y="4333"/>
                </a:lnTo>
                <a:lnTo>
                  <a:pt x="5548" y="4233"/>
                </a:lnTo>
                <a:lnTo>
                  <a:pt x="5627" y="4131"/>
                </a:lnTo>
                <a:lnTo>
                  <a:pt x="5706" y="4027"/>
                </a:lnTo>
                <a:lnTo>
                  <a:pt x="5782" y="3922"/>
                </a:lnTo>
                <a:lnTo>
                  <a:pt x="5856" y="3815"/>
                </a:lnTo>
                <a:lnTo>
                  <a:pt x="5930" y="3708"/>
                </a:lnTo>
                <a:lnTo>
                  <a:pt x="6000" y="3599"/>
                </a:lnTo>
                <a:lnTo>
                  <a:pt x="6071" y="3489"/>
                </a:lnTo>
                <a:lnTo>
                  <a:pt x="6138" y="3378"/>
                </a:lnTo>
                <a:lnTo>
                  <a:pt x="6204" y="3267"/>
                </a:lnTo>
                <a:lnTo>
                  <a:pt x="6269" y="3154"/>
                </a:lnTo>
                <a:lnTo>
                  <a:pt x="6333" y="3040"/>
                </a:lnTo>
                <a:lnTo>
                  <a:pt x="6395" y="2926"/>
                </a:lnTo>
                <a:lnTo>
                  <a:pt x="6455" y="2812"/>
                </a:lnTo>
                <a:lnTo>
                  <a:pt x="6514" y="2697"/>
                </a:lnTo>
                <a:lnTo>
                  <a:pt x="6571" y="2582"/>
                </a:lnTo>
                <a:lnTo>
                  <a:pt x="6627" y="2466"/>
                </a:lnTo>
                <a:close/>
              </a:path>
            </a:pathLst>
          </a:custGeom>
          <a:solidFill>
            <a:srgbClr val="00326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60840" rIns="122040" bIns="608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226;p20"/>
          <p:cNvSpPr/>
          <p:nvPr/>
        </p:nvSpPr>
        <p:spPr>
          <a:xfrm>
            <a:off x="7779960" y="1840680"/>
            <a:ext cx="474840" cy="474840"/>
          </a:xfrm>
          <a:custGeom>
            <a:avLst/>
            <a:gdLst>
              <a:gd name="textAreaLeft" fmla="*/ 0 w 474840"/>
              <a:gd name="textAreaRight" fmla="*/ 475200 w 474840"/>
              <a:gd name="textAreaTop" fmla="*/ 0 h 474840"/>
              <a:gd name="textAreaBottom" fmla="*/ 475200 h 474840"/>
            </a:gdLst>
            <a:ahLst/>
            <a:cxnLst/>
            <a:rect l="textAreaLeft" t="textAreaTop" r="textAreaRight" b="textAreaBottom"/>
            <a:pathLst>
              <a:path w="1693" h="1693">
                <a:moveTo>
                  <a:pt x="847" y="0"/>
                </a:moveTo>
                <a:lnTo>
                  <a:pt x="890" y="1"/>
                </a:lnTo>
                <a:lnTo>
                  <a:pt x="934" y="3"/>
                </a:lnTo>
                <a:lnTo>
                  <a:pt x="976" y="9"/>
                </a:lnTo>
                <a:lnTo>
                  <a:pt x="1018" y="16"/>
                </a:lnTo>
                <a:lnTo>
                  <a:pt x="1059" y="26"/>
                </a:lnTo>
                <a:lnTo>
                  <a:pt x="1098" y="37"/>
                </a:lnTo>
                <a:lnTo>
                  <a:pt x="1138" y="51"/>
                </a:lnTo>
                <a:lnTo>
                  <a:pt x="1176" y="66"/>
                </a:lnTo>
                <a:lnTo>
                  <a:pt x="1214" y="82"/>
                </a:lnTo>
                <a:lnTo>
                  <a:pt x="1250" y="102"/>
                </a:lnTo>
                <a:lnTo>
                  <a:pt x="1286" y="122"/>
                </a:lnTo>
                <a:lnTo>
                  <a:pt x="1321" y="144"/>
                </a:lnTo>
                <a:lnTo>
                  <a:pt x="1353" y="168"/>
                </a:lnTo>
                <a:lnTo>
                  <a:pt x="1386" y="193"/>
                </a:lnTo>
                <a:lnTo>
                  <a:pt x="1416" y="219"/>
                </a:lnTo>
                <a:lnTo>
                  <a:pt x="1446" y="247"/>
                </a:lnTo>
                <a:lnTo>
                  <a:pt x="1473" y="277"/>
                </a:lnTo>
                <a:lnTo>
                  <a:pt x="1500" y="307"/>
                </a:lnTo>
                <a:lnTo>
                  <a:pt x="1525" y="340"/>
                </a:lnTo>
                <a:lnTo>
                  <a:pt x="1549" y="372"/>
                </a:lnTo>
                <a:lnTo>
                  <a:pt x="1571" y="407"/>
                </a:lnTo>
                <a:lnTo>
                  <a:pt x="1591" y="442"/>
                </a:lnTo>
                <a:lnTo>
                  <a:pt x="1610" y="479"/>
                </a:lnTo>
                <a:lnTo>
                  <a:pt x="1627" y="516"/>
                </a:lnTo>
                <a:lnTo>
                  <a:pt x="1642" y="555"/>
                </a:lnTo>
                <a:lnTo>
                  <a:pt x="1655" y="594"/>
                </a:lnTo>
                <a:lnTo>
                  <a:pt x="1667" y="634"/>
                </a:lnTo>
                <a:lnTo>
                  <a:pt x="1676" y="675"/>
                </a:lnTo>
                <a:lnTo>
                  <a:pt x="1684" y="717"/>
                </a:lnTo>
                <a:lnTo>
                  <a:pt x="1688" y="759"/>
                </a:lnTo>
                <a:lnTo>
                  <a:pt x="1692" y="802"/>
                </a:lnTo>
                <a:lnTo>
                  <a:pt x="1693" y="846"/>
                </a:lnTo>
                <a:lnTo>
                  <a:pt x="1692" y="889"/>
                </a:lnTo>
                <a:lnTo>
                  <a:pt x="1688" y="932"/>
                </a:lnTo>
                <a:lnTo>
                  <a:pt x="1684" y="974"/>
                </a:lnTo>
                <a:lnTo>
                  <a:pt x="1676" y="1016"/>
                </a:lnTo>
                <a:lnTo>
                  <a:pt x="1667" y="1057"/>
                </a:lnTo>
                <a:lnTo>
                  <a:pt x="1655" y="1098"/>
                </a:lnTo>
                <a:lnTo>
                  <a:pt x="1642" y="1136"/>
                </a:lnTo>
                <a:lnTo>
                  <a:pt x="1627" y="1175"/>
                </a:lnTo>
                <a:lnTo>
                  <a:pt x="1610" y="1213"/>
                </a:lnTo>
                <a:lnTo>
                  <a:pt x="1591" y="1249"/>
                </a:lnTo>
                <a:lnTo>
                  <a:pt x="1571" y="1284"/>
                </a:lnTo>
                <a:lnTo>
                  <a:pt x="1549" y="1319"/>
                </a:lnTo>
                <a:lnTo>
                  <a:pt x="1525" y="1353"/>
                </a:lnTo>
                <a:lnTo>
                  <a:pt x="1500" y="1384"/>
                </a:lnTo>
                <a:lnTo>
                  <a:pt x="1473" y="1415"/>
                </a:lnTo>
                <a:lnTo>
                  <a:pt x="1446" y="1444"/>
                </a:lnTo>
                <a:lnTo>
                  <a:pt x="1416" y="1473"/>
                </a:lnTo>
                <a:lnTo>
                  <a:pt x="1386" y="1499"/>
                </a:lnTo>
                <a:lnTo>
                  <a:pt x="1353" y="1524"/>
                </a:lnTo>
                <a:lnTo>
                  <a:pt x="1321" y="1547"/>
                </a:lnTo>
                <a:lnTo>
                  <a:pt x="1286" y="1570"/>
                </a:lnTo>
                <a:lnTo>
                  <a:pt x="1250" y="1590"/>
                </a:lnTo>
                <a:lnTo>
                  <a:pt x="1214" y="1609"/>
                </a:lnTo>
                <a:lnTo>
                  <a:pt x="1176" y="1625"/>
                </a:lnTo>
                <a:lnTo>
                  <a:pt x="1138" y="1641"/>
                </a:lnTo>
                <a:lnTo>
                  <a:pt x="1098" y="1654"/>
                </a:lnTo>
                <a:lnTo>
                  <a:pt x="1059" y="1665"/>
                </a:lnTo>
                <a:lnTo>
                  <a:pt x="1018" y="1675"/>
                </a:lnTo>
                <a:lnTo>
                  <a:pt x="976" y="1683"/>
                </a:lnTo>
                <a:lnTo>
                  <a:pt x="934" y="1688"/>
                </a:lnTo>
                <a:lnTo>
                  <a:pt x="890" y="1691"/>
                </a:lnTo>
                <a:lnTo>
                  <a:pt x="847" y="1693"/>
                </a:lnTo>
                <a:lnTo>
                  <a:pt x="803" y="1691"/>
                </a:lnTo>
                <a:lnTo>
                  <a:pt x="761" y="1688"/>
                </a:lnTo>
                <a:lnTo>
                  <a:pt x="717" y="1683"/>
                </a:lnTo>
                <a:lnTo>
                  <a:pt x="676" y="1675"/>
                </a:lnTo>
                <a:lnTo>
                  <a:pt x="636" y="1665"/>
                </a:lnTo>
                <a:lnTo>
                  <a:pt x="595" y="1654"/>
                </a:lnTo>
                <a:lnTo>
                  <a:pt x="555" y="1641"/>
                </a:lnTo>
                <a:lnTo>
                  <a:pt x="517" y="1625"/>
                </a:lnTo>
                <a:lnTo>
                  <a:pt x="479" y="1609"/>
                </a:lnTo>
                <a:lnTo>
                  <a:pt x="443" y="1590"/>
                </a:lnTo>
                <a:lnTo>
                  <a:pt x="407" y="1570"/>
                </a:lnTo>
                <a:lnTo>
                  <a:pt x="374" y="1547"/>
                </a:lnTo>
                <a:lnTo>
                  <a:pt x="340" y="1524"/>
                </a:lnTo>
                <a:lnTo>
                  <a:pt x="309" y="1499"/>
                </a:lnTo>
                <a:lnTo>
                  <a:pt x="277" y="1473"/>
                </a:lnTo>
                <a:lnTo>
                  <a:pt x="249" y="1444"/>
                </a:lnTo>
                <a:lnTo>
                  <a:pt x="220" y="1415"/>
                </a:lnTo>
                <a:lnTo>
                  <a:pt x="193" y="1384"/>
                </a:lnTo>
                <a:lnTo>
                  <a:pt x="168" y="1353"/>
                </a:lnTo>
                <a:lnTo>
                  <a:pt x="145" y="1319"/>
                </a:lnTo>
                <a:lnTo>
                  <a:pt x="122" y="1284"/>
                </a:lnTo>
                <a:lnTo>
                  <a:pt x="102" y="1249"/>
                </a:lnTo>
                <a:lnTo>
                  <a:pt x="84" y="1213"/>
                </a:lnTo>
                <a:lnTo>
                  <a:pt x="67" y="1175"/>
                </a:lnTo>
                <a:lnTo>
                  <a:pt x="51" y="1136"/>
                </a:lnTo>
                <a:lnTo>
                  <a:pt x="38" y="1098"/>
                </a:lnTo>
                <a:lnTo>
                  <a:pt x="26" y="1057"/>
                </a:lnTo>
                <a:lnTo>
                  <a:pt x="18" y="1016"/>
                </a:lnTo>
                <a:lnTo>
                  <a:pt x="9" y="974"/>
                </a:lnTo>
                <a:lnTo>
                  <a:pt x="5" y="932"/>
                </a:lnTo>
                <a:lnTo>
                  <a:pt x="1" y="889"/>
                </a:lnTo>
                <a:lnTo>
                  <a:pt x="0" y="846"/>
                </a:lnTo>
                <a:lnTo>
                  <a:pt x="1" y="802"/>
                </a:lnTo>
                <a:lnTo>
                  <a:pt x="5" y="759"/>
                </a:lnTo>
                <a:lnTo>
                  <a:pt x="9" y="717"/>
                </a:lnTo>
                <a:lnTo>
                  <a:pt x="18" y="675"/>
                </a:lnTo>
                <a:lnTo>
                  <a:pt x="26" y="634"/>
                </a:lnTo>
                <a:lnTo>
                  <a:pt x="38" y="594"/>
                </a:lnTo>
                <a:lnTo>
                  <a:pt x="51" y="555"/>
                </a:lnTo>
                <a:lnTo>
                  <a:pt x="67" y="516"/>
                </a:lnTo>
                <a:lnTo>
                  <a:pt x="84" y="479"/>
                </a:lnTo>
                <a:lnTo>
                  <a:pt x="102" y="442"/>
                </a:lnTo>
                <a:lnTo>
                  <a:pt x="122" y="407"/>
                </a:lnTo>
                <a:lnTo>
                  <a:pt x="145" y="372"/>
                </a:lnTo>
                <a:lnTo>
                  <a:pt x="168" y="340"/>
                </a:lnTo>
                <a:lnTo>
                  <a:pt x="193" y="307"/>
                </a:lnTo>
                <a:lnTo>
                  <a:pt x="220" y="277"/>
                </a:lnTo>
                <a:lnTo>
                  <a:pt x="249" y="247"/>
                </a:lnTo>
                <a:lnTo>
                  <a:pt x="277" y="219"/>
                </a:lnTo>
                <a:lnTo>
                  <a:pt x="309" y="193"/>
                </a:lnTo>
                <a:lnTo>
                  <a:pt x="340" y="168"/>
                </a:lnTo>
                <a:lnTo>
                  <a:pt x="374" y="144"/>
                </a:lnTo>
                <a:lnTo>
                  <a:pt x="407" y="122"/>
                </a:lnTo>
                <a:lnTo>
                  <a:pt x="443" y="102"/>
                </a:lnTo>
                <a:lnTo>
                  <a:pt x="479" y="82"/>
                </a:lnTo>
                <a:lnTo>
                  <a:pt x="517" y="66"/>
                </a:lnTo>
                <a:lnTo>
                  <a:pt x="555" y="51"/>
                </a:lnTo>
                <a:lnTo>
                  <a:pt x="595" y="37"/>
                </a:lnTo>
                <a:lnTo>
                  <a:pt x="636" y="26"/>
                </a:lnTo>
                <a:lnTo>
                  <a:pt x="676" y="16"/>
                </a:lnTo>
                <a:lnTo>
                  <a:pt x="717" y="9"/>
                </a:lnTo>
                <a:lnTo>
                  <a:pt x="761" y="3"/>
                </a:lnTo>
                <a:lnTo>
                  <a:pt x="803" y="1"/>
                </a:lnTo>
                <a:lnTo>
                  <a:pt x="847" y="0"/>
                </a:lnTo>
                <a:close/>
              </a:path>
            </a:pathLst>
          </a:custGeom>
          <a:solidFill>
            <a:srgbClr val="FFC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60840" rIns="122040" bIns="60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Google Shape;227;p20"/>
          <p:cNvSpPr/>
          <p:nvPr/>
        </p:nvSpPr>
        <p:spPr>
          <a:xfrm>
            <a:off x="3872520" y="1840680"/>
            <a:ext cx="474840" cy="474840"/>
          </a:xfrm>
          <a:custGeom>
            <a:avLst/>
            <a:gdLst>
              <a:gd name="textAreaLeft" fmla="*/ 0 w 474840"/>
              <a:gd name="textAreaRight" fmla="*/ 475200 w 474840"/>
              <a:gd name="textAreaTop" fmla="*/ 0 h 474840"/>
              <a:gd name="textAreaBottom" fmla="*/ 475200 h 474840"/>
            </a:gdLst>
            <a:ahLst/>
            <a:cxnLst/>
            <a:rect l="textAreaLeft" t="textAreaTop" r="textAreaRight" b="textAreaBottom"/>
            <a:pathLst>
              <a:path w="1693" h="1693">
                <a:moveTo>
                  <a:pt x="847" y="0"/>
                </a:moveTo>
                <a:lnTo>
                  <a:pt x="890" y="1"/>
                </a:lnTo>
                <a:lnTo>
                  <a:pt x="934" y="3"/>
                </a:lnTo>
                <a:lnTo>
                  <a:pt x="976" y="9"/>
                </a:lnTo>
                <a:lnTo>
                  <a:pt x="1018" y="16"/>
                </a:lnTo>
                <a:lnTo>
                  <a:pt x="1059" y="26"/>
                </a:lnTo>
                <a:lnTo>
                  <a:pt x="1098" y="37"/>
                </a:lnTo>
                <a:lnTo>
                  <a:pt x="1138" y="51"/>
                </a:lnTo>
                <a:lnTo>
                  <a:pt x="1176" y="66"/>
                </a:lnTo>
                <a:lnTo>
                  <a:pt x="1214" y="82"/>
                </a:lnTo>
                <a:lnTo>
                  <a:pt x="1250" y="102"/>
                </a:lnTo>
                <a:lnTo>
                  <a:pt x="1286" y="122"/>
                </a:lnTo>
                <a:lnTo>
                  <a:pt x="1321" y="144"/>
                </a:lnTo>
                <a:lnTo>
                  <a:pt x="1353" y="168"/>
                </a:lnTo>
                <a:lnTo>
                  <a:pt x="1386" y="193"/>
                </a:lnTo>
                <a:lnTo>
                  <a:pt x="1416" y="219"/>
                </a:lnTo>
                <a:lnTo>
                  <a:pt x="1446" y="247"/>
                </a:lnTo>
                <a:lnTo>
                  <a:pt x="1473" y="277"/>
                </a:lnTo>
                <a:lnTo>
                  <a:pt x="1500" y="307"/>
                </a:lnTo>
                <a:lnTo>
                  <a:pt x="1525" y="340"/>
                </a:lnTo>
                <a:lnTo>
                  <a:pt x="1549" y="372"/>
                </a:lnTo>
                <a:lnTo>
                  <a:pt x="1571" y="407"/>
                </a:lnTo>
                <a:lnTo>
                  <a:pt x="1591" y="442"/>
                </a:lnTo>
                <a:lnTo>
                  <a:pt x="1610" y="479"/>
                </a:lnTo>
                <a:lnTo>
                  <a:pt x="1627" y="516"/>
                </a:lnTo>
                <a:lnTo>
                  <a:pt x="1642" y="555"/>
                </a:lnTo>
                <a:lnTo>
                  <a:pt x="1655" y="594"/>
                </a:lnTo>
                <a:lnTo>
                  <a:pt x="1667" y="634"/>
                </a:lnTo>
                <a:lnTo>
                  <a:pt x="1676" y="675"/>
                </a:lnTo>
                <a:lnTo>
                  <a:pt x="1684" y="717"/>
                </a:lnTo>
                <a:lnTo>
                  <a:pt x="1688" y="759"/>
                </a:lnTo>
                <a:lnTo>
                  <a:pt x="1692" y="802"/>
                </a:lnTo>
                <a:lnTo>
                  <a:pt x="1693" y="846"/>
                </a:lnTo>
                <a:lnTo>
                  <a:pt x="1692" y="889"/>
                </a:lnTo>
                <a:lnTo>
                  <a:pt x="1688" y="932"/>
                </a:lnTo>
                <a:lnTo>
                  <a:pt x="1684" y="974"/>
                </a:lnTo>
                <a:lnTo>
                  <a:pt x="1676" y="1016"/>
                </a:lnTo>
                <a:lnTo>
                  <a:pt x="1667" y="1057"/>
                </a:lnTo>
                <a:lnTo>
                  <a:pt x="1655" y="1098"/>
                </a:lnTo>
                <a:lnTo>
                  <a:pt x="1642" y="1136"/>
                </a:lnTo>
                <a:lnTo>
                  <a:pt x="1627" y="1175"/>
                </a:lnTo>
                <a:lnTo>
                  <a:pt x="1610" y="1213"/>
                </a:lnTo>
                <a:lnTo>
                  <a:pt x="1591" y="1249"/>
                </a:lnTo>
                <a:lnTo>
                  <a:pt x="1571" y="1284"/>
                </a:lnTo>
                <a:lnTo>
                  <a:pt x="1549" y="1319"/>
                </a:lnTo>
                <a:lnTo>
                  <a:pt x="1525" y="1353"/>
                </a:lnTo>
                <a:lnTo>
                  <a:pt x="1500" y="1384"/>
                </a:lnTo>
                <a:lnTo>
                  <a:pt x="1473" y="1415"/>
                </a:lnTo>
                <a:lnTo>
                  <a:pt x="1446" y="1444"/>
                </a:lnTo>
                <a:lnTo>
                  <a:pt x="1416" y="1473"/>
                </a:lnTo>
                <a:lnTo>
                  <a:pt x="1386" y="1499"/>
                </a:lnTo>
                <a:lnTo>
                  <a:pt x="1353" y="1524"/>
                </a:lnTo>
                <a:lnTo>
                  <a:pt x="1321" y="1547"/>
                </a:lnTo>
                <a:lnTo>
                  <a:pt x="1286" y="1570"/>
                </a:lnTo>
                <a:lnTo>
                  <a:pt x="1250" y="1590"/>
                </a:lnTo>
                <a:lnTo>
                  <a:pt x="1214" y="1609"/>
                </a:lnTo>
                <a:lnTo>
                  <a:pt x="1176" y="1625"/>
                </a:lnTo>
                <a:lnTo>
                  <a:pt x="1138" y="1641"/>
                </a:lnTo>
                <a:lnTo>
                  <a:pt x="1098" y="1654"/>
                </a:lnTo>
                <a:lnTo>
                  <a:pt x="1059" y="1665"/>
                </a:lnTo>
                <a:lnTo>
                  <a:pt x="1018" y="1675"/>
                </a:lnTo>
                <a:lnTo>
                  <a:pt x="976" y="1683"/>
                </a:lnTo>
                <a:lnTo>
                  <a:pt x="934" y="1688"/>
                </a:lnTo>
                <a:lnTo>
                  <a:pt x="890" y="1691"/>
                </a:lnTo>
                <a:lnTo>
                  <a:pt x="847" y="1693"/>
                </a:lnTo>
                <a:lnTo>
                  <a:pt x="803" y="1691"/>
                </a:lnTo>
                <a:lnTo>
                  <a:pt x="761" y="1688"/>
                </a:lnTo>
                <a:lnTo>
                  <a:pt x="717" y="1683"/>
                </a:lnTo>
                <a:lnTo>
                  <a:pt x="676" y="1675"/>
                </a:lnTo>
                <a:lnTo>
                  <a:pt x="636" y="1665"/>
                </a:lnTo>
                <a:lnTo>
                  <a:pt x="595" y="1654"/>
                </a:lnTo>
                <a:lnTo>
                  <a:pt x="555" y="1641"/>
                </a:lnTo>
                <a:lnTo>
                  <a:pt x="517" y="1625"/>
                </a:lnTo>
                <a:lnTo>
                  <a:pt x="479" y="1609"/>
                </a:lnTo>
                <a:lnTo>
                  <a:pt x="443" y="1590"/>
                </a:lnTo>
                <a:lnTo>
                  <a:pt x="407" y="1570"/>
                </a:lnTo>
                <a:lnTo>
                  <a:pt x="374" y="1547"/>
                </a:lnTo>
                <a:lnTo>
                  <a:pt x="340" y="1524"/>
                </a:lnTo>
                <a:lnTo>
                  <a:pt x="309" y="1499"/>
                </a:lnTo>
                <a:lnTo>
                  <a:pt x="277" y="1473"/>
                </a:lnTo>
                <a:lnTo>
                  <a:pt x="249" y="1444"/>
                </a:lnTo>
                <a:lnTo>
                  <a:pt x="220" y="1415"/>
                </a:lnTo>
                <a:lnTo>
                  <a:pt x="193" y="1384"/>
                </a:lnTo>
                <a:lnTo>
                  <a:pt x="168" y="1353"/>
                </a:lnTo>
                <a:lnTo>
                  <a:pt x="145" y="1319"/>
                </a:lnTo>
                <a:lnTo>
                  <a:pt x="122" y="1284"/>
                </a:lnTo>
                <a:lnTo>
                  <a:pt x="102" y="1249"/>
                </a:lnTo>
                <a:lnTo>
                  <a:pt x="84" y="1213"/>
                </a:lnTo>
                <a:lnTo>
                  <a:pt x="67" y="1175"/>
                </a:lnTo>
                <a:lnTo>
                  <a:pt x="51" y="1136"/>
                </a:lnTo>
                <a:lnTo>
                  <a:pt x="38" y="1098"/>
                </a:lnTo>
                <a:lnTo>
                  <a:pt x="26" y="1057"/>
                </a:lnTo>
                <a:lnTo>
                  <a:pt x="18" y="1016"/>
                </a:lnTo>
                <a:lnTo>
                  <a:pt x="9" y="974"/>
                </a:lnTo>
                <a:lnTo>
                  <a:pt x="5" y="932"/>
                </a:lnTo>
                <a:lnTo>
                  <a:pt x="1" y="889"/>
                </a:lnTo>
                <a:lnTo>
                  <a:pt x="0" y="846"/>
                </a:lnTo>
                <a:lnTo>
                  <a:pt x="1" y="802"/>
                </a:lnTo>
                <a:lnTo>
                  <a:pt x="5" y="759"/>
                </a:lnTo>
                <a:lnTo>
                  <a:pt x="9" y="717"/>
                </a:lnTo>
                <a:lnTo>
                  <a:pt x="18" y="675"/>
                </a:lnTo>
                <a:lnTo>
                  <a:pt x="26" y="634"/>
                </a:lnTo>
                <a:lnTo>
                  <a:pt x="38" y="594"/>
                </a:lnTo>
                <a:lnTo>
                  <a:pt x="51" y="555"/>
                </a:lnTo>
                <a:lnTo>
                  <a:pt x="67" y="516"/>
                </a:lnTo>
                <a:lnTo>
                  <a:pt x="84" y="479"/>
                </a:lnTo>
                <a:lnTo>
                  <a:pt x="102" y="442"/>
                </a:lnTo>
                <a:lnTo>
                  <a:pt x="122" y="407"/>
                </a:lnTo>
                <a:lnTo>
                  <a:pt x="145" y="372"/>
                </a:lnTo>
                <a:lnTo>
                  <a:pt x="168" y="340"/>
                </a:lnTo>
                <a:lnTo>
                  <a:pt x="193" y="307"/>
                </a:lnTo>
                <a:lnTo>
                  <a:pt x="220" y="277"/>
                </a:lnTo>
                <a:lnTo>
                  <a:pt x="249" y="247"/>
                </a:lnTo>
                <a:lnTo>
                  <a:pt x="277" y="219"/>
                </a:lnTo>
                <a:lnTo>
                  <a:pt x="309" y="193"/>
                </a:lnTo>
                <a:lnTo>
                  <a:pt x="340" y="168"/>
                </a:lnTo>
                <a:lnTo>
                  <a:pt x="374" y="144"/>
                </a:lnTo>
                <a:lnTo>
                  <a:pt x="407" y="122"/>
                </a:lnTo>
                <a:lnTo>
                  <a:pt x="443" y="102"/>
                </a:lnTo>
                <a:lnTo>
                  <a:pt x="479" y="82"/>
                </a:lnTo>
                <a:lnTo>
                  <a:pt x="517" y="66"/>
                </a:lnTo>
                <a:lnTo>
                  <a:pt x="555" y="51"/>
                </a:lnTo>
                <a:lnTo>
                  <a:pt x="595" y="37"/>
                </a:lnTo>
                <a:lnTo>
                  <a:pt x="636" y="26"/>
                </a:lnTo>
                <a:lnTo>
                  <a:pt x="676" y="16"/>
                </a:lnTo>
                <a:lnTo>
                  <a:pt x="717" y="9"/>
                </a:lnTo>
                <a:lnTo>
                  <a:pt x="761" y="3"/>
                </a:lnTo>
                <a:lnTo>
                  <a:pt x="803" y="1"/>
                </a:lnTo>
                <a:lnTo>
                  <a:pt x="847" y="0"/>
                </a:lnTo>
                <a:close/>
              </a:path>
            </a:pathLst>
          </a:custGeom>
          <a:solidFill>
            <a:srgbClr val="F3C1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60840" rIns="122040" bIns="60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228;p20"/>
          <p:cNvSpPr/>
          <p:nvPr/>
        </p:nvSpPr>
        <p:spPr>
          <a:xfrm>
            <a:off x="7779960" y="5328720"/>
            <a:ext cx="474840" cy="474840"/>
          </a:xfrm>
          <a:custGeom>
            <a:avLst/>
            <a:gdLst>
              <a:gd name="textAreaLeft" fmla="*/ 0 w 474840"/>
              <a:gd name="textAreaRight" fmla="*/ 475200 w 474840"/>
              <a:gd name="textAreaTop" fmla="*/ 0 h 474840"/>
              <a:gd name="textAreaBottom" fmla="*/ 475200 h 474840"/>
            </a:gdLst>
            <a:ahLst/>
            <a:cxnLst/>
            <a:rect l="textAreaLeft" t="textAreaTop" r="textAreaRight" b="textAreaBottom"/>
            <a:pathLst>
              <a:path w="1693" h="1693">
                <a:moveTo>
                  <a:pt x="847" y="0"/>
                </a:moveTo>
                <a:lnTo>
                  <a:pt x="890" y="1"/>
                </a:lnTo>
                <a:lnTo>
                  <a:pt x="934" y="3"/>
                </a:lnTo>
                <a:lnTo>
                  <a:pt x="976" y="9"/>
                </a:lnTo>
                <a:lnTo>
                  <a:pt x="1018" y="16"/>
                </a:lnTo>
                <a:lnTo>
                  <a:pt x="1059" y="26"/>
                </a:lnTo>
                <a:lnTo>
                  <a:pt x="1098" y="37"/>
                </a:lnTo>
                <a:lnTo>
                  <a:pt x="1138" y="51"/>
                </a:lnTo>
                <a:lnTo>
                  <a:pt x="1176" y="66"/>
                </a:lnTo>
                <a:lnTo>
                  <a:pt x="1214" y="82"/>
                </a:lnTo>
                <a:lnTo>
                  <a:pt x="1250" y="102"/>
                </a:lnTo>
                <a:lnTo>
                  <a:pt x="1286" y="122"/>
                </a:lnTo>
                <a:lnTo>
                  <a:pt x="1321" y="144"/>
                </a:lnTo>
                <a:lnTo>
                  <a:pt x="1353" y="168"/>
                </a:lnTo>
                <a:lnTo>
                  <a:pt x="1386" y="193"/>
                </a:lnTo>
                <a:lnTo>
                  <a:pt x="1416" y="219"/>
                </a:lnTo>
                <a:lnTo>
                  <a:pt x="1446" y="247"/>
                </a:lnTo>
                <a:lnTo>
                  <a:pt x="1473" y="277"/>
                </a:lnTo>
                <a:lnTo>
                  <a:pt x="1500" y="307"/>
                </a:lnTo>
                <a:lnTo>
                  <a:pt x="1525" y="340"/>
                </a:lnTo>
                <a:lnTo>
                  <a:pt x="1549" y="372"/>
                </a:lnTo>
                <a:lnTo>
                  <a:pt x="1571" y="407"/>
                </a:lnTo>
                <a:lnTo>
                  <a:pt x="1591" y="442"/>
                </a:lnTo>
                <a:lnTo>
                  <a:pt x="1610" y="479"/>
                </a:lnTo>
                <a:lnTo>
                  <a:pt x="1627" y="516"/>
                </a:lnTo>
                <a:lnTo>
                  <a:pt x="1642" y="555"/>
                </a:lnTo>
                <a:lnTo>
                  <a:pt x="1655" y="594"/>
                </a:lnTo>
                <a:lnTo>
                  <a:pt x="1667" y="634"/>
                </a:lnTo>
                <a:lnTo>
                  <a:pt x="1676" y="675"/>
                </a:lnTo>
                <a:lnTo>
                  <a:pt x="1684" y="717"/>
                </a:lnTo>
                <a:lnTo>
                  <a:pt x="1688" y="759"/>
                </a:lnTo>
                <a:lnTo>
                  <a:pt x="1692" y="802"/>
                </a:lnTo>
                <a:lnTo>
                  <a:pt x="1693" y="846"/>
                </a:lnTo>
                <a:lnTo>
                  <a:pt x="1692" y="889"/>
                </a:lnTo>
                <a:lnTo>
                  <a:pt x="1688" y="932"/>
                </a:lnTo>
                <a:lnTo>
                  <a:pt x="1684" y="974"/>
                </a:lnTo>
                <a:lnTo>
                  <a:pt x="1676" y="1016"/>
                </a:lnTo>
                <a:lnTo>
                  <a:pt x="1667" y="1057"/>
                </a:lnTo>
                <a:lnTo>
                  <a:pt x="1655" y="1098"/>
                </a:lnTo>
                <a:lnTo>
                  <a:pt x="1642" y="1136"/>
                </a:lnTo>
                <a:lnTo>
                  <a:pt x="1627" y="1175"/>
                </a:lnTo>
                <a:lnTo>
                  <a:pt x="1610" y="1213"/>
                </a:lnTo>
                <a:lnTo>
                  <a:pt x="1591" y="1249"/>
                </a:lnTo>
                <a:lnTo>
                  <a:pt x="1571" y="1284"/>
                </a:lnTo>
                <a:lnTo>
                  <a:pt x="1549" y="1319"/>
                </a:lnTo>
                <a:lnTo>
                  <a:pt x="1525" y="1353"/>
                </a:lnTo>
                <a:lnTo>
                  <a:pt x="1500" y="1384"/>
                </a:lnTo>
                <a:lnTo>
                  <a:pt x="1473" y="1415"/>
                </a:lnTo>
                <a:lnTo>
                  <a:pt x="1446" y="1444"/>
                </a:lnTo>
                <a:lnTo>
                  <a:pt x="1416" y="1473"/>
                </a:lnTo>
                <a:lnTo>
                  <a:pt x="1386" y="1499"/>
                </a:lnTo>
                <a:lnTo>
                  <a:pt x="1353" y="1524"/>
                </a:lnTo>
                <a:lnTo>
                  <a:pt x="1321" y="1547"/>
                </a:lnTo>
                <a:lnTo>
                  <a:pt x="1286" y="1570"/>
                </a:lnTo>
                <a:lnTo>
                  <a:pt x="1250" y="1590"/>
                </a:lnTo>
                <a:lnTo>
                  <a:pt x="1214" y="1609"/>
                </a:lnTo>
                <a:lnTo>
                  <a:pt x="1176" y="1625"/>
                </a:lnTo>
                <a:lnTo>
                  <a:pt x="1138" y="1641"/>
                </a:lnTo>
                <a:lnTo>
                  <a:pt x="1098" y="1654"/>
                </a:lnTo>
                <a:lnTo>
                  <a:pt x="1059" y="1665"/>
                </a:lnTo>
                <a:lnTo>
                  <a:pt x="1018" y="1675"/>
                </a:lnTo>
                <a:lnTo>
                  <a:pt x="976" y="1683"/>
                </a:lnTo>
                <a:lnTo>
                  <a:pt x="934" y="1688"/>
                </a:lnTo>
                <a:lnTo>
                  <a:pt x="890" y="1691"/>
                </a:lnTo>
                <a:lnTo>
                  <a:pt x="847" y="1693"/>
                </a:lnTo>
                <a:lnTo>
                  <a:pt x="803" y="1691"/>
                </a:lnTo>
                <a:lnTo>
                  <a:pt x="761" y="1688"/>
                </a:lnTo>
                <a:lnTo>
                  <a:pt x="717" y="1683"/>
                </a:lnTo>
                <a:lnTo>
                  <a:pt x="676" y="1675"/>
                </a:lnTo>
                <a:lnTo>
                  <a:pt x="636" y="1665"/>
                </a:lnTo>
                <a:lnTo>
                  <a:pt x="595" y="1654"/>
                </a:lnTo>
                <a:lnTo>
                  <a:pt x="555" y="1641"/>
                </a:lnTo>
                <a:lnTo>
                  <a:pt x="517" y="1625"/>
                </a:lnTo>
                <a:lnTo>
                  <a:pt x="479" y="1609"/>
                </a:lnTo>
                <a:lnTo>
                  <a:pt x="443" y="1590"/>
                </a:lnTo>
                <a:lnTo>
                  <a:pt x="407" y="1570"/>
                </a:lnTo>
                <a:lnTo>
                  <a:pt x="374" y="1547"/>
                </a:lnTo>
                <a:lnTo>
                  <a:pt x="340" y="1524"/>
                </a:lnTo>
                <a:lnTo>
                  <a:pt x="309" y="1499"/>
                </a:lnTo>
                <a:lnTo>
                  <a:pt x="277" y="1473"/>
                </a:lnTo>
                <a:lnTo>
                  <a:pt x="249" y="1444"/>
                </a:lnTo>
                <a:lnTo>
                  <a:pt x="220" y="1415"/>
                </a:lnTo>
                <a:lnTo>
                  <a:pt x="193" y="1384"/>
                </a:lnTo>
                <a:lnTo>
                  <a:pt x="168" y="1353"/>
                </a:lnTo>
                <a:lnTo>
                  <a:pt x="145" y="1319"/>
                </a:lnTo>
                <a:lnTo>
                  <a:pt x="122" y="1284"/>
                </a:lnTo>
                <a:lnTo>
                  <a:pt x="102" y="1249"/>
                </a:lnTo>
                <a:lnTo>
                  <a:pt x="84" y="1213"/>
                </a:lnTo>
                <a:lnTo>
                  <a:pt x="67" y="1175"/>
                </a:lnTo>
                <a:lnTo>
                  <a:pt x="51" y="1136"/>
                </a:lnTo>
                <a:lnTo>
                  <a:pt x="38" y="1098"/>
                </a:lnTo>
                <a:lnTo>
                  <a:pt x="26" y="1057"/>
                </a:lnTo>
                <a:lnTo>
                  <a:pt x="18" y="1016"/>
                </a:lnTo>
                <a:lnTo>
                  <a:pt x="9" y="974"/>
                </a:lnTo>
                <a:lnTo>
                  <a:pt x="5" y="932"/>
                </a:lnTo>
                <a:lnTo>
                  <a:pt x="1" y="889"/>
                </a:lnTo>
                <a:lnTo>
                  <a:pt x="0" y="846"/>
                </a:lnTo>
                <a:lnTo>
                  <a:pt x="1" y="802"/>
                </a:lnTo>
                <a:lnTo>
                  <a:pt x="5" y="759"/>
                </a:lnTo>
                <a:lnTo>
                  <a:pt x="9" y="717"/>
                </a:lnTo>
                <a:lnTo>
                  <a:pt x="18" y="675"/>
                </a:lnTo>
                <a:lnTo>
                  <a:pt x="26" y="634"/>
                </a:lnTo>
                <a:lnTo>
                  <a:pt x="38" y="594"/>
                </a:lnTo>
                <a:lnTo>
                  <a:pt x="51" y="555"/>
                </a:lnTo>
                <a:lnTo>
                  <a:pt x="67" y="516"/>
                </a:lnTo>
                <a:lnTo>
                  <a:pt x="84" y="479"/>
                </a:lnTo>
                <a:lnTo>
                  <a:pt x="102" y="442"/>
                </a:lnTo>
                <a:lnTo>
                  <a:pt x="122" y="407"/>
                </a:lnTo>
                <a:lnTo>
                  <a:pt x="145" y="372"/>
                </a:lnTo>
                <a:lnTo>
                  <a:pt x="168" y="340"/>
                </a:lnTo>
                <a:lnTo>
                  <a:pt x="193" y="307"/>
                </a:lnTo>
                <a:lnTo>
                  <a:pt x="220" y="277"/>
                </a:lnTo>
                <a:lnTo>
                  <a:pt x="249" y="247"/>
                </a:lnTo>
                <a:lnTo>
                  <a:pt x="277" y="219"/>
                </a:lnTo>
                <a:lnTo>
                  <a:pt x="309" y="193"/>
                </a:lnTo>
                <a:lnTo>
                  <a:pt x="340" y="168"/>
                </a:lnTo>
                <a:lnTo>
                  <a:pt x="374" y="144"/>
                </a:lnTo>
                <a:lnTo>
                  <a:pt x="407" y="122"/>
                </a:lnTo>
                <a:lnTo>
                  <a:pt x="443" y="102"/>
                </a:lnTo>
                <a:lnTo>
                  <a:pt x="479" y="82"/>
                </a:lnTo>
                <a:lnTo>
                  <a:pt x="517" y="66"/>
                </a:lnTo>
                <a:lnTo>
                  <a:pt x="555" y="51"/>
                </a:lnTo>
                <a:lnTo>
                  <a:pt x="595" y="37"/>
                </a:lnTo>
                <a:lnTo>
                  <a:pt x="636" y="26"/>
                </a:lnTo>
                <a:lnTo>
                  <a:pt x="676" y="16"/>
                </a:lnTo>
                <a:lnTo>
                  <a:pt x="717" y="9"/>
                </a:lnTo>
                <a:lnTo>
                  <a:pt x="761" y="3"/>
                </a:lnTo>
                <a:lnTo>
                  <a:pt x="803" y="1"/>
                </a:lnTo>
                <a:lnTo>
                  <a:pt x="847" y="0"/>
                </a:lnTo>
                <a:close/>
              </a:path>
            </a:pathLst>
          </a:custGeom>
          <a:solidFill>
            <a:srgbClr val="FFC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60840" rIns="122040" bIns="60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Google Shape;229;p20"/>
          <p:cNvSpPr/>
          <p:nvPr/>
        </p:nvSpPr>
        <p:spPr>
          <a:xfrm>
            <a:off x="3872520" y="5328720"/>
            <a:ext cx="474840" cy="474840"/>
          </a:xfrm>
          <a:custGeom>
            <a:avLst/>
            <a:gdLst>
              <a:gd name="textAreaLeft" fmla="*/ 0 w 474840"/>
              <a:gd name="textAreaRight" fmla="*/ 475200 w 474840"/>
              <a:gd name="textAreaTop" fmla="*/ 0 h 474840"/>
              <a:gd name="textAreaBottom" fmla="*/ 475200 h 474840"/>
            </a:gdLst>
            <a:ahLst/>
            <a:cxnLst/>
            <a:rect l="textAreaLeft" t="textAreaTop" r="textAreaRight" b="textAreaBottom"/>
            <a:pathLst>
              <a:path w="1693" h="1693">
                <a:moveTo>
                  <a:pt x="847" y="0"/>
                </a:moveTo>
                <a:lnTo>
                  <a:pt x="890" y="1"/>
                </a:lnTo>
                <a:lnTo>
                  <a:pt x="934" y="3"/>
                </a:lnTo>
                <a:lnTo>
                  <a:pt x="976" y="9"/>
                </a:lnTo>
                <a:lnTo>
                  <a:pt x="1018" y="16"/>
                </a:lnTo>
                <a:lnTo>
                  <a:pt x="1059" y="26"/>
                </a:lnTo>
                <a:lnTo>
                  <a:pt x="1098" y="37"/>
                </a:lnTo>
                <a:lnTo>
                  <a:pt x="1138" y="51"/>
                </a:lnTo>
                <a:lnTo>
                  <a:pt x="1176" y="66"/>
                </a:lnTo>
                <a:lnTo>
                  <a:pt x="1214" y="82"/>
                </a:lnTo>
                <a:lnTo>
                  <a:pt x="1250" y="102"/>
                </a:lnTo>
                <a:lnTo>
                  <a:pt x="1286" y="122"/>
                </a:lnTo>
                <a:lnTo>
                  <a:pt x="1321" y="144"/>
                </a:lnTo>
                <a:lnTo>
                  <a:pt x="1353" y="168"/>
                </a:lnTo>
                <a:lnTo>
                  <a:pt x="1386" y="193"/>
                </a:lnTo>
                <a:lnTo>
                  <a:pt x="1416" y="219"/>
                </a:lnTo>
                <a:lnTo>
                  <a:pt x="1446" y="247"/>
                </a:lnTo>
                <a:lnTo>
                  <a:pt x="1473" y="277"/>
                </a:lnTo>
                <a:lnTo>
                  <a:pt x="1500" y="307"/>
                </a:lnTo>
                <a:lnTo>
                  <a:pt x="1525" y="340"/>
                </a:lnTo>
                <a:lnTo>
                  <a:pt x="1549" y="372"/>
                </a:lnTo>
                <a:lnTo>
                  <a:pt x="1571" y="407"/>
                </a:lnTo>
                <a:lnTo>
                  <a:pt x="1591" y="442"/>
                </a:lnTo>
                <a:lnTo>
                  <a:pt x="1610" y="479"/>
                </a:lnTo>
                <a:lnTo>
                  <a:pt x="1627" y="516"/>
                </a:lnTo>
                <a:lnTo>
                  <a:pt x="1642" y="555"/>
                </a:lnTo>
                <a:lnTo>
                  <a:pt x="1655" y="594"/>
                </a:lnTo>
                <a:lnTo>
                  <a:pt x="1667" y="634"/>
                </a:lnTo>
                <a:lnTo>
                  <a:pt x="1676" y="675"/>
                </a:lnTo>
                <a:lnTo>
                  <a:pt x="1684" y="717"/>
                </a:lnTo>
                <a:lnTo>
                  <a:pt x="1688" y="759"/>
                </a:lnTo>
                <a:lnTo>
                  <a:pt x="1692" y="802"/>
                </a:lnTo>
                <a:lnTo>
                  <a:pt x="1693" y="846"/>
                </a:lnTo>
                <a:lnTo>
                  <a:pt x="1692" y="889"/>
                </a:lnTo>
                <a:lnTo>
                  <a:pt x="1688" y="932"/>
                </a:lnTo>
                <a:lnTo>
                  <a:pt x="1684" y="974"/>
                </a:lnTo>
                <a:lnTo>
                  <a:pt x="1676" y="1016"/>
                </a:lnTo>
                <a:lnTo>
                  <a:pt x="1667" y="1057"/>
                </a:lnTo>
                <a:lnTo>
                  <a:pt x="1655" y="1098"/>
                </a:lnTo>
                <a:lnTo>
                  <a:pt x="1642" y="1136"/>
                </a:lnTo>
                <a:lnTo>
                  <a:pt x="1627" y="1175"/>
                </a:lnTo>
                <a:lnTo>
                  <a:pt x="1610" y="1213"/>
                </a:lnTo>
                <a:lnTo>
                  <a:pt x="1591" y="1249"/>
                </a:lnTo>
                <a:lnTo>
                  <a:pt x="1571" y="1284"/>
                </a:lnTo>
                <a:lnTo>
                  <a:pt x="1549" y="1319"/>
                </a:lnTo>
                <a:lnTo>
                  <a:pt x="1525" y="1353"/>
                </a:lnTo>
                <a:lnTo>
                  <a:pt x="1500" y="1384"/>
                </a:lnTo>
                <a:lnTo>
                  <a:pt x="1473" y="1415"/>
                </a:lnTo>
                <a:lnTo>
                  <a:pt x="1446" y="1444"/>
                </a:lnTo>
                <a:lnTo>
                  <a:pt x="1416" y="1473"/>
                </a:lnTo>
                <a:lnTo>
                  <a:pt x="1386" y="1499"/>
                </a:lnTo>
                <a:lnTo>
                  <a:pt x="1353" y="1524"/>
                </a:lnTo>
                <a:lnTo>
                  <a:pt x="1321" y="1547"/>
                </a:lnTo>
                <a:lnTo>
                  <a:pt x="1286" y="1570"/>
                </a:lnTo>
                <a:lnTo>
                  <a:pt x="1250" y="1590"/>
                </a:lnTo>
                <a:lnTo>
                  <a:pt x="1214" y="1609"/>
                </a:lnTo>
                <a:lnTo>
                  <a:pt x="1176" y="1625"/>
                </a:lnTo>
                <a:lnTo>
                  <a:pt x="1138" y="1641"/>
                </a:lnTo>
                <a:lnTo>
                  <a:pt x="1098" y="1654"/>
                </a:lnTo>
                <a:lnTo>
                  <a:pt x="1059" y="1665"/>
                </a:lnTo>
                <a:lnTo>
                  <a:pt x="1018" y="1675"/>
                </a:lnTo>
                <a:lnTo>
                  <a:pt x="976" y="1683"/>
                </a:lnTo>
                <a:lnTo>
                  <a:pt x="934" y="1688"/>
                </a:lnTo>
                <a:lnTo>
                  <a:pt x="890" y="1691"/>
                </a:lnTo>
                <a:lnTo>
                  <a:pt x="847" y="1693"/>
                </a:lnTo>
                <a:lnTo>
                  <a:pt x="803" y="1691"/>
                </a:lnTo>
                <a:lnTo>
                  <a:pt x="761" y="1688"/>
                </a:lnTo>
                <a:lnTo>
                  <a:pt x="717" y="1683"/>
                </a:lnTo>
                <a:lnTo>
                  <a:pt x="676" y="1675"/>
                </a:lnTo>
                <a:lnTo>
                  <a:pt x="636" y="1665"/>
                </a:lnTo>
                <a:lnTo>
                  <a:pt x="595" y="1654"/>
                </a:lnTo>
                <a:lnTo>
                  <a:pt x="555" y="1641"/>
                </a:lnTo>
                <a:lnTo>
                  <a:pt x="517" y="1625"/>
                </a:lnTo>
                <a:lnTo>
                  <a:pt x="479" y="1609"/>
                </a:lnTo>
                <a:lnTo>
                  <a:pt x="443" y="1590"/>
                </a:lnTo>
                <a:lnTo>
                  <a:pt x="407" y="1570"/>
                </a:lnTo>
                <a:lnTo>
                  <a:pt x="374" y="1547"/>
                </a:lnTo>
                <a:lnTo>
                  <a:pt x="340" y="1524"/>
                </a:lnTo>
                <a:lnTo>
                  <a:pt x="309" y="1499"/>
                </a:lnTo>
                <a:lnTo>
                  <a:pt x="277" y="1473"/>
                </a:lnTo>
                <a:lnTo>
                  <a:pt x="249" y="1444"/>
                </a:lnTo>
                <a:lnTo>
                  <a:pt x="220" y="1415"/>
                </a:lnTo>
                <a:lnTo>
                  <a:pt x="193" y="1384"/>
                </a:lnTo>
                <a:lnTo>
                  <a:pt x="168" y="1353"/>
                </a:lnTo>
                <a:lnTo>
                  <a:pt x="145" y="1319"/>
                </a:lnTo>
                <a:lnTo>
                  <a:pt x="122" y="1284"/>
                </a:lnTo>
                <a:lnTo>
                  <a:pt x="102" y="1249"/>
                </a:lnTo>
                <a:lnTo>
                  <a:pt x="84" y="1213"/>
                </a:lnTo>
                <a:lnTo>
                  <a:pt x="67" y="1175"/>
                </a:lnTo>
                <a:lnTo>
                  <a:pt x="51" y="1136"/>
                </a:lnTo>
                <a:lnTo>
                  <a:pt x="38" y="1098"/>
                </a:lnTo>
                <a:lnTo>
                  <a:pt x="26" y="1057"/>
                </a:lnTo>
                <a:lnTo>
                  <a:pt x="18" y="1016"/>
                </a:lnTo>
                <a:lnTo>
                  <a:pt x="9" y="974"/>
                </a:lnTo>
                <a:lnTo>
                  <a:pt x="5" y="932"/>
                </a:lnTo>
                <a:lnTo>
                  <a:pt x="1" y="889"/>
                </a:lnTo>
                <a:lnTo>
                  <a:pt x="0" y="846"/>
                </a:lnTo>
                <a:lnTo>
                  <a:pt x="1" y="802"/>
                </a:lnTo>
                <a:lnTo>
                  <a:pt x="5" y="759"/>
                </a:lnTo>
                <a:lnTo>
                  <a:pt x="9" y="717"/>
                </a:lnTo>
                <a:lnTo>
                  <a:pt x="18" y="675"/>
                </a:lnTo>
                <a:lnTo>
                  <a:pt x="26" y="634"/>
                </a:lnTo>
                <a:lnTo>
                  <a:pt x="38" y="594"/>
                </a:lnTo>
                <a:lnTo>
                  <a:pt x="51" y="555"/>
                </a:lnTo>
                <a:lnTo>
                  <a:pt x="67" y="516"/>
                </a:lnTo>
                <a:lnTo>
                  <a:pt x="84" y="479"/>
                </a:lnTo>
                <a:lnTo>
                  <a:pt x="102" y="442"/>
                </a:lnTo>
                <a:lnTo>
                  <a:pt x="122" y="407"/>
                </a:lnTo>
                <a:lnTo>
                  <a:pt x="145" y="372"/>
                </a:lnTo>
                <a:lnTo>
                  <a:pt x="168" y="340"/>
                </a:lnTo>
                <a:lnTo>
                  <a:pt x="193" y="307"/>
                </a:lnTo>
                <a:lnTo>
                  <a:pt x="220" y="277"/>
                </a:lnTo>
                <a:lnTo>
                  <a:pt x="249" y="247"/>
                </a:lnTo>
                <a:lnTo>
                  <a:pt x="277" y="219"/>
                </a:lnTo>
                <a:lnTo>
                  <a:pt x="309" y="193"/>
                </a:lnTo>
                <a:lnTo>
                  <a:pt x="340" y="168"/>
                </a:lnTo>
                <a:lnTo>
                  <a:pt x="374" y="144"/>
                </a:lnTo>
                <a:lnTo>
                  <a:pt x="407" y="122"/>
                </a:lnTo>
                <a:lnTo>
                  <a:pt x="443" y="102"/>
                </a:lnTo>
                <a:lnTo>
                  <a:pt x="479" y="82"/>
                </a:lnTo>
                <a:lnTo>
                  <a:pt x="517" y="66"/>
                </a:lnTo>
                <a:lnTo>
                  <a:pt x="555" y="51"/>
                </a:lnTo>
                <a:lnTo>
                  <a:pt x="595" y="37"/>
                </a:lnTo>
                <a:lnTo>
                  <a:pt x="636" y="26"/>
                </a:lnTo>
                <a:lnTo>
                  <a:pt x="676" y="16"/>
                </a:lnTo>
                <a:lnTo>
                  <a:pt x="717" y="9"/>
                </a:lnTo>
                <a:lnTo>
                  <a:pt x="761" y="3"/>
                </a:lnTo>
                <a:lnTo>
                  <a:pt x="803" y="1"/>
                </a:lnTo>
                <a:lnTo>
                  <a:pt x="847" y="0"/>
                </a:lnTo>
                <a:close/>
              </a:path>
            </a:pathLst>
          </a:custGeom>
          <a:solidFill>
            <a:srgbClr val="FFC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60840" rIns="122040" bIns="60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230;p20"/>
          <p:cNvSpPr/>
          <p:nvPr/>
        </p:nvSpPr>
        <p:spPr>
          <a:xfrm>
            <a:off x="686880" y="1560600"/>
            <a:ext cx="3106440" cy="379800"/>
          </a:xfrm>
          <a:custGeom>
            <a:avLst/>
            <a:gdLst>
              <a:gd name="textAreaLeft" fmla="*/ 0 w 3106440"/>
              <a:gd name="textAreaRight" fmla="*/ 3106800 w 3106440"/>
              <a:gd name="textAreaTop" fmla="*/ 0 h 379800"/>
              <a:gd name="textAreaBottom" fmla="*/ 380160 h 379800"/>
            </a:gdLst>
            <a:ahLst/>
            <a:cxnLst/>
            <a:rect l="textAreaLeft" t="textAreaTop" r="textAreaRight" b="textAreaBottom"/>
            <a:pathLst>
              <a:path w="176523" h="21600">
                <a:moveTo>
                  <a:pt x="0" y="0"/>
                </a:moveTo>
                <a:arcTo wR="0" hR="0" stAng="16200000" swAng="-5400000"/>
                <a:lnTo>
                  <a:pt x="0" y="21600"/>
                </a:lnTo>
                <a:arcTo wR="0" hR="0" stAng="10800000" swAng="-5400000"/>
                <a:lnTo>
                  <a:pt x="176523" y="21600"/>
                </a:lnTo>
                <a:arcTo wR="0" hR="0" stAng="16200000" swAng="-5400000"/>
                <a:lnTo>
                  <a:pt x="176523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419" sz="1870" b="1" strike="noStrike" spc="-1">
                <a:solidFill>
                  <a:srgbClr val="003264"/>
                </a:solidFill>
                <a:latin typeface="Microsoft Yahei"/>
                <a:ea typeface="Microsoft Yahei"/>
              </a:rPr>
              <a:t>GRU vs Markov</a:t>
            </a:r>
            <a:endParaRPr lang="en-US" sz="18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231;p20"/>
          <p:cNvSpPr/>
          <p:nvPr/>
        </p:nvSpPr>
        <p:spPr>
          <a:xfrm>
            <a:off x="686880" y="1969920"/>
            <a:ext cx="3078720" cy="584640"/>
          </a:xfrm>
          <a:custGeom>
            <a:avLst/>
            <a:gdLst>
              <a:gd name="textAreaLeft" fmla="*/ 0 w 3078720"/>
              <a:gd name="textAreaRight" fmla="*/ 3079080 w 3078720"/>
              <a:gd name="textAreaTop" fmla="*/ 0 h 584640"/>
              <a:gd name="textAreaBottom" fmla="*/ 585000 h 584640"/>
            </a:gdLst>
            <a:ahLst/>
            <a:cxnLst/>
            <a:rect l="textAreaLeft" t="textAreaTop" r="textAreaRight" b="textAreaBottom"/>
            <a:pathLst>
              <a:path w="113689" h="21600">
                <a:moveTo>
                  <a:pt x="0" y="0"/>
                </a:moveTo>
                <a:arcTo wR="0" hR="0" stAng="16200000" swAng="-5400000"/>
                <a:lnTo>
                  <a:pt x="0" y="21600"/>
                </a:lnTo>
                <a:arcTo wR="0" hR="0" stAng="10800000" swAng="-5400000"/>
                <a:lnTo>
                  <a:pt x="113689" y="21600"/>
                </a:lnTo>
                <a:arcTo wR="0" hR="0" stAng="16200000" swAng="-5400000"/>
                <a:lnTo>
                  <a:pt x="113689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419" sz="1600" b="0" strike="noStrike" spc="-1">
                <a:solidFill>
                  <a:srgbClr val="3F3F3F"/>
                </a:solidFill>
                <a:latin typeface="Microsoft Yahei"/>
                <a:ea typeface="Microsoft Yahei"/>
              </a:rPr>
              <a:t>GRU alcanza MRR 0.86 frente a 0.73 de cadenas de Markov, capturando dependencias a largo plazo.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Google Shape;232;p20"/>
          <p:cNvSpPr/>
          <p:nvPr/>
        </p:nvSpPr>
        <p:spPr>
          <a:xfrm>
            <a:off x="686880" y="5073120"/>
            <a:ext cx="3106440" cy="379800"/>
          </a:xfrm>
          <a:custGeom>
            <a:avLst/>
            <a:gdLst>
              <a:gd name="textAreaLeft" fmla="*/ 0 w 3106440"/>
              <a:gd name="textAreaRight" fmla="*/ 3106800 w 3106440"/>
              <a:gd name="textAreaTop" fmla="*/ 0 h 379800"/>
              <a:gd name="textAreaBottom" fmla="*/ 380160 h 379800"/>
            </a:gdLst>
            <a:ahLst/>
            <a:cxnLst/>
            <a:rect l="textAreaLeft" t="textAreaTop" r="textAreaRight" b="textAreaBottom"/>
            <a:pathLst>
              <a:path w="176523" h="21600">
                <a:moveTo>
                  <a:pt x="0" y="0"/>
                </a:moveTo>
                <a:arcTo wR="0" hR="0" stAng="16200000" swAng="-5400000"/>
                <a:lnTo>
                  <a:pt x="0" y="21600"/>
                </a:lnTo>
                <a:arcTo wR="0" hR="0" stAng="10800000" swAng="-5400000"/>
                <a:lnTo>
                  <a:pt x="176523" y="21600"/>
                </a:lnTo>
                <a:arcTo wR="0" hR="0" stAng="16200000" swAng="-5400000"/>
                <a:lnTo>
                  <a:pt x="176523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419" sz="1870" b="1" strike="noStrike" spc="-1">
                <a:solidFill>
                  <a:srgbClr val="003264"/>
                </a:solidFill>
                <a:latin typeface="Microsoft Yahei"/>
                <a:ea typeface="Microsoft Yahei"/>
              </a:rPr>
              <a:t>Roles Lineales</a:t>
            </a:r>
            <a:endParaRPr lang="en-US" sz="18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233;p20"/>
          <p:cNvSpPr/>
          <p:nvPr/>
        </p:nvSpPr>
        <p:spPr>
          <a:xfrm>
            <a:off x="686880" y="5482080"/>
            <a:ext cx="3078720" cy="584640"/>
          </a:xfrm>
          <a:custGeom>
            <a:avLst/>
            <a:gdLst>
              <a:gd name="textAreaLeft" fmla="*/ 0 w 3078720"/>
              <a:gd name="textAreaRight" fmla="*/ 3079080 w 3078720"/>
              <a:gd name="textAreaTop" fmla="*/ 0 h 584640"/>
              <a:gd name="textAreaBottom" fmla="*/ 585000 h 584640"/>
            </a:gdLst>
            <a:ahLst/>
            <a:cxnLst/>
            <a:rect l="textAreaLeft" t="textAreaTop" r="textAreaRight" b="textAreaBottom"/>
            <a:pathLst>
              <a:path w="113689" h="21600">
                <a:moveTo>
                  <a:pt x="0" y="0"/>
                </a:moveTo>
                <a:arcTo wR="0" hR="0" stAng="16200000" swAng="-5400000"/>
                <a:lnTo>
                  <a:pt x="0" y="21600"/>
                </a:lnTo>
                <a:arcTo wR="0" hR="0" stAng="10800000" swAng="-5400000"/>
                <a:lnTo>
                  <a:pt x="113689" y="21600"/>
                </a:lnTo>
                <a:arcTo wR="0" hR="0" stAng="16200000" swAng="-5400000"/>
                <a:lnTo>
                  <a:pt x="113689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419" sz="1600" b="0" strike="noStrike" spc="-1">
                <a:solidFill>
                  <a:srgbClr val="3F3F3F"/>
                </a:solidFill>
                <a:latin typeface="Microsoft Yahei"/>
                <a:ea typeface="Microsoft Yahei"/>
              </a:rPr>
              <a:t>Logística: -18.08%. Caja: -16.91%.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234;p20"/>
          <p:cNvSpPr/>
          <p:nvPr/>
        </p:nvSpPr>
        <p:spPr>
          <a:xfrm>
            <a:off x="6845039" y="1547280"/>
            <a:ext cx="4272903" cy="379800"/>
          </a:xfrm>
          <a:custGeom>
            <a:avLst/>
            <a:gdLst>
              <a:gd name="textAreaLeft" fmla="*/ 0 w 3106440"/>
              <a:gd name="textAreaRight" fmla="*/ 3106800 w 3106440"/>
              <a:gd name="textAreaTop" fmla="*/ 0 h 379800"/>
              <a:gd name="textAreaBottom" fmla="*/ 380160 h 379800"/>
            </a:gdLst>
            <a:ahLst/>
            <a:cxnLst/>
            <a:rect l="textAreaLeft" t="textAreaTop" r="textAreaRight" b="textAreaBottom"/>
            <a:pathLst>
              <a:path w="176523" h="21600">
                <a:moveTo>
                  <a:pt x="0" y="0"/>
                </a:moveTo>
                <a:arcTo wR="0" hR="0" stAng="16200000" swAng="-5400000"/>
                <a:lnTo>
                  <a:pt x="0" y="21600"/>
                </a:lnTo>
                <a:arcTo wR="0" hR="0" stAng="10800000" swAng="-5400000"/>
                <a:lnTo>
                  <a:pt x="176523" y="21600"/>
                </a:lnTo>
                <a:arcTo wR="0" hR="0" stAng="16200000" swAng="-5400000"/>
                <a:lnTo>
                  <a:pt x="176523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419" sz="1870" b="1" strike="noStrike" spc="-1" dirty="0">
                <a:solidFill>
                  <a:srgbClr val="003264"/>
                </a:solidFill>
                <a:latin typeface="Microsoft Yahei"/>
                <a:ea typeface="Microsoft Yahei"/>
              </a:rPr>
              <a:t>Roles de Alta Entropía</a:t>
            </a:r>
            <a:endParaRPr lang="en-US" sz="187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235;p20"/>
          <p:cNvSpPr/>
          <p:nvPr/>
        </p:nvSpPr>
        <p:spPr>
          <a:xfrm>
            <a:off x="8333640" y="1969920"/>
            <a:ext cx="3078720" cy="584640"/>
          </a:xfrm>
          <a:custGeom>
            <a:avLst/>
            <a:gdLst>
              <a:gd name="textAreaLeft" fmla="*/ 0 w 3078720"/>
              <a:gd name="textAreaRight" fmla="*/ 3079080 w 3078720"/>
              <a:gd name="textAreaTop" fmla="*/ 0 h 584640"/>
              <a:gd name="textAreaBottom" fmla="*/ 585000 h 584640"/>
            </a:gdLst>
            <a:ahLst/>
            <a:cxnLst/>
            <a:rect l="textAreaLeft" t="textAreaTop" r="textAreaRight" b="textAreaBottom"/>
            <a:pathLst>
              <a:path w="113689" h="21600">
                <a:moveTo>
                  <a:pt x="0" y="0"/>
                </a:moveTo>
                <a:arcTo wR="0" hR="0" stAng="16200000" swAng="-5400000"/>
                <a:lnTo>
                  <a:pt x="0" y="21600"/>
                </a:lnTo>
                <a:arcTo wR="0" hR="0" stAng="10800000" swAng="-5400000"/>
                <a:lnTo>
                  <a:pt x="113689" y="21600"/>
                </a:lnTo>
                <a:arcTo wR="0" hR="0" stAng="16200000" swAng="-5400000"/>
                <a:lnTo>
                  <a:pt x="113689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419" sz="1600" b="0" strike="noStrike" spc="-1">
                <a:solidFill>
                  <a:srgbClr val="3F3F3F"/>
                </a:solidFill>
                <a:latin typeface="Microsoft Yahei"/>
                <a:ea typeface="Microsoft Yahei"/>
              </a:rPr>
              <a:t>Administración: -5.69%. Mayor variedad de tareas = menor optimización posible.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236;p20"/>
          <p:cNvSpPr/>
          <p:nvPr/>
        </p:nvSpPr>
        <p:spPr>
          <a:xfrm>
            <a:off x="6966720" y="5192280"/>
            <a:ext cx="4151222" cy="379800"/>
          </a:xfrm>
          <a:custGeom>
            <a:avLst/>
            <a:gdLst>
              <a:gd name="textAreaLeft" fmla="*/ 0 w 3106440"/>
              <a:gd name="textAreaRight" fmla="*/ 3106800 w 3106440"/>
              <a:gd name="textAreaTop" fmla="*/ 0 h 379800"/>
              <a:gd name="textAreaBottom" fmla="*/ 380160 h 379800"/>
            </a:gdLst>
            <a:ahLst/>
            <a:cxnLst/>
            <a:rect l="textAreaLeft" t="textAreaTop" r="textAreaRight" b="textAreaBottom"/>
            <a:pathLst>
              <a:path w="176523" h="21600">
                <a:moveTo>
                  <a:pt x="0" y="0"/>
                </a:moveTo>
                <a:arcTo wR="0" hR="0" stAng="16200000" swAng="-5400000"/>
                <a:lnTo>
                  <a:pt x="0" y="21600"/>
                </a:lnTo>
                <a:arcTo wR="0" hR="0" stAng="10800000" swAng="-5400000"/>
                <a:lnTo>
                  <a:pt x="176523" y="21600"/>
                </a:lnTo>
                <a:arcTo wR="0" hR="0" stAng="16200000" swAng="-5400000"/>
                <a:lnTo>
                  <a:pt x="176523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419" sz="1870" b="1" strike="noStrike" spc="-1" dirty="0">
                <a:solidFill>
                  <a:srgbClr val="003264"/>
                </a:solidFill>
                <a:latin typeface="Microsoft Yahei"/>
                <a:ea typeface="Microsoft Yahei"/>
              </a:rPr>
              <a:t>Seguridad Preservada</a:t>
            </a:r>
            <a:endParaRPr lang="en-US" sz="187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37;p20"/>
          <p:cNvSpPr/>
          <p:nvPr/>
        </p:nvSpPr>
        <p:spPr>
          <a:xfrm>
            <a:off x="8333640" y="5614920"/>
            <a:ext cx="3078720" cy="584640"/>
          </a:xfrm>
          <a:custGeom>
            <a:avLst/>
            <a:gdLst>
              <a:gd name="textAreaLeft" fmla="*/ 0 w 3078720"/>
              <a:gd name="textAreaRight" fmla="*/ 3079080 w 3078720"/>
              <a:gd name="textAreaTop" fmla="*/ 0 h 584640"/>
              <a:gd name="textAreaBottom" fmla="*/ 585000 h 584640"/>
            </a:gdLst>
            <a:ahLst/>
            <a:cxnLst/>
            <a:rect l="textAreaLeft" t="textAreaTop" r="textAreaRight" b="textAreaBottom"/>
            <a:pathLst>
              <a:path w="113689" h="21600">
                <a:moveTo>
                  <a:pt x="0" y="0"/>
                </a:moveTo>
                <a:arcTo wR="0" hR="0" stAng="16200000" swAng="-5400000"/>
                <a:lnTo>
                  <a:pt x="0" y="21600"/>
                </a:lnTo>
                <a:arcTo wR="0" hR="0" stAng="10800000" swAng="-5400000"/>
                <a:lnTo>
                  <a:pt x="113689" y="21600"/>
                </a:lnTo>
                <a:arcTo wR="0" hR="0" stAng="16200000" swAng="-5400000"/>
                <a:lnTo>
                  <a:pt x="113689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419" sz="1600" b="0" strike="noStrike" spc="-1">
                <a:solidFill>
                  <a:srgbClr val="3F3F3F"/>
                </a:solidFill>
                <a:latin typeface="Microsoft Yahei"/>
                <a:ea typeface="Microsoft Yahei"/>
              </a:rPr>
              <a:t>0 violaciones RBAC en 404 sesiones.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38;p20"/>
          <p:cNvSpPr/>
          <p:nvPr/>
        </p:nvSpPr>
        <p:spPr>
          <a:xfrm>
            <a:off x="3885840" y="1854360"/>
            <a:ext cx="351000" cy="420480"/>
          </a:xfrm>
          <a:custGeom>
            <a:avLst/>
            <a:gdLst>
              <a:gd name="textAreaLeft" fmla="*/ 0 w 351000"/>
              <a:gd name="textAreaRight" fmla="*/ 351000 w 351000"/>
              <a:gd name="textAreaTop" fmla="*/ 0 h 420480"/>
              <a:gd name="textAreaBottom" fmla="*/ 420840 h 420480"/>
            </a:gdLst>
            <a:ahLst/>
            <a:cxnLst/>
            <a:rect l="textAreaLeft" t="textAreaTop" r="textAreaRight" b="textAreaBottom"/>
            <a:pathLst>
              <a:path w="21600" h="25871">
                <a:moveTo>
                  <a:pt x="0" y="0"/>
                </a:moveTo>
                <a:arcTo wR="0" hR="0" stAng="16200000" swAng="-5400000"/>
                <a:lnTo>
                  <a:pt x="0" y="25871"/>
                </a:lnTo>
                <a:arcTo wR="0" hR="0" stAng="10800000" swAng="-5400000"/>
                <a:lnTo>
                  <a:pt x="21600" y="25871"/>
                </a:lnTo>
                <a:arcTo wR="0" hR="0" stAng="16200000" swAng="-5400000"/>
                <a:lnTo>
                  <a:pt x="21600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419" sz="2130" b="0" strike="noStrike" spc="-1">
                <a:solidFill>
                  <a:srgbClr val="FFFFFF"/>
                </a:solidFill>
                <a:latin typeface="Impact"/>
                <a:ea typeface="Impact"/>
              </a:rPr>
              <a:t>1</a:t>
            </a:r>
            <a:endParaRPr lang="en-US" sz="2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39;p20"/>
          <p:cNvSpPr/>
          <p:nvPr/>
        </p:nvSpPr>
        <p:spPr>
          <a:xfrm>
            <a:off x="3934440" y="5344560"/>
            <a:ext cx="351000" cy="420480"/>
          </a:xfrm>
          <a:custGeom>
            <a:avLst/>
            <a:gdLst>
              <a:gd name="textAreaLeft" fmla="*/ 0 w 351000"/>
              <a:gd name="textAreaRight" fmla="*/ 351000 w 351000"/>
              <a:gd name="textAreaTop" fmla="*/ 0 h 420480"/>
              <a:gd name="textAreaBottom" fmla="*/ 420840 h 420480"/>
            </a:gdLst>
            <a:ahLst/>
            <a:cxnLst/>
            <a:rect l="textAreaLeft" t="textAreaTop" r="textAreaRight" b="textAreaBottom"/>
            <a:pathLst>
              <a:path w="21600" h="25871">
                <a:moveTo>
                  <a:pt x="0" y="0"/>
                </a:moveTo>
                <a:arcTo wR="0" hR="0" stAng="16200000" swAng="-5400000"/>
                <a:lnTo>
                  <a:pt x="0" y="25871"/>
                </a:lnTo>
                <a:arcTo wR="0" hR="0" stAng="10800000" swAng="-5400000"/>
                <a:lnTo>
                  <a:pt x="21600" y="25871"/>
                </a:lnTo>
                <a:arcTo wR="0" hR="0" stAng="16200000" swAng="-5400000"/>
                <a:lnTo>
                  <a:pt x="21600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419" sz="2130" b="0" strike="noStrike" spc="-1">
                <a:solidFill>
                  <a:srgbClr val="FFFFFF"/>
                </a:solidFill>
                <a:latin typeface="Impact"/>
                <a:ea typeface="Impact"/>
              </a:rPr>
              <a:t>2</a:t>
            </a:r>
            <a:endParaRPr lang="en-US" sz="2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40;p20"/>
          <p:cNvSpPr/>
          <p:nvPr/>
        </p:nvSpPr>
        <p:spPr>
          <a:xfrm>
            <a:off x="7840800" y="1847880"/>
            <a:ext cx="351000" cy="420480"/>
          </a:xfrm>
          <a:custGeom>
            <a:avLst/>
            <a:gdLst>
              <a:gd name="textAreaLeft" fmla="*/ 0 w 351000"/>
              <a:gd name="textAreaRight" fmla="*/ 351000 w 351000"/>
              <a:gd name="textAreaTop" fmla="*/ 0 h 420480"/>
              <a:gd name="textAreaBottom" fmla="*/ 420840 h 420480"/>
            </a:gdLst>
            <a:ahLst/>
            <a:cxnLst/>
            <a:rect l="textAreaLeft" t="textAreaTop" r="textAreaRight" b="textAreaBottom"/>
            <a:pathLst>
              <a:path w="21600" h="25871">
                <a:moveTo>
                  <a:pt x="0" y="0"/>
                </a:moveTo>
                <a:arcTo wR="0" hR="0" stAng="16200000" swAng="-5400000"/>
                <a:lnTo>
                  <a:pt x="0" y="25871"/>
                </a:lnTo>
                <a:arcTo wR="0" hR="0" stAng="10800000" swAng="-5400000"/>
                <a:lnTo>
                  <a:pt x="21600" y="25871"/>
                </a:lnTo>
                <a:arcTo wR="0" hR="0" stAng="16200000" swAng="-5400000"/>
                <a:lnTo>
                  <a:pt x="21600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419" sz="2130" b="0" strike="noStrike" spc="-1">
                <a:solidFill>
                  <a:srgbClr val="FFFFFF"/>
                </a:solidFill>
                <a:latin typeface="Impact"/>
                <a:ea typeface="Impact"/>
              </a:rPr>
              <a:t>3</a:t>
            </a:r>
            <a:endParaRPr lang="en-US" sz="2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241;p20"/>
          <p:cNvSpPr/>
          <p:nvPr/>
        </p:nvSpPr>
        <p:spPr>
          <a:xfrm>
            <a:off x="7853400" y="5336280"/>
            <a:ext cx="351000" cy="420480"/>
          </a:xfrm>
          <a:custGeom>
            <a:avLst/>
            <a:gdLst>
              <a:gd name="textAreaLeft" fmla="*/ 0 w 351000"/>
              <a:gd name="textAreaRight" fmla="*/ 351000 w 351000"/>
              <a:gd name="textAreaTop" fmla="*/ 0 h 420480"/>
              <a:gd name="textAreaBottom" fmla="*/ 420840 h 420480"/>
            </a:gdLst>
            <a:ahLst/>
            <a:cxnLst/>
            <a:rect l="textAreaLeft" t="textAreaTop" r="textAreaRight" b="textAreaBottom"/>
            <a:pathLst>
              <a:path w="21600" h="25871">
                <a:moveTo>
                  <a:pt x="0" y="0"/>
                </a:moveTo>
                <a:arcTo wR="0" hR="0" stAng="16200000" swAng="-5400000"/>
                <a:lnTo>
                  <a:pt x="0" y="25871"/>
                </a:lnTo>
                <a:arcTo wR="0" hR="0" stAng="10800000" swAng="-5400000"/>
                <a:lnTo>
                  <a:pt x="21600" y="25871"/>
                </a:lnTo>
                <a:arcTo wR="0" hR="0" stAng="16200000" swAng="-5400000"/>
                <a:lnTo>
                  <a:pt x="21600" y="0"/>
                </a:lnTo>
                <a:arcTo wR="0" hR="0" stAng="10800000" swAng="-5400000"/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419" sz="2130" b="0" strike="noStrike" spc="-1">
                <a:solidFill>
                  <a:srgbClr val="FFFFFF"/>
                </a:solidFill>
                <a:latin typeface="Impact"/>
                <a:ea typeface="Impact"/>
              </a:rPr>
              <a:t>4</a:t>
            </a:r>
            <a:endParaRPr lang="en-US" sz="213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"/>
          <p:cNvSpPr>
            <a:spLocks noGrp="1"/>
          </p:cNvSpPr>
          <p:nvPr>
            <p:ph type="title"/>
          </p:nvPr>
        </p:nvSpPr>
        <p:spPr>
          <a:xfrm>
            <a:off x="696000" y="320400"/>
            <a:ext cx="10801588" cy="620000"/>
          </a:xfrm>
          <a:prstGeom prst="rect">
            <a:avLst/>
          </a:prstGeom>
          <a:noFill/>
          <a:ln w="25560">
            <a:noFill/>
          </a:ln>
        </p:spPr>
        <p:txBody>
          <a:bodyPr lIns="118080" tIns="60000" rIns="118080" bIns="60000" anchor="t" anchorCtr="1">
            <a:noAutofit/>
          </a:bodyPr>
          <a:lstStyle/>
          <a:p>
            <a:pPr indent="0" algn="ctr">
              <a:lnSpc>
                <a:spcPct val="11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RESULTADOS</a:t>
            </a:r>
          </a:p>
        </p:txBody>
      </p:sp>
      <p:sp>
        <p:nvSpPr>
          <p:cNvPr id="321" name="tb"/>
          <p:cNvSpPr txBox="1"/>
          <p:nvPr/>
        </p:nvSpPr>
        <p:spPr>
          <a:xfrm>
            <a:off x="696000" y="980000"/>
            <a:ext cx="10801588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indent="0" algn="ctr">
              <a:lnSpc>
                <a:spcPct val="105000"/>
              </a:lnSpc>
              <a:buNone/>
            </a:pPr>
            <a:r>
              <a:rPr lang="es-419" sz="2400" b="1" strike="noStrike" spc="-1">
                <a:solidFill>
                  <a:srgbClr val="003264"/>
                </a:solidFill>
                <a:latin typeface="Calibri"/>
                <a:ea typeface="Calibri"/>
              </a:rPr>
              <a:t>El DQN gana en todos los roles, pero no por igual</a:t>
            </a:r>
          </a:p>
        </p:txBody>
      </p:sp>
      <p:graphicFrame>
        <p:nvGraphicFramePr>
          <p:cNvPr id="320" name="tabla"/>
          <p:cNvGraphicFramePr>
            <a:graphicFrameLocks noGrp="1"/>
          </p:cNvGraphicFramePr>
          <p:nvPr/>
        </p:nvGraphicFramePr>
        <p:xfrm>
          <a:off x="696000" y="1700000"/>
          <a:ext cx="6750000" cy="37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419" sz="125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Rol</a:t>
                      </a:r>
                    </a:p>
                  </a:txBody>
                  <a:tcPr marT="27432" marB="27432" anchor="ctr">
                    <a:solidFill>
                      <a:srgbClr val="0032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Estático (M1)</a:t>
                      </a:r>
                    </a:p>
                  </a:txBody>
                  <a:tcPr marT="27432" marB="27432" anchor="ctr">
                    <a:solidFill>
                      <a:srgbClr val="0032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Agente DQN</a:t>
                      </a:r>
                    </a:p>
                  </a:txBody>
                  <a:tcPr marT="27432" marB="27432" anchor="ctr">
                    <a:solidFill>
                      <a:srgbClr val="0032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50" b="1" strike="noStrike" spc="-1">
                          <a:solidFill>
                            <a:srgbClr val="F3C133"/>
                          </a:solidFill>
                          <a:latin typeface="Calibri"/>
                          <a:ea typeface="Calibri"/>
                        </a:rPr>
                        <a:t>Mejora</a:t>
                      </a:r>
                    </a:p>
                  </a:txBody>
                  <a:tcPr marT="27432" marB="27432" anchor="ctr">
                    <a:solidFill>
                      <a:srgbClr val="0032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Administración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0" strike="noStrike" spc="-1">
                          <a:solidFill>
                            <a:srgbClr val="3F3F3F"/>
                          </a:solidFill>
                          <a:latin typeface="Calibri"/>
                          <a:ea typeface="Calibri"/>
                        </a:rPr>
                        <a:t>2.670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2.518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2E7D32"/>
                          </a:solidFill>
                          <a:latin typeface="Calibri"/>
                          <a:ea typeface="Calibri"/>
                        </a:rPr>
                        <a:t>▲ 5.69 %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Ventas</a:t>
                      </a:r>
                    </a:p>
                  </a:txBody>
                  <a:tcPr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0" strike="noStrike" spc="-1">
                          <a:solidFill>
                            <a:srgbClr val="3F3F3F"/>
                          </a:solidFill>
                          <a:latin typeface="Calibri"/>
                          <a:ea typeface="Calibri"/>
                        </a:rPr>
                        <a:t>2.000</a:t>
                      </a:r>
                    </a:p>
                  </a:txBody>
                  <a:tcPr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1.818</a:t>
                      </a:r>
                    </a:p>
                  </a:txBody>
                  <a:tcPr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2E7D32"/>
                          </a:solidFill>
                          <a:latin typeface="Calibri"/>
                          <a:ea typeface="Calibri"/>
                        </a:rPr>
                        <a:t>▲ 9.07 %</a:t>
                      </a:r>
                    </a:p>
                  </a:txBody>
                  <a:tcPr marT="27432" marB="27432" anchor="ctr"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Compras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0" strike="noStrike" spc="-1">
                          <a:solidFill>
                            <a:srgbClr val="3F3F3F"/>
                          </a:solidFill>
                          <a:latin typeface="Calibri"/>
                          <a:ea typeface="Calibri"/>
                        </a:rPr>
                        <a:t>2.000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1.804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2E7D32"/>
                          </a:solidFill>
                          <a:latin typeface="Calibri"/>
                          <a:ea typeface="Calibri"/>
                        </a:rPr>
                        <a:t>▲ 9.76 %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Reportes</a:t>
                      </a:r>
                    </a:p>
                  </a:txBody>
                  <a:tcPr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0" strike="noStrike" spc="-1">
                          <a:solidFill>
                            <a:srgbClr val="3F3F3F"/>
                          </a:solidFill>
                          <a:latin typeface="Calibri"/>
                          <a:ea typeface="Calibri"/>
                        </a:rPr>
                        <a:t>2.000</a:t>
                      </a:r>
                    </a:p>
                  </a:txBody>
                  <a:tcPr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1.796</a:t>
                      </a:r>
                    </a:p>
                  </a:txBody>
                  <a:tcPr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2E7D32"/>
                          </a:solidFill>
                          <a:latin typeface="Calibri"/>
                          <a:ea typeface="Calibri"/>
                        </a:rPr>
                        <a:t>▲ 10.19 %</a:t>
                      </a:r>
                    </a:p>
                  </a:txBody>
                  <a:tcPr marT="27432" marB="27432" anchor="ctr"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Caja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0" strike="noStrike" spc="-1">
                          <a:solidFill>
                            <a:srgbClr val="3F3F3F"/>
                          </a:solidFill>
                          <a:latin typeface="Calibri"/>
                          <a:ea typeface="Calibri"/>
                        </a:rPr>
                        <a:t>2.000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1.662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2E7D32"/>
                          </a:solidFill>
                          <a:latin typeface="Calibri"/>
                          <a:ea typeface="Calibri"/>
                        </a:rPr>
                        <a:t>▲ 16.91 %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6B5A16"/>
                          </a:solidFill>
                          <a:latin typeface="Calibri"/>
                          <a:ea typeface="Calibri"/>
                        </a:rPr>
                        <a:t>Logística</a:t>
                      </a:r>
                    </a:p>
                  </a:txBody>
                  <a:tcPr marT="27432" marB="27432" anchor="ctr">
                    <a:solidFill>
                      <a:srgbClr val="FDF3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0" strike="noStrike" spc="-1">
                          <a:solidFill>
                            <a:srgbClr val="3F3F3F"/>
                          </a:solidFill>
                          <a:latin typeface="Calibri"/>
                          <a:ea typeface="Calibri"/>
                        </a:rPr>
                        <a:t>2.000</a:t>
                      </a:r>
                    </a:p>
                  </a:txBody>
                  <a:tcPr marT="27432" marB="27432" anchor="ctr">
                    <a:solidFill>
                      <a:srgbClr val="FDF3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003264"/>
                          </a:solidFill>
                          <a:latin typeface="Calibri"/>
                          <a:ea typeface="Calibri"/>
                        </a:rPr>
                        <a:t>1.638</a:t>
                      </a:r>
                    </a:p>
                  </a:txBody>
                  <a:tcPr marT="27432" marB="27432" anchor="ctr">
                    <a:solidFill>
                      <a:srgbClr val="FDF3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8A6D0F"/>
                          </a:solidFill>
                          <a:latin typeface="Calibri"/>
                          <a:ea typeface="Calibri"/>
                        </a:rPr>
                        <a:t>▲ 18.08 %</a:t>
                      </a:r>
                    </a:p>
                  </a:txBody>
                  <a:tcPr marT="27432" marB="27432" anchor="ctr">
                    <a:solidFill>
                      <a:srgbClr val="FDF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419" sz="125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Promedio</a:t>
                      </a:r>
                    </a:p>
                  </a:txBody>
                  <a:tcPr marT="27432" marB="27432" anchor="ctr">
                    <a:solidFill>
                      <a:srgbClr val="2F55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2.111</a:t>
                      </a:r>
                    </a:p>
                  </a:txBody>
                  <a:tcPr marT="27432" marB="27432" anchor="ctr">
                    <a:solidFill>
                      <a:srgbClr val="2F55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1.872</a:t>
                      </a:r>
                    </a:p>
                  </a:txBody>
                  <a:tcPr marT="27432" marB="27432" anchor="ctr">
                    <a:solidFill>
                      <a:srgbClr val="2F55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419" sz="1250" b="1" strike="noStrike" spc="-1">
                          <a:solidFill>
                            <a:srgbClr val="F3C133"/>
                          </a:solidFill>
                          <a:latin typeface="Calibri"/>
                          <a:ea typeface="Calibri"/>
                        </a:rPr>
                        <a:t>▲ 12.05 %</a:t>
                      </a:r>
                    </a:p>
                  </a:txBody>
                  <a:tcPr marT="27432" marB="27432" anchor="ctr">
                    <a:solidFill>
                      <a:srgbClr val="2F55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2" name="card"/>
          <p:cNvSpPr/>
          <p:nvPr/>
        </p:nvSpPr>
        <p:spPr>
          <a:xfrm>
            <a:off x="7776000" y="1700000"/>
            <a:ext cx="3721588" cy="208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9525">
            <a:solidFill>
              <a:srgbClr val="D9E2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323" name="tb"/>
          <p:cNvSpPr txBox="1"/>
          <p:nvPr/>
        </p:nvSpPr>
        <p:spPr>
          <a:xfrm>
            <a:off x="8036000" y="1930000"/>
            <a:ext cx="3201588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0000"/>
              </a:lnSpc>
              <a:buNone/>
            </a:pPr>
            <a:r>
              <a:rPr lang="es-419" sz="1400" b="1" strike="noStrike" spc="-1">
                <a:solidFill>
                  <a:srgbClr val="003264"/>
                </a:solidFill>
                <a:latin typeface="Calibri"/>
                <a:ea typeface="Calibri"/>
              </a:rPr>
              <a:t>¿Por qué Administración mejora menos?</a:t>
            </a:r>
          </a:p>
        </p:txBody>
      </p:sp>
      <p:sp>
        <p:nvSpPr>
          <p:cNvPr id="324" name="tb"/>
          <p:cNvSpPr txBox="1"/>
          <p:nvPr/>
        </p:nvSpPr>
        <p:spPr>
          <a:xfrm>
            <a:off x="8036000" y="2410000"/>
            <a:ext cx="3201588" cy="1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20000"/>
              </a:lnSpc>
              <a:buNone/>
            </a:pPr>
            <a:r>
              <a:rPr lang="es-419" sz="1250" b="0" strike="noStrike" spc="-1">
                <a:solidFill>
                  <a:srgbClr val="3F3F3F"/>
                </a:solidFill>
                <a:latin typeface="Calibri"/>
                <a:ea typeface="Calibri"/>
              </a:rPr>
              <a:t>Es un rol de </a:t>
            </a:r>
            <a:r>
              <a:rPr lang="es-419" sz="1250" b="1" strike="noStrike" spc="-1">
                <a:solidFill>
                  <a:srgbClr val="003264"/>
                </a:solidFill>
                <a:latin typeface="Calibri"/>
                <a:ea typeface="Calibri"/>
              </a:rPr>
              <a:t>alta entropía</a:t>
            </a:r>
            <a:r>
              <a:rPr lang="es-419" sz="1250" b="0" strike="noStrike" spc="-1">
                <a:solidFill>
                  <a:srgbClr val="3F3F3F"/>
                </a:solidFill>
                <a:latin typeface="Calibri"/>
                <a:ea typeface="Calibri"/>
              </a:rPr>
              <a:t>: tareas variadas y poco repetitivas, sin una función que domine la raíz. Y sus </a:t>
            </a:r>
            <a:r>
              <a:rPr lang="es-419" sz="1250" b="1" strike="noStrike" spc="-1">
                <a:solidFill>
                  <a:srgbClr val="003264"/>
                </a:solidFill>
                <a:latin typeface="Calibri"/>
                <a:ea typeface="Calibri"/>
              </a:rPr>
              <a:t>permisos RBAC cruzados</a:t>
            </a:r>
            <a:r>
              <a:rPr lang="es-419" sz="1250" b="0" strike="noStrike" spc="-1">
                <a:solidFill>
                  <a:srgbClr val="3F3F3F"/>
                </a:solidFill>
                <a:latin typeface="Calibri"/>
                <a:ea typeface="Calibri"/>
              </a:rPr>
              <a:t> reducen el espacio de reordenamiento permitido sin violar la seguridad.</a:t>
            </a:r>
          </a:p>
        </p:txBody>
      </p:sp>
      <p:sp>
        <p:nvSpPr>
          <p:cNvPr id="325" name="card"/>
          <p:cNvSpPr/>
          <p:nvPr/>
        </p:nvSpPr>
        <p:spPr>
          <a:xfrm>
            <a:off x="7776000" y="3970000"/>
            <a:ext cx="3721588" cy="1870000"/>
          </a:xfrm>
          <a:prstGeom prst="roundRect">
            <a:avLst>
              <a:gd name="adj" fmla="val 5000"/>
            </a:avLst>
          </a:prstGeom>
          <a:solidFill>
            <a:srgbClr val="00326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419"/>
          </a:p>
        </p:txBody>
      </p:sp>
      <p:sp>
        <p:nvSpPr>
          <p:cNvPr id="326" name="tb"/>
          <p:cNvSpPr txBox="1"/>
          <p:nvPr/>
        </p:nvSpPr>
        <p:spPr>
          <a:xfrm>
            <a:off x="8036000" y="4220000"/>
            <a:ext cx="3201588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10000"/>
              </a:lnSpc>
              <a:buNone/>
            </a:pPr>
            <a:r>
              <a:rPr lang="es-419" sz="1350" b="1" strike="noStrike" spc="-1">
                <a:solidFill>
                  <a:srgbClr val="F3C133"/>
                </a:solidFill>
                <a:latin typeface="Calibri"/>
                <a:ea typeface="Calibri"/>
              </a:rPr>
              <a:t>En el otro extremo: Logística</a:t>
            </a:r>
          </a:p>
        </p:txBody>
      </p:sp>
      <p:sp>
        <p:nvSpPr>
          <p:cNvPr id="327" name="tb"/>
          <p:cNvSpPr txBox="1"/>
          <p:nvPr/>
        </p:nvSpPr>
        <p:spPr>
          <a:xfrm>
            <a:off x="8036000" y="4670000"/>
            <a:ext cx="3201588" cy="1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lnSpc>
                <a:spcPct val="120000"/>
              </a:lnSpc>
              <a:buNone/>
            </a:pPr>
            <a:r>
              <a:rPr lang="es-419" sz="1250" b="0" strike="noStrike" spc="-1">
                <a:solidFill>
                  <a:srgbClr val="E8EEF5"/>
                </a:solidFill>
                <a:latin typeface="Calibri"/>
                <a:ea typeface="Calibri"/>
              </a:rPr>
              <a:t>Sus rutinas son </a:t>
            </a:r>
            <a:r>
              <a:rPr lang="es-419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lineales y muy secuenciales</a:t>
            </a:r>
            <a:r>
              <a:rPr lang="es-419" sz="1250" b="0" strike="noStrike" spc="-1">
                <a:solidFill>
                  <a:srgbClr val="E8EEF5"/>
                </a:solidFill>
                <a:latin typeface="Calibri"/>
                <a:ea typeface="Calibri"/>
              </a:rPr>
              <a:t>, así que el agente empuja las funciones más repetidas a la raíz: 18.08% de mejora, casi el doble del promedio.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919880" y="294120"/>
            <a:ext cx="5754960" cy="7009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 anchorCtr="1">
            <a:noAutofit/>
          </a:bodyPr>
          <a:lstStyle/>
          <a:p>
            <a:pPr indent="0" algn="ctr">
              <a:lnSpc>
                <a:spcPct val="12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RESULTADOS — MÉTRICAS CLAVE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247;p21"/>
          <p:cNvSpPr/>
          <p:nvPr/>
        </p:nvSpPr>
        <p:spPr>
          <a:xfrm>
            <a:off x="5886360" y="2661120"/>
            <a:ext cx="2622960" cy="2622960"/>
          </a:xfrm>
          <a:custGeom>
            <a:avLst/>
            <a:gdLst>
              <a:gd name="textAreaLeft" fmla="*/ 384120 w 2622960"/>
              <a:gd name="textAreaRight" fmla="*/ 2238840 w 2622960"/>
              <a:gd name="textAreaTop" fmla="*/ 384120 h 2622960"/>
              <a:gd name="textAreaBottom" fmla="*/ 2238840 h 2622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800" hR="10800" stAng="-10800000" swAng="21550000"/>
                <a:close/>
              </a:path>
            </a:pathLst>
          </a:custGeom>
          <a:solidFill>
            <a:srgbClr val="D8D8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248;p21"/>
          <p:cNvSpPr/>
          <p:nvPr/>
        </p:nvSpPr>
        <p:spPr>
          <a:xfrm>
            <a:off x="6327360" y="3097080"/>
            <a:ext cx="1751760" cy="1751760"/>
          </a:xfrm>
          <a:custGeom>
            <a:avLst/>
            <a:gdLst>
              <a:gd name="textAreaLeft" fmla="*/ 256320 w 1751760"/>
              <a:gd name="textAreaRight" fmla="*/ 1495440 w 1751760"/>
              <a:gd name="textAreaTop" fmla="*/ 256320 h 1751760"/>
              <a:gd name="textAreaBottom" fmla="*/ 1495440 h 17517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800" hR="10800" stAng="-10800000" swAng="21550000"/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249;p21"/>
          <p:cNvSpPr/>
          <p:nvPr/>
        </p:nvSpPr>
        <p:spPr>
          <a:xfrm>
            <a:off x="6841440" y="3616200"/>
            <a:ext cx="716400" cy="716400"/>
          </a:xfrm>
          <a:custGeom>
            <a:avLst/>
            <a:gdLst>
              <a:gd name="textAreaLeft" fmla="*/ 104760 w 716400"/>
              <a:gd name="textAreaRight" fmla="*/ 611640 w 716400"/>
              <a:gd name="textAreaTop" fmla="*/ 104760 h 716400"/>
              <a:gd name="textAreaBottom" fmla="*/ 611640 h 716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800" hR="10800" stAng="-10800000" swAng="21550000"/>
                <a:close/>
              </a:path>
            </a:pathLst>
          </a:custGeom>
          <a:solidFill>
            <a:srgbClr val="D8D8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50;p21"/>
          <p:cNvSpPr/>
          <p:nvPr/>
        </p:nvSpPr>
        <p:spPr>
          <a:xfrm rot="10800000">
            <a:off x="5886360" y="2661120"/>
            <a:ext cx="2622960" cy="2622960"/>
          </a:xfrm>
          <a:custGeom>
            <a:avLst/>
            <a:gdLst>
              <a:gd name="textAreaLeft" fmla="*/ 756720 w 2622960"/>
              <a:gd name="textAreaRight" fmla="*/ 2623320 w 2622960"/>
              <a:gd name="textAreaTop" fmla="*/ 0 h 2622960"/>
              <a:gd name="textAreaBottom" fmla="*/ 2623320 h 2622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6233" y="1013"/>
                </a:moveTo>
                <a:lnTo>
                  <a:pt x="6233" y="1013"/>
                </a:lnTo>
                <a:arcTo wR="0" hR="0" stAng="0" swAng="0"/>
                <a:lnTo>
                  <a:pt x="6233" y="1013"/>
                </a:lnTo>
                <a:arcTo wR="10800" hR="10800" stAng="-6901050" swAng="12341424"/>
                <a:lnTo>
                  <a:pt x="10698" y="19451"/>
                </a:lnTo>
                <a:lnTo>
                  <a:pt x="10698" y="19451"/>
                </a:lnTo>
                <a:arcTo wR="8651" hR="8651" stAng="5440374" swAng="-12341424"/>
                <a:lnTo>
                  <a:pt x="7141" y="2960"/>
                </a:lnTo>
                <a:arcTo wR="0" hR="0" stAng="0" swAng="0"/>
                <a:close/>
              </a:path>
            </a:pathLst>
          </a:custGeom>
          <a:solidFill>
            <a:srgbClr val="00326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Google Shape;251;p21"/>
          <p:cNvSpPr/>
          <p:nvPr/>
        </p:nvSpPr>
        <p:spPr>
          <a:xfrm rot="10800000">
            <a:off x="6325200" y="3099960"/>
            <a:ext cx="1744920" cy="1744920"/>
          </a:xfrm>
          <a:custGeom>
            <a:avLst/>
            <a:gdLst>
              <a:gd name="textAreaLeft" fmla="*/ 279000 w 1744920"/>
              <a:gd name="textAreaRight" fmla="*/ 1745280 w 1744920"/>
              <a:gd name="textAreaTop" fmla="*/ 0 h 1744920"/>
              <a:gd name="textAreaBottom" fmla="*/ 1744920 h 174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3457" y="2880"/>
                </a:moveTo>
                <a:lnTo>
                  <a:pt x="3457" y="2880"/>
                </a:lnTo>
                <a:arcTo wR="0" hR="0" stAng="0" swAng="0"/>
                <a:lnTo>
                  <a:pt x="3457" y="2880"/>
                </a:lnTo>
                <a:arcTo wR="10800" hR="10800" stAng="-7970082" swAng="13360608"/>
                <a:lnTo>
                  <a:pt x="10822" y="18688"/>
                </a:lnTo>
                <a:lnTo>
                  <a:pt x="10822" y="18688"/>
                </a:lnTo>
                <a:arcTo wR="7888" hR="7888" stAng="5390526" swAng="-13360608"/>
                <a:lnTo>
                  <a:pt x="5437" y="5015"/>
                </a:lnTo>
                <a:arcTo wR="0" hR="0" stAng="0" swAng="0"/>
                <a:close/>
              </a:path>
            </a:pathLst>
          </a:custGeom>
          <a:solidFill>
            <a:srgbClr val="003E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252;p21"/>
          <p:cNvSpPr/>
          <p:nvPr/>
        </p:nvSpPr>
        <p:spPr>
          <a:xfrm rot="10800000">
            <a:off x="6845400" y="3619800"/>
            <a:ext cx="704880" cy="704880"/>
          </a:xfrm>
          <a:custGeom>
            <a:avLst/>
            <a:gdLst>
              <a:gd name="textAreaLeft" fmla="*/ 0 w 704880"/>
              <a:gd name="textAreaRight" fmla="*/ 704880 w 704880"/>
              <a:gd name="textAreaTop" fmla="*/ 0 h 704880"/>
              <a:gd name="textAreaBottom" fmla="*/ 704520 h 7048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800" hR="10800" stAng="-10800000" swAng="16036584"/>
                <a:lnTo>
                  <a:pt x="11023" y="15485"/>
                </a:lnTo>
                <a:lnTo>
                  <a:pt x="11023" y="15485"/>
                </a:lnTo>
                <a:arcTo wR="4690" hR="4690" stAng="5236584" swAng="-16036584"/>
                <a:lnTo>
                  <a:pt x="6110" y="10800"/>
                </a:lnTo>
                <a:arcTo wR="0" hR="0" stAng="0" swAng="0"/>
                <a:close/>
              </a:path>
            </a:pathLst>
          </a:custGeom>
          <a:solidFill>
            <a:srgbClr val="00326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Google Shape;253;p21"/>
          <p:cNvSpPr txBox="1"/>
          <p:nvPr/>
        </p:nvSpPr>
        <p:spPr>
          <a:xfrm>
            <a:off x="9816480" y="3150360"/>
            <a:ext cx="721980" cy="29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s-419" sz="1600" b="0" strike="noStrike" spc="-1" dirty="0">
                <a:solidFill>
                  <a:srgbClr val="003264"/>
                </a:solidFill>
                <a:latin typeface="Arial"/>
                <a:ea typeface="Arial"/>
              </a:rPr>
              <a:t>12.05%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254;p21"/>
          <p:cNvSpPr txBox="1"/>
          <p:nvPr/>
        </p:nvSpPr>
        <p:spPr>
          <a:xfrm>
            <a:off x="9816480" y="2172960"/>
            <a:ext cx="721980" cy="29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s-419" sz="1600" b="0" strike="noStrike" spc="-1" dirty="0">
                <a:solidFill>
                  <a:srgbClr val="003264"/>
                </a:solidFill>
                <a:latin typeface="Arial"/>
                <a:ea typeface="Arial"/>
              </a:rPr>
              <a:t>14.3%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255;p21"/>
          <p:cNvSpPr txBox="1"/>
          <p:nvPr/>
        </p:nvSpPr>
        <p:spPr>
          <a:xfrm>
            <a:off x="9816480" y="2661480"/>
            <a:ext cx="721980" cy="29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s-419" sz="1600" b="0" strike="noStrike" spc="-1" dirty="0">
                <a:solidFill>
                  <a:srgbClr val="003264"/>
                </a:solidFill>
                <a:latin typeface="Arial"/>
                <a:ea typeface="Arial"/>
              </a:rPr>
              <a:t>2.3pp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0" name="Google Shape;256;p21"/>
          <p:cNvCxnSpPr/>
          <p:nvPr/>
        </p:nvCxnSpPr>
        <p:spPr>
          <a:xfrm flipV="1">
            <a:off x="7264080" y="2390400"/>
            <a:ext cx="2348280" cy="409320"/>
          </a:xfrm>
          <a:prstGeom prst="bentConnector2">
            <a:avLst/>
          </a:prstGeom>
          <a:ln w="9360">
            <a:solidFill>
              <a:srgbClr val="003264"/>
            </a:solidFill>
            <a:custDash>
              <a:ds d="100000" sp="303846"/>
            </a:custDash>
            <a:miter/>
            <a:headEnd type="triangle" w="med" len="med"/>
            <a:tailEnd type="triangle" w="med" len="med"/>
          </a:ln>
        </p:spPr>
      </p:cxnSp>
      <p:cxnSp>
        <p:nvCxnSpPr>
          <p:cNvPr id="191" name="Google Shape;257;p21"/>
          <p:cNvCxnSpPr/>
          <p:nvPr/>
        </p:nvCxnSpPr>
        <p:spPr>
          <a:xfrm flipV="1">
            <a:off x="7252200" y="2826360"/>
            <a:ext cx="2348280" cy="409320"/>
          </a:xfrm>
          <a:prstGeom prst="bentConnector2">
            <a:avLst/>
          </a:prstGeom>
          <a:ln w="9360">
            <a:solidFill>
              <a:srgbClr val="003E81"/>
            </a:solidFill>
            <a:custDash>
              <a:ds d="100000" sp="303846"/>
            </a:custDash>
            <a:miter/>
            <a:headEnd type="triangle" w="med" len="med"/>
            <a:tailEnd type="triangle" w="med" len="med"/>
          </a:ln>
        </p:spPr>
      </p:cxnSp>
      <p:cxnSp>
        <p:nvCxnSpPr>
          <p:cNvPr id="192" name="Google Shape;258;p21"/>
          <p:cNvCxnSpPr/>
          <p:nvPr/>
        </p:nvCxnSpPr>
        <p:spPr>
          <a:xfrm flipV="1">
            <a:off x="7240320" y="3311280"/>
            <a:ext cx="2348280" cy="409320"/>
          </a:xfrm>
          <a:prstGeom prst="bentConnector2">
            <a:avLst/>
          </a:prstGeom>
          <a:ln w="9360">
            <a:solidFill>
              <a:srgbClr val="003264"/>
            </a:solidFill>
            <a:custDash>
              <a:ds d="100000" sp="303846"/>
            </a:custDash>
            <a:miter/>
            <a:headEnd type="triangle" w="med" len="med"/>
            <a:tailEnd type="triangle" w="med" len="med"/>
          </a:ln>
        </p:spPr>
      </p:cxnSp>
      <p:grpSp>
        <p:nvGrpSpPr>
          <p:cNvPr id="193" name="Google Shape;259;p21"/>
          <p:cNvGrpSpPr/>
          <p:nvPr/>
        </p:nvGrpSpPr>
        <p:grpSpPr>
          <a:xfrm>
            <a:off x="2341080" y="2219400"/>
            <a:ext cx="2763000" cy="713880"/>
            <a:chOff x="2341080" y="2219400"/>
            <a:chExt cx="2763000" cy="713880"/>
          </a:xfrm>
        </p:grpSpPr>
        <p:sp>
          <p:nvSpPr>
            <p:cNvPr id="194" name="Google Shape;260;p21"/>
            <p:cNvSpPr txBox="1"/>
            <p:nvPr/>
          </p:nvSpPr>
          <p:spPr>
            <a:xfrm>
              <a:off x="2341080" y="2219400"/>
              <a:ext cx="1636560" cy="25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s-419" sz="1400" b="0" strike="noStrike" spc="-1">
                  <a:solidFill>
                    <a:srgbClr val="003264"/>
                  </a:solidFill>
                  <a:latin typeface="Arial"/>
                  <a:ea typeface="Arial"/>
                </a:rPr>
                <a:t>Clics (M1)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" name="Google Shape;261;p21"/>
            <p:cNvSpPr txBox="1"/>
            <p:nvPr/>
          </p:nvSpPr>
          <p:spPr>
            <a:xfrm>
              <a:off x="2341080" y="2495520"/>
              <a:ext cx="2763000" cy="437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s-419" sz="800" b="0" strike="noStrike" spc="-1">
                  <a:solidFill>
                    <a:srgbClr val="3F3F3F"/>
                  </a:solidFill>
                  <a:latin typeface="Arial"/>
                  <a:ea typeface="Arial"/>
                </a:rPr>
                <a:t>El agente DQN redujo el promedio de clics de 2.11 a 1.87. Logística alcanzó 18.08% de mejora al priorizar funciones repetitivas.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6" name="Google Shape;262;p21"/>
          <p:cNvSpPr/>
          <p:nvPr/>
        </p:nvSpPr>
        <p:spPr>
          <a:xfrm>
            <a:off x="1857240" y="227268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cxnLst/>
            <a:rect l="textAreaLeft" t="textAreaTop" r="textAreaRight" b="textAreaBottom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0036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1600" tIns="55800" rIns="111600" bIns="558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97" name="Google Shape;263;p21"/>
          <p:cNvGrpSpPr/>
          <p:nvPr/>
        </p:nvGrpSpPr>
        <p:grpSpPr>
          <a:xfrm>
            <a:off x="2341080" y="3368520"/>
            <a:ext cx="2763000" cy="713880"/>
            <a:chOff x="2341080" y="3368520"/>
            <a:chExt cx="2763000" cy="713880"/>
          </a:xfrm>
        </p:grpSpPr>
        <p:sp>
          <p:nvSpPr>
            <p:cNvPr id="198" name="Google Shape;264;p21"/>
            <p:cNvSpPr txBox="1"/>
            <p:nvPr/>
          </p:nvSpPr>
          <p:spPr>
            <a:xfrm>
              <a:off x="2341080" y="3368520"/>
              <a:ext cx="1636560" cy="25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s-419" sz="1400" b="0" strike="noStrike" spc="-1">
                  <a:solidFill>
                    <a:srgbClr val="003264"/>
                  </a:solidFill>
                  <a:latin typeface="Arial"/>
                  <a:ea typeface="Arial"/>
                </a:rPr>
                <a:t>Tiempo (M2)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" name="Google Shape;265;p21"/>
            <p:cNvSpPr txBox="1"/>
            <p:nvPr/>
          </p:nvSpPr>
          <p:spPr>
            <a:xfrm>
              <a:off x="2341080" y="3644640"/>
              <a:ext cx="2763000" cy="437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s-419" sz="800" b="0" strike="noStrike" spc="-1">
                  <a:solidFill>
                    <a:srgbClr val="3F3F3F"/>
                  </a:solidFill>
                  <a:latin typeface="Arial"/>
                  <a:ea typeface="Arial"/>
                </a:rPr>
                <a:t>El tiempo promedio por tarea bajó de 15.40s a 13.20s. La reestructuración reduce la fricción cognitiva, no solo la física.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0" name="Google Shape;266;p21"/>
          <p:cNvSpPr/>
          <p:nvPr/>
        </p:nvSpPr>
        <p:spPr>
          <a:xfrm>
            <a:off x="1857240" y="342180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cxnLst/>
            <a:rect l="textAreaLeft" t="textAreaTop" r="textAreaRight" b="textAreaBottom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0036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1600" tIns="55800" rIns="111600" bIns="558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01" name="Google Shape;267;p21"/>
          <p:cNvGrpSpPr/>
          <p:nvPr/>
        </p:nvGrpSpPr>
        <p:grpSpPr>
          <a:xfrm>
            <a:off x="2341080" y="4394520"/>
            <a:ext cx="2763000" cy="713880"/>
            <a:chOff x="2341080" y="4394520"/>
            <a:chExt cx="2763000" cy="713880"/>
          </a:xfrm>
        </p:grpSpPr>
        <p:sp>
          <p:nvSpPr>
            <p:cNvPr id="202" name="Google Shape;268;p21"/>
            <p:cNvSpPr txBox="1"/>
            <p:nvPr/>
          </p:nvSpPr>
          <p:spPr>
            <a:xfrm>
              <a:off x="2341080" y="4394520"/>
              <a:ext cx="1636560" cy="25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s-419" sz="1400" b="0" strike="noStrike" spc="-1">
                  <a:solidFill>
                    <a:srgbClr val="003264"/>
                  </a:solidFill>
                  <a:latin typeface="Arial"/>
                  <a:ea typeface="Arial"/>
                </a:rPr>
                <a:t>Errores (M3)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Google Shape;269;p21"/>
            <p:cNvSpPr txBox="1"/>
            <p:nvPr/>
          </p:nvSpPr>
          <p:spPr>
            <a:xfrm>
              <a:off x="2341080" y="4670640"/>
              <a:ext cx="2763000" cy="437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s-419" sz="800" b="0" strike="noStrike" spc="-1">
                  <a:solidFill>
                    <a:srgbClr val="3F3F3F"/>
                  </a:solidFill>
                  <a:latin typeface="Arial"/>
                  <a:ea typeface="Arial"/>
                </a:rPr>
                <a:t>La tasa de desorientación bajó de 4.80% a 2.50%. Menos clics retroactivos gracias a la topología adaptada al rol.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4" name="Google Shape;270;p21"/>
          <p:cNvSpPr/>
          <p:nvPr/>
        </p:nvSpPr>
        <p:spPr>
          <a:xfrm>
            <a:off x="1857240" y="444780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cxnLst/>
            <a:rect l="textAreaLeft" t="textAreaTop" r="textAreaRight" b="textAreaBottom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0036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1600" tIns="55800" rIns="111600" bIns="558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919880" y="294120"/>
            <a:ext cx="5754960" cy="7009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 anchorCtr="1">
            <a:noAutofit/>
          </a:bodyPr>
          <a:lstStyle/>
          <a:p>
            <a:pPr indent="0" algn="ctr">
              <a:lnSpc>
                <a:spcPct val="12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CONCLUSIÓN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6" name="Google Shape;276;p22"/>
          <p:cNvCxnSpPr>
            <a:cxnSpLocks/>
          </p:cNvCxnSpPr>
          <p:nvPr/>
        </p:nvCxnSpPr>
        <p:spPr>
          <a:xfrm>
            <a:off x="7465650" y="2672640"/>
            <a:ext cx="8280" cy="865440"/>
          </a:xfrm>
          <a:prstGeom prst="straightConnector1">
            <a:avLst/>
          </a:prstGeom>
          <a:ln w="41400">
            <a:solidFill>
              <a:srgbClr val="003264"/>
            </a:solidFill>
            <a:miter/>
            <a:tailEnd type="triangle" w="med" len="med"/>
          </a:ln>
        </p:spPr>
      </p:cxnSp>
      <p:cxnSp>
        <p:nvCxnSpPr>
          <p:cNvPr id="207" name="Google Shape;277;p22"/>
          <p:cNvCxnSpPr>
            <a:cxnSpLocks/>
          </p:cNvCxnSpPr>
          <p:nvPr/>
        </p:nvCxnSpPr>
        <p:spPr>
          <a:xfrm>
            <a:off x="2576130" y="2486880"/>
            <a:ext cx="360" cy="1051200"/>
          </a:xfrm>
          <a:prstGeom prst="straightConnector1">
            <a:avLst/>
          </a:prstGeom>
          <a:ln w="41400">
            <a:solidFill>
              <a:srgbClr val="003264"/>
            </a:solidFill>
            <a:miter/>
            <a:tailEnd type="triangle" w="med" len="med"/>
          </a:ln>
        </p:spPr>
      </p:cxnSp>
      <p:cxnSp>
        <p:nvCxnSpPr>
          <p:cNvPr id="208" name="Google Shape;278;p22"/>
          <p:cNvCxnSpPr>
            <a:cxnSpLocks/>
          </p:cNvCxnSpPr>
          <p:nvPr/>
        </p:nvCxnSpPr>
        <p:spPr>
          <a:xfrm>
            <a:off x="5042130" y="2486880"/>
            <a:ext cx="360" cy="1051200"/>
          </a:xfrm>
          <a:prstGeom prst="straightConnector1">
            <a:avLst/>
          </a:prstGeom>
          <a:ln w="41400">
            <a:solidFill>
              <a:srgbClr val="003E81"/>
            </a:solidFill>
            <a:miter/>
            <a:tailEnd type="triangle" w="med" len="med"/>
          </a:ln>
        </p:spPr>
      </p:cxnSp>
      <p:cxnSp>
        <p:nvCxnSpPr>
          <p:cNvPr id="209" name="Google Shape;279;p22"/>
          <p:cNvCxnSpPr>
            <a:cxnSpLocks/>
          </p:cNvCxnSpPr>
          <p:nvPr/>
        </p:nvCxnSpPr>
        <p:spPr>
          <a:xfrm>
            <a:off x="9966930" y="2486880"/>
            <a:ext cx="360" cy="1051200"/>
          </a:xfrm>
          <a:prstGeom prst="straightConnector1">
            <a:avLst/>
          </a:prstGeom>
          <a:ln w="41400">
            <a:solidFill>
              <a:srgbClr val="003E81"/>
            </a:solidFill>
            <a:miter/>
            <a:tailEnd type="triangle" w="med" len="med"/>
          </a:ln>
        </p:spPr>
      </p:cxnSp>
      <p:grpSp>
        <p:nvGrpSpPr>
          <p:cNvPr id="210" name="Google Shape;280;p22"/>
          <p:cNvGrpSpPr/>
          <p:nvPr/>
        </p:nvGrpSpPr>
        <p:grpSpPr>
          <a:xfrm>
            <a:off x="1404690" y="3683520"/>
            <a:ext cx="2372400" cy="1865520"/>
            <a:chOff x="1157040" y="4346280"/>
            <a:chExt cx="2372400" cy="1299960"/>
          </a:xfrm>
        </p:grpSpPr>
        <p:sp>
          <p:nvSpPr>
            <p:cNvPr id="211" name="Google Shape;281;p22"/>
            <p:cNvSpPr txBox="1"/>
            <p:nvPr/>
          </p:nvSpPr>
          <p:spPr>
            <a:xfrm>
              <a:off x="1316160" y="4346280"/>
              <a:ext cx="2013840" cy="5792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 anchorCtr="1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419" sz="1600" b="0" strike="noStrike" spc="-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/>
                  <a:ea typeface="Microsoft Yahei"/>
                </a:rPr>
                <a:t>Predicción Profunda</a:t>
              </a:r>
              <a:endParaRPr lang="en-US" sz="1600" b="0" strike="noStrike" spc="-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endParaRPr>
            </a:p>
          </p:txBody>
        </p:sp>
        <p:sp>
          <p:nvSpPr>
            <p:cNvPr id="212" name="Google Shape;282;p22"/>
            <p:cNvSpPr/>
            <p:nvPr/>
          </p:nvSpPr>
          <p:spPr>
            <a:xfrm>
              <a:off x="1157040" y="4630680"/>
              <a:ext cx="2372400" cy="1015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 anchorCtr="1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2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s-419" sz="1200" b="0" strike="noStrike" spc="-1" dirty="0">
                  <a:solidFill>
                    <a:srgbClr val="7F7F7F"/>
                  </a:solidFill>
                  <a:latin typeface="Microsoft Yahei"/>
                  <a:ea typeface="Microsoft Yahei"/>
                </a:rPr>
                <a:t>GRU supera </a:t>
              </a:r>
              <a:r>
                <a:rPr lang="es-419" sz="1200" b="0" strike="noStrike" spc="-1" dirty="0" err="1">
                  <a:solidFill>
                    <a:srgbClr val="7F7F7F"/>
                  </a:solidFill>
                  <a:latin typeface="Microsoft Yahei"/>
                  <a:ea typeface="Microsoft Yahei"/>
                </a:rPr>
                <a:t>baselines</a:t>
              </a:r>
              <a:r>
                <a:rPr lang="es-419" sz="1200" b="0" strike="noStrike" spc="-1" dirty="0">
                  <a:solidFill>
                    <a:srgbClr val="7F7F7F"/>
                  </a:solidFill>
                  <a:latin typeface="Microsoft Yahei"/>
                  <a:ea typeface="Microsoft Yahei"/>
                </a:rPr>
                <a:t> probabilísticos con MRR 0.86, capturando el contexto real del flujo de trabajo.</a:t>
              </a:r>
              <a:endParaRPr lang="en-US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3" name="Google Shape;283;p22"/>
          <p:cNvGrpSpPr/>
          <p:nvPr/>
        </p:nvGrpSpPr>
        <p:grpSpPr>
          <a:xfrm>
            <a:off x="3854850" y="3683520"/>
            <a:ext cx="2372400" cy="1865520"/>
            <a:chOff x="3607200" y="4346280"/>
            <a:chExt cx="2372400" cy="1299960"/>
          </a:xfrm>
        </p:grpSpPr>
        <p:sp>
          <p:nvSpPr>
            <p:cNvPr id="214" name="Google Shape;284;p22"/>
            <p:cNvSpPr txBox="1"/>
            <p:nvPr/>
          </p:nvSpPr>
          <p:spPr>
            <a:xfrm>
              <a:off x="3774600" y="4346280"/>
              <a:ext cx="2013840" cy="5792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 anchorCtr="1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419" sz="1600" b="0" strike="noStrike" spc="-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/>
                  <a:ea typeface="Microsoft Yahei"/>
                </a:rPr>
                <a:t>Optimización DQN</a:t>
              </a:r>
              <a:endParaRPr lang="en-US" sz="1600" b="0" strike="noStrike" spc="-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endParaRPr>
            </a:p>
          </p:txBody>
        </p:sp>
        <p:sp>
          <p:nvSpPr>
            <p:cNvPr id="215" name="Google Shape;285;p22"/>
            <p:cNvSpPr/>
            <p:nvPr/>
          </p:nvSpPr>
          <p:spPr>
            <a:xfrm>
              <a:off x="3607200" y="4630680"/>
              <a:ext cx="2372400" cy="1015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 anchorCtr="1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2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s-419" sz="1200" b="0" strike="noStrike" spc="-1" dirty="0">
                  <a:solidFill>
                    <a:srgbClr val="7F7F7F"/>
                  </a:solidFill>
                  <a:latin typeface="Microsoft Yahei"/>
                  <a:ea typeface="Microsoft Yahei"/>
                </a:rPr>
                <a:t>-12.05% clics, -14.3% tiempo, -2.3pp errores. Política autónoma sin comprometer privacidad.</a:t>
              </a:r>
              <a:endParaRPr lang="en-US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6" name="Google Shape;286;p22"/>
          <p:cNvGrpSpPr/>
          <p:nvPr/>
        </p:nvGrpSpPr>
        <p:grpSpPr>
          <a:xfrm>
            <a:off x="6286290" y="3683520"/>
            <a:ext cx="2372400" cy="1865520"/>
            <a:chOff x="6038640" y="4346280"/>
            <a:chExt cx="2372400" cy="1299960"/>
          </a:xfrm>
        </p:grpSpPr>
        <p:sp>
          <p:nvSpPr>
            <p:cNvPr id="217" name="Google Shape;287;p22"/>
            <p:cNvSpPr txBox="1"/>
            <p:nvPr/>
          </p:nvSpPr>
          <p:spPr>
            <a:xfrm>
              <a:off x="6211080" y="4346280"/>
              <a:ext cx="2013840" cy="5792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 anchorCtr="1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419" sz="1600" b="0" strike="noStrike" spc="-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/>
                  <a:ea typeface="Microsoft Yahei"/>
                </a:rPr>
                <a:t>Seguridad Nativa</a:t>
              </a:r>
              <a:endParaRPr lang="en-US" sz="1600" b="0" strike="noStrike" spc="-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endParaRPr>
            </a:p>
          </p:txBody>
        </p:sp>
        <p:sp>
          <p:nvSpPr>
            <p:cNvPr id="218" name="Google Shape;288;p22"/>
            <p:cNvSpPr/>
            <p:nvPr/>
          </p:nvSpPr>
          <p:spPr>
            <a:xfrm>
              <a:off x="6038640" y="4630680"/>
              <a:ext cx="2372400" cy="1015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 anchorCtr="1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2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s-419" sz="1200" b="0" strike="noStrike" spc="-1" dirty="0">
                  <a:solidFill>
                    <a:srgbClr val="7F7F7F"/>
                  </a:solidFill>
                  <a:latin typeface="Microsoft Yahei"/>
                  <a:ea typeface="Microsoft Yahei"/>
                </a:rPr>
                <a:t>Máscara RBAC matemática integrada. 0 violaciones de acceso en todas las sesiones evaluadas.</a:t>
              </a:r>
              <a:endParaRPr lang="en-US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9" name="Google Shape;289;p22"/>
          <p:cNvGrpSpPr/>
          <p:nvPr/>
        </p:nvGrpSpPr>
        <p:grpSpPr>
          <a:xfrm>
            <a:off x="8800170" y="3683520"/>
            <a:ext cx="2372400" cy="1865520"/>
            <a:chOff x="8552520" y="4346280"/>
            <a:chExt cx="2372400" cy="1299960"/>
          </a:xfrm>
        </p:grpSpPr>
        <p:sp>
          <p:nvSpPr>
            <p:cNvPr id="220" name="Google Shape;290;p22"/>
            <p:cNvSpPr txBox="1"/>
            <p:nvPr/>
          </p:nvSpPr>
          <p:spPr>
            <a:xfrm>
              <a:off x="8706600" y="4346280"/>
              <a:ext cx="2013840" cy="5792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 anchorCtr="1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419" sz="1600" b="0" strike="noStrike" spc="-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/>
                  <a:ea typeface="Microsoft Yahei"/>
                </a:rPr>
                <a:t>Trabajo Futuro</a:t>
              </a:r>
              <a:endParaRPr lang="en-US" sz="1600" b="0" strike="noStrike" spc="-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endParaRPr>
            </a:p>
          </p:txBody>
        </p:sp>
        <p:sp>
          <p:nvSpPr>
            <p:cNvPr id="221" name="Google Shape;291;p22"/>
            <p:cNvSpPr/>
            <p:nvPr/>
          </p:nvSpPr>
          <p:spPr>
            <a:xfrm>
              <a:off x="8552520" y="4630680"/>
              <a:ext cx="2372400" cy="1015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 anchorCtr="1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2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s-419" sz="1200" b="0" strike="noStrike" spc="-1" dirty="0">
                  <a:solidFill>
                    <a:srgbClr val="7F7F7F"/>
                  </a:solidFill>
                  <a:latin typeface="Microsoft Yahei"/>
                  <a:ea typeface="Microsoft Yahei"/>
                </a:rPr>
                <a:t>Validación con usuarios reales, señales de carga cognitiva implícita y MARL para roles múltiples.</a:t>
              </a:r>
              <a:endParaRPr lang="en-US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" name="Google Shape;292;p22"/>
          <p:cNvGrpSpPr/>
          <p:nvPr/>
        </p:nvGrpSpPr>
        <p:grpSpPr>
          <a:xfrm>
            <a:off x="6776610" y="1308960"/>
            <a:ext cx="1375920" cy="1376280"/>
            <a:chOff x="6528960" y="1971720"/>
            <a:chExt cx="1375920" cy="1376280"/>
          </a:xfrm>
        </p:grpSpPr>
        <p:sp>
          <p:nvSpPr>
            <p:cNvPr id="223" name="Google Shape;293;p22"/>
            <p:cNvSpPr/>
            <p:nvPr/>
          </p:nvSpPr>
          <p:spPr>
            <a:xfrm>
              <a:off x="6528960" y="1971720"/>
              <a:ext cx="1375920" cy="1376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326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 anchorCtr="1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4" name="Google Shape;294;p22"/>
            <p:cNvSpPr/>
            <p:nvPr/>
          </p:nvSpPr>
          <p:spPr>
            <a:xfrm>
              <a:off x="6962040" y="2446920"/>
              <a:ext cx="509760" cy="402120"/>
            </a:xfrm>
            <a:custGeom>
              <a:avLst/>
              <a:gdLst>
                <a:gd name="textAreaLeft" fmla="*/ 0 w 509760"/>
                <a:gd name="textAreaRight" fmla="*/ 510120 w 509760"/>
                <a:gd name="textAreaTop" fmla="*/ 0 h 402120"/>
                <a:gd name="textAreaBottom" fmla="*/ 402480 h 402120"/>
              </a:gdLst>
              <a:ahLst/>
              <a:cxnLst/>
              <a:rect l="textAreaLeft" t="textAreaTop" r="textAreaRight" b="textAreaBottom"/>
              <a:pathLst>
                <a:path w="411" h="324">
                  <a:moveTo>
                    <a:pt x="410" y="309"/>
                  </a:moveTo>
                  <a:cubicBezTo>
                    <a:pt x="410" y="46"/>
                    <a:pt x="410" y="46"/>
                    <a:pt x="410" y="46"/>
                  </a:cubicBezTo>
                  <a:cubicBezTo>
                    <a:pt x="410" y="38"/>
                    <a:pt x="403" y="32"/>
                    <a:pt x="395" y="32"/>
                  </a:cubicBezTo>
                  <a:cubicBezTo>
                    <a:pt x="210" y="32"/>
                    <a:pt x="210" y="32"/>
                    <a:pt x="210" y="32"/>
                  </a:cubicBezTo>
                  <a:cubicBezTo>
                    <a:pt x="204" y="32"/>
                    <a:pt x="200" y="21"/>
                    <a:pt x="200" y="17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0" y="7"/>
                    <a:pt x="193" y="0"/>
                    <a:pt x="184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77" y="0"/>
                    <a:pt x="70" y="7"/>
                    <a:pt x="70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70" y="21"/>
                    <a:pt x="66" y="32"/>
                    <a:pt x="60" y="32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52" y="32"/>
                    <a:pt x="46" y="38"/>
                    <a:pt x="46" y="46"/>
                  </a:cubicBezTo>
                  <a:cubicBezTo>
                    <a:pt x="46" y="122"/>
                    <a:pt x="46" y="122"/>
                    <a:pt x="46" y="122"/>
                  </a:cubicBezTo>
                  <a:cubicBezTo>
                    <a:pt x="14" y="122"/>
                    <a:pt x="14" y="122"/>
                    <a:pt x="14" y="122"/>
                  </a:cubicBezTo>
                  <a:cubicBezTo>
                    <a:pt x="14" y="122"/>
                    <a:pt x="0" y="122"/>
                    <a:pt x="5" y="138"/>
                  </a:cubicBezTo>
                  <a:cubicBezTo>
                    <a:pt x="38" y="309"/>
                    <a:pt x="38" y="309"/>
                    <a:pt x="38" y="309"/>
                  </a:cubicBezTo>
                  <a:cubicBezTo>
                    <a:pt x="38" y="317"/>
                    <a:pt x="44" y="324"/>
                    <a:pt x="53" y="324"/>
                  </a:cubicBezTo>
                  <a:cubicBezTo>
                    <a:pt x="403" y="324"/>
                    <a:pt x="403" y="324"/>
                    <a:pt x="403" y="324"/>
                  </a:cubicBezTo>
                  <a:cubicBezTo>
                    <a:pt x="411" y="324"/>
                    <a:pt x="410" y="309"/>
                    <a:pt x="410" y="309"/>
                  </a:cubicBezTo>
                  <a:close/>
                  <a:moveTo>
                    <a:pt x="392" y="144"/>
                  </a:moveTo>
                  <a:cubicBezTo>
                    <a:pt x="392" y="316"/>
                    <a:pt x="392" y="316"/>
                    <a:pt x="392" y="316"/>
                  </a:cubicBezTo>
                  <a:cubicBezTo>
                    <a:pt x="359" y="132"/>
                    <a:pt x="359" y="132"/>
                    <a:pt x="359" y="132"/>
                  </a:cubicBezTo>
                  <a:cubicBezTo>
                    <a:pt x="356" y="122"/>
                    <a:pt x="345" y="123"/>
                    <a:pt x="345" y="123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392" y="64"/>
                    <a:pt x="392" y="64"/>
                    <a:pt x="392" y="64"/>
                  </a:cubicBezTo>
                  <a:lnTo>
                    <a:pt x="392" y="144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62360" tIns="81360" rIns="162360" bIns="8136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5" name="Google Shape;295;p22"/>
          <p:cNvGrpSpPr/>
          <p:nvPr/>
        </p:nvGrpSpPr>
        <p:grpSpPr>
          <a:xfrm>
            <a:off x="1876290" y="1308960"/>
            <a:ext cx="1375920" cy="1376280"/>
            <a:chOff x="1628640" y="1971720"/>
            <a:chExt cx="1375920" cy="1376280"/>
          </a:xfrm>
        </p:grpSpPr>
        <p:sp>
          <p:nvSpPr>
            <p:cNvPr id="226" name="Google Shape;296;p22"/>
            <p:cNvSpPr/>
            <p:nvPr/>
          </p:nvSpPr>
          <p:spPr>
            <a:xfrm>
              <a:off x="1628640" y="1971720"/>
              <a:ext cx="1375920" cy="1376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326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 anchorCtr="1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227" name="Google Shape;297;p22"/>
            <p:cNvGrpSpPr/>
            <p:nvPr/>
          </p:nvGrpSpPr>
          <p:grpSpPr>
            <a:xfrm>
              <a:off x="2067840" y="2373120"/>
              <a:ext cx="514440" cy="497880"/>
              <a:chOff x="2067840" y="2373120"/>
              <a:chExt cx="514440" cy="497880"/>
            </a:xfrm>
          </p:grpSpPr>
          <p:sp>
            <p:nvSpPr>
              <p:cNvPr id="228" name="Google Shape;298;p22"/>
              <p:cNvSpPr/>
              <p:nvPr/>
            </p:nvSpPr>
            <p:spPr>
              <a:xfrm>
                <a:off x="2251440" y="2572920"/>
                <a:ext cx="5868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28800" rIns="162360" bIns="-288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9" name="Google Shape;299;p22"/>
              <p:cNvSpPr/>
              <p:nvPr/>
            </p:nvSpPr>
            <p:spPr>
              <a:xfrm>
                <a:off x="2343240" y="2572920"/>
                <a:ext cx="5868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28800" rIns="162360" bIns="-288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0" name="Google Shape;300;p22"/>
              <p:cNvSpPr/>
              <p:nvPr/>
            </p:nvSpPr>
            <p:spPr>
              <a:xfrm>
                <a:off x="2431440" y="2572920"/>
                <a:ext cx="5868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28800" rIns="162360" bIns="-288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1" name="Google Shape;301;p22"/>
              <p:cNvSpPr/>
              <p:nvPr/>
            </p:nvSpPr>
            <p:spPr>
              <a:xfrm>
                <a:off x="2251440" y="2658240"/>
                <a:ext cx="58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32400" rIns="162360" bIns="-324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2" name="Google Shape;302;p22"/>
              <p:cNvSpPr/>
              <p:nvPr/>
            </p:nvSpPr>
            <p:spPr>
              <a:xfrm>
                <a:off x="2343240" y="2658240"/>
                <a:ext cx="58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32400" rIns="162360" bIns="-324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3" name="Google Shape;303;p22"/>
              <p:cNvSpPr/>
              <p:nvPr/>
            </p:nvSpPr>
            <p:spPr>
              <a:xfrm>
                <a:off x="2431440" y="2658240"/>
                <a:ext cx="58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32400" rIns="162360" bIns="-324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4" name="Google Shape;304;p22"/>
              <p:cNvSpPr/>
              <p:nvPr/>
            </p:nvSpPr>
            <p:spPr>
              <a:xfrm>
                <a:off x="2251440" y="2740320"/>
                <a:ext cx="58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32400" rIns="162360" bIns="-324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5" name="Google Shape;305;p22"/>
              <p:cNvSpPr/>
              <p:nvPr/>
            </p:nvSpPr>
            <p:spPr>
              <a:xfrm>
                <a:off x="2162880" y="2658240"/>
                <a:ext cx="5256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32400" rIns="162360" bIns="-324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6" name="Google Shape;306;p22"/>
              <p:cNvSpPr/>
              <p:nvPr/>
            </p:nvSpPr>
            <p:spPr>
              <a:xfrm>
                <a:off x="2162880" y="2740320"/>
                <a:ext cx="58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32400" rIns="162360" bIns="-324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7" name="Google Shape;307;p22"/>
              <p:cNvSpPr/>
              <p:nvPr/>
            </p:nvSpPr>
            <p:spPr>
              <a:xfrm>
                <a:off x="2343240" y="2740320"/>
                <a:ext cx="58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32400" rIns="162360" bIns="-324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8" name="Google Shape;308;p22"/>
              <p:cNvSpPr/>
              <p:nvPr/>
            </p:nvSpPr>
            <p:spPr>
              <a:xfrm>
                <a:off x="2431440" y="2740320"/>
                <a:ext cx="58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32400" rIns="162360" bIns="-324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9" name="Google Shape;309;p22"/>
              <p:cNvSpPr/>
              <p:nvPr/>
            </p:nvSpPr>
            <p:spPr>
              <a:xfrm>
                <a:off x="2067840" y="2409120"/>
                <a:ext cx="514440" cy="461880"/>
              </a:xfrm>
              <a:custGeom>
                <a:avLst/>
                <a:gdLst>
                  <a:gd name="textAreaLeft" fmla="*/ 0 w 514440"/>
                  <a:gd name="textAreaRight" fmla="*/ 514800 w 514440"/>
                  <a:gd name="textAreaTop" fmla="*/ 0 h 461880"/>
                  <a:gd name="textAreaBottom" fmla="*/ 462240 h 461880"/>
                </a:gdLst>
                <a:ahLst/>
                <a:cxnLst/>
                <a:rect l="textAreaLeft" t="textAreaTop" r="textAreaRight" b="textAreaBottom"/>
                <a:pathLst>
                  <a:path w="157" h="141">
                    <a:moveTo>
                      <a:pt x="157" y="0"/>
                    </a:moveTo>
                    <a:lnTo>
                      <a:pt x="135" y="0"/>
                    </a:lnTo>
                    <a:lnTo>
                      <a:pt x="135" y="15"/>
                    </a:lnTo>
                    <a:lnTo>
                      <a:pt x="114" y="15"/>
                    </a:lnTo>
                    <a:lnTo>
                      <a:pt x="114" y="0"/>
                    </a:lnTo>
                    <a:lnTo>
                      <a:pt x="47" y="0"/>
                    </a:lnTo>
                    <a:lnTo>
                      <a:pt x="47" y="15"/>
                    </a:lnTo>
                    <a:lnTo>
                      <a:pt x="25" y="15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141"/>
                    </a:lnTo>
                    <a:lnTo>
                      <a:pt x="12" y="141"/>
                    </a:lnTo>
                    <a:lnTo>
                      <a:pt x="146" y="141"/>
                    </a:lnTo>
                    <a:lnTo>
                      <a:pt x="157" y="141"/>
                    </a:lnTo>
                    <a:lnTo>
                      <a:pt x="157" y="0"/>
                    </a:lnTo>
                    <a:close/>
                    <a:moveTo>
                      <a:pt x="146" y="129"/>
                    </a:moveTo>
                    <a:lnTo>
                      <a:pt x="12" y="129"/>
                    </a:lnTo>
                    <a:lnTo>
                      <a:pt x="12" y="40"/>
                    </a:lnTo>
                    <a:lnTo>
                      <a:pt x="146" y="40"/>
                    </a:lnTo>
                    <a:lnTo>
                      <a:pt x="146" y="129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81360" rIns="162360" bIns="8136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0" name="Google Shape;310;p22"/>
              <p:cNvSpPr/>
              <p:nvPr/>
            </p:nvSpPr>
            <p:spPr>
              <a:xfrm>
                <a:off x="2166120" y="2373120"/>
                <a:ext cx="4284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9360" rIns="162360" bIns="-936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1" name="Google Shape;311;p22"/>
              <p:cNvSpPr/>
              <p:nvPr/>
            </p:nvSpPr>
            <p:spPr>
              <a:xfrm>
                <a:off x="2451240" y="2373120"/>
                <a:ext cx="4896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2360" tIns="-9360" rIns="162360" bIns="-936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242" name="Google Shape;312;p22"/>
          <p:cNvGrpSpPr/>
          <p:nvPr/>
        </p:nvGrpSpPr>
        <p:grpSpPr>
          <a:xfrm>
            <a:off x="4326450" y="1308960"/>
            <a:ext cx="1375920" cy="1376280"/>
            <a:chOff x="4078800" y="1971720"/>
            <a:chExt cx="1375920" cy="1376280"/>
          </a:xfrm>
        </p:grpSpPr>
        <p:sp>
          <p:nvSpPr>
            <p:cNvPr id="243" name="Google Shape;313;p22"/>
            <p:cNvSpPr/>
            <p:nvPr/>
          </p:nvSpPr>
          <p:spPr>
            <a:xfrm>
              <a:off x="4078800" y="1971720"/>
              <a:ext cx="1375920" cy="1376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3E8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 anchorCtr="1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4" name="Google Shape;314;p22"/>
            <p:cNvSpPr/>
            <p:nvPr/>
          </p:nvSpPr>
          <p:spPr>
            <a:xfrm>
              <a:off x="4478400" y="2415960"/>
              <a:ext cx="589320" cy="471600"/>
            </a:xfrm>
            <a:custGeom>
              <a:avLst/>
              <a:gdLst>
                <a:gd name="textAreaLeft" fmla="*/ 0 w 589320"/>
                <a:gd name="textAreaRight" fmla="*/ 589680 w 589320"/>
                <a:gd name="textAreaTop" fmla="*/ 0 h 471600"/>
                <a:gd name="textAreaBottom" fmla="*/ 471960 h 471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8143" y="10800"/>
                  </a:moveTo>
                  <a:cubicBezTo>
                    <a:pt x="17065" y="10800"/>
                    <a:pt x="16800" y="11898"/>
                    <a:pt x="16709" y="12419"/>
                  </a:cubicBezTo>
                  <a:cubicBezTo>
                    <a:pt x="16115" y="15817"/>
                    <a:pt x="13696" y="18359"/>
                    <a:pt x="10800" y="18359"/>
                  </a:cubicBezTo>
                  <a:cubicBezTo>
                    <a:pt x="9130" y="18359"/>
                    <a:pt x="7618" y="17514"/>
                    <a:pt x="6524" y="16146"/>
                  </a:cubicBezTo>
                  <a:cubicBezTo>
                    <a:pt x="6018" y="15513"/>
                    <a:pt x="5198" y="15513"/>
                    <a:pt x="4691" y="16146"/>
                  </a:cubicBezTo>
                  <a:cubicBezTo>
                    <a:pt x="4185" y="16779"/>
                    <a:pt x="4185" y="17804"/>
                    <a:pt x="4691" y="18437"/>
                  </a:cubicBezTo>
                  <a:cubicBezTo>
                    <a:pt x="6255" y="20391"/>
                    <a:pt x="8415" y="21600"/>
                    <a:pt x="10800" y="21600"/>
                  </a:cubicBezTo>
                  <a:cubicBezTo>
                    <a:pt x="14669" y="21600"/>
                    <a:pt x="17943" y="18421"/>
                    <a:pt x="19043" y="14039"/>
                  </a:cubicBezTo>
                  <a:lnTo>
                    <a:pt x="21600" y="14039"/>
                  </a:lnTo>
                  <a:lnTo>
                    <a:pt x="21600" y="10800"/>
                  </a:lnTo>
                  <a:cubicBezTo>
                    <a:pt x="21600" y="10800"/>
                    <a:pt x="18143" y="10800"/>
                    <a:pt x="18143" y="10800"/>
                  </a:cubicBezTo>
                  <a:close/>
                  <a:moveTo>
                    <a:pt x="4891" y="9180"/>
                  </a:moveTo>
                  <a:cubicBezTo>
                    <a:pt x="5484" y="5783"/>
                    <a:pt x="7904" y="3240"/>
                    <a:pt x="10800" y="3240"/>
                  </a:cubicBezTo>
                  <a:cubicBezTo>
                    <a:pt x="12470" y="3240"/>
                    <a:pt x="13982" y="4086"/>
                    <a:pt x="15076" y="5454"/>
                  </a:cubicBezTo>
                  <a:cubicBezTo>
                    <a:pt x="15582" y="6086"/>
                    <a:pt x="16404" y="6086"/>
                    <a:pt x="16909" y="5454"/>
                  </a:cubicBezTo>
                  <a:cubicBezTo>
                    <a:pt x="17415" y="4821"/>
                    <a:pt x="17415" y="3796"/>
                    <a:pt x="16909" y="3163"/>
                  </a:cubicBezTo>
                  <a:cubicBezTo>
                    <a:pt x="15346" y="1209"/>
                    <a:pt x="13186" y="0"/>
                    <a:pt x="10800" y="0"/>
                  </a:cubicBezTo>
                  <a:cubicBezTo>
                    <a:pt x="6931" y="0"/>
                    <a:pt x="3658" y="3178"/>
                    <a:pt x="2557" y="7560"/>
                  </a:cubicBezTo>
                  <a:lnTo>
                    <a:pt x="0" y="7560"/>
                  </a:lnTo>
                  <a:lnTo>
                    <a:pt x="0" y="10800"/>
                  </a:lnTo>
                  <a:lnTo>
                    <a:pt x="3457" y="10800"/>
                  </a:lnTo>
                  <a:cubicBezTo>
                    <a:pt x="4535" y="10800"/>
                    <a:pt x="4800" y="9702"/>
                    <a:pt x="4891" y="9180"/>
                  </a:cubicBezTo>
                  <a:close/>
                  <a:moveTo>
                    <a:pt x="7343" y="10800"/>
                  </a:moveTo>
                  <a:cubicBezTo>
                    <a:pt x="7343" y="13185"/>
                    <a:pt x="8891" y="15120"/>
                    <a:pt x="10800" y="15120"/>
                  </a:cubicBezTo>
                  <a:cubicBezTo>
                    <a:pt x="12709" y="15120"/>
                    <a:pt x="14255" y="13185"/>
                    <a:pt x="14255" y="10800"/>
                  </a:cubicBezTo>
                  <a:cubicBezTo>
                    <a:pt x="14255" y="8415"/>
                    <a:pt x="12709" y="6480"/>
                    <a:pt x="10800" y="6480"/>
                  </a:cubicBezTo>
                  <a:cubicBezTo>
                    <a:pt x="8891" y="6480"/>
                    <a:pt x="7343" y="8415"/>
                    <a:pt x="7343" y="1080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" name="Google Shape;315;p22"/>
          <p:cNvGrpSpPr/>
          <p:nvPr/>
        </p:nvGrpSpPr>
        <p:grpSpPr>
          <a:xfrm>
            <a:off x="9260250" y="1308960"/>
            <a:ext cx="1375920" cy="1376280"/>
            <a:chOff x="9012600" y="1971720"/>
            <a:chExt cx="1375920" cy="1376280"/>
          </a:xfrm>
        </p:grpSpPr>
        <p:sp>
          <p:nvSpPr>
            <p:cNvPr id="246" name="Google Shape;316;p22"/>
            <p:cNvSpPr/>
            <p:nvPr/>
          </p:nvSpPr>
          <p:spPr>
            <a:xfrm>
              <a:off x="9012600" y="1971720"/>
              <a:ext cx="1375920" cy="1376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3E8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 anchorCtr="1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7" name="Google Shape;317;p22"/>
            <p:cNvSpPr/>
            <p:nvPr/>
          </p:nvSpPr>
          <p:spPr>
            <a:xfrm>
              <a:off x="9472680" y="2336040"/>
              <a:ext cx="483840" cy="619200"/>
            </a:xfrm>
            <a:custGeom>
              <a:avLst/>
              <a:gdLst>
                <a:gd name="textAreaLeft" fmla="*/ 0 w 483840"/>
                <a:gd name="textAreaRight" fmla="*/ 484200 w 483840"/>
                <a:gd name="textAreaTop" fmla="*/ 0 h 619200"/>
                <a:gd name="textAreaBottom" fmla="*/ 619560 h 619200"/>
              </a:gdLst>
              <a:ahLst/>
              <a:cxnLst/>
              <a:rect l="textAreaLeft" t="textAreaTop" r="textAreaRight" b="textAreaBottom"/>
              <a:pathLst>
                <a:path w="104" h="133">
                  <a:moveTo>
                    <a:pt x="104" y="56"/>
                  </a:moveTo>
                  <a:cubicBezTo>
                    <a:pt x="104" y="31"/>
                    <a:pt x="86" y="10"/>
                    <a:pt x="63" y="2"/>
                  </a:cubicBezTo>
                  <a:cubicBezTo>
                    <a:pt x="58" y="0"/>
                    <a:pt x="58" y="5"/>
                    <a:pt x="58" y="5"/>
                  </a:cubicBezTo>
                  <a:cubicBezTo>
                    <a:pt x="58" y="8"/>
                    <a:pt x="59" y="9"/>
                    <a:pt x="60" y="9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12"/>
                    <a:pt x="50" y="11"/>
                    <a:pt x="45" y="11"/>
                  </a:cubicBezTo>
                  <a:cubicBezTo>
                    <a:pt x="20" y="11"/>
                    <a:pt x="0" y="32"/>
                    <a:pt x="0" y="57"/>
                  </a:cubicBezTo>
                  <a:cubicBezTo>
                    <a:pt x="0" y="71"/>
                    <a:pt x="6" y="83"/>
                    <a:pt x="16" y="91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10" y="94"/>
                    <a:pt x="8" y="96"/>
                    <a:pt x="8" y="96"/>
                  </a:cubicBezTo>
                  <a:cubicBezTo>
                    <a:pt x="6" y="98"/>
                    <a:pt x="9" y="100"/>
                    <a:pt x="9" y="100"/>
                  </a:cubicBezTo>
                  <a:cubicBezTo>
                    <a:pt x="17" y="107"/>
                    <a:pt x="28" y="113"/>
                    <a:pt x="39" y="114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12" y="133"/>
                    <a:pt x="30" y="132"/>
                    <a:pt x="30" y="132"/>
                  </a:cubicBezTo>
                  <a:cubicBezTo>
                    <a:pt x="61" y="132"/>
                    <a:pt x="61" y="132"/>
                    <a:pt x="61" y="132"/>
                  </a:cubicBezTo>
                  <a:cubicBezTo>
                    <a:pt x="82" y="132"/>
                    <a:pt x="61" y="128"/>
                    <a:pt x="61" y="128"/>
                  </a:cubicBezTo>
                  <a:cubicBezTo>
                    <a:pt x="50" y="126"/>
                    <a:pt x="50" y="126"/>
                    <a:pt x="50" y="126"/>
                  </a:cubicBezTo>
                  <a:cubicBezTo>
                    <a:pt x="50" y="126"/>
                    <a:pt x="50" y="119"/>
                    <a:pt x="50" y="114"/>
                  </a:cubicBezTo>
                  <a:cubicBezTo>
                    <a:pt x="79" y="111"/>
                    <a:pt x="104" y="85"/>
                    <a:pt x="104" y="56"/>
                  </a:cubicBezTo>
                  <a:close/>
                  <a:moveTo>
                    <a:pt x="49" y="62"/>
                  </a:moveTo>
                  <a:cubicBezTo>
                    <a:pt x="49" y="44"/>
                    <a:pt x="64" y="58"/>
                    <a:pt x="64" y="58"/>
                  </a:cubicBezTo>
                  <a:cubicBezTo>
                    <a:pt x="72" y="63"/>
                    <a:pt x="73" y="53"/>
                    <a:pt x="73" y="53"/>
                  </a:cubicBezTo>
                  <a:cubicBezTo>
                    <a:pt x="79" y="51"/>
                    <a:pt x="79" y="51"/>
                    <a:pt x="79" y="51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70" y="41"/>
                    <a:pt x="69" y="44"/>
                    <a:pt x="71" y="47"/>
                  </a:cubicBezTo>
                  <a:cubicBezTo>
                    <a:pt x="71" y="47"/>
                    <a:pt x="70" y="51"/>
                    <a:pt x="69" y="50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8"/>
                    <a:pt x="62" y="47"/>
                    <a:pt x="59" y="49"/>
                  </a:cubicBezTo>
                  <a:cubicBezTo>
                    <a:pt x="56" y="50"/>
                    <a:pt x="52" y="48"/>
                    <a:pt x="52" y="48"/>
                  </a:cubicBezTo>
                  <a:cubicBezTo>
                    <a:pt x="52" y="48"/>
                    <a:pt x="52" y="46"/>
                    <a:pt x="55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0"/>
                    <a:pt x="57" y="38"/>
                  </a:cubicBezTo>
                  <a:cubicBezTo>
                    <a:pt x="58" y="36"/>
                    <a:pt x="59" y="38"/>
                    <a:pt x="61" y="36"/>
                  </a:cubicBezTo>
                  <a:cubicBezTo>
                    <a:pt x="63" y="34"/>
                    <a:pt x="65" y="39"/>
                    <a:pt x="68" y="39"/>
                  </a:cubicBezTo>
                  <a:cubicBezTo>
                    <a:pt x="71" y="38"/>
                    <a:pt x="69" y="37"/>
                    <a:pt x="72" y="36"/>
                  </a:cubicBezTo>
                  <a:cubicBezTo>
                    <a:pt x="74" y="35"/>
                    <a:pt x="75" y="39"/>
                    <a:pt x="75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79" y="34"/>
                    <a:pt x="79" y="35"/>
                  </a:cubicBezTo>
                  <a:cubicBezTo>
                    <a:pt x="82" y="40"/>
                    <a:pt x="86" y="53"/>
                    <a:pt x="85" y="55"/>
                  </a:cubicBezTo>
                  <a:cubicBezTo>
                    <a:pt x="84" y="55"/>
                    <a:pt x="83" y="54"/>
                    <a:pt x="83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81" y="58"/>
                    <a:pt x="82" y="60"/>
                    <a:pt x="85" y="60"/>
                  </a:cubicBezTo>
                  <a:cubicBezTo>
                    <a:pt x="83" y="77"/>
                    <a:pt x="69" y="88"/>
                    <a:pt x="69" y="88"/>
                  </a:cubicBezTo>
                  <a:cubicBezTo>
                    <a:pt x="67" y="86"/>
                    <a:pt x="68" y="84"/>
                    <a:pt x="68" y="84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75"/>
                    <a:pt x="69" y="75"/>
                    <a:pt x="69" y="75"/>
                  </a:cubicBezTo>
                  <a:cubicBezTo>
                    <a:pt x="69" y="75"/>
                    <a:pt x="69" y="70"/>
                    <a:pt x="63" y="72"/>
                  </a:cubicBezTo>
                  <a:cubicBezTo>
                    <a:pt x="58" y="74"/>
                    <a:pt x="60" y="74"/>
                    <a:pt x="54" y="74"/>
                  </a:cubicBezTo>
                  <a:cubicBezTo>
                    <a:pt x="48" y="75"/>
                    <a:pt x="49" y="62"/>
                    <a:pt x="49" y="62"/>
                  </a:cubicBezTo>
                  <a:close/>
                  <a:moveTo>
                    <a:pt x="64" y="22"/>
                  </a:moveTo>
                  <a:cubicBezTo>
                    <a:pt x="65" y="22"/>
                    <a:pt x="68" y="23"/>
                    <a:pt x="71" y="26"/>
                  </a:cubicBezTo>
                  <a:cubicBezTo>
                    <a:pt x="69" y="33"/>
                    <a:pt x="65" y="32"/>
                    <a:pt x="65" y="32"/>
                  </a:cubicBezTo>
                  <a:cubicBezTo>
                    <a:pt x="65" y="32"/>
                    <a:pt x="62" y="32"/>
                    <a:pt x="62" y="29"/>
                  </a:cubicBezTo>
                  <a:cubicBezTo>
                    <a:pt x="66" y="27"/>
                    <a:pt x="66" y="27"/>
                    <a:pt x="66" y="27"/>
                  </a:cubicBezTo>
                  <a:cubicBezTo>
                    <a:pt x="66" y="27"/>
                    <a:pt x="64" y="24"/>
                    <a:pt x="64" y="22"/>
                  </a:cubicBezTo>
                  <a:close/>
                  <a:moveTo>
                    <a:pt x="36" y="21"/>
                  </a:moveTo>
                  <a:cubicBezTo>
                    <a:pt x="40" y="17"/>
                    <a:pt x="47" y="17"/>
                    <a:pt x="47" y="18"/>
                  </a:cubicBezTo>
                  <a:cubicBezTo>
                    <a:pt x="46" y="20"/>
                    <a:pt x="44" y="20"/>
                    <a:pt x="44" y="22"/>
                  </a:cubicBezTo>
                  <a:cubicBezTo>
                    <a:pt x="44" y="24"/>
                    <a:pt x="41" y="26"/>
                    <a:pt x="41" y="27"/>
                  </a:cubicBezTo>
                  <a:cubicBezTo>
                    <a:pt x="41" y="28"/>
                    <a:pt x="41" y="32"/>
                    <a:pt x="38" y="29"/>
                  </a:cubicBezTo>
                  <a:cubicBezTo>
                    <a:pt x="35" y="25"/>
                    <a:pt x="32" y="24"/>
                    <a:pt x="33" y="22"/>
                  </a:cubicBezTo>
                  <a:cubicBezTo>
                    <a:pt x="33" y="22"/>
                    <a:pt x="36" y="21"/>
                    <a:pt x="36" y="21"/>
                  </a:cubicBezTo>
                  <a:close/>
                  <a:moveTo>
                    <a:pt x="12" y="74"/>
                  </a:moveTo>
                  <a:cubicBezTo>
                    <a:pt x="12" y="73"/>
                    <a:pt x="11" y="69"/>
                    <a:pt x="11" y="68"/>
                  </a:cubicBezTo>
                  <a:cubicBezTo>
                    <a:pt x="11" y="66"/>
                    <a:pt x="11" y="63"/>
                    <a:pt x="11" y="63"/>
                  </a:cubicBezTo>
                  <a:cubicBezTo>
                    <a:pt x="11" y="63"/>
                    <a:pt x="13" y="61"/>
                    <a:pt x="12" y="60"/>
                  </a:cubicBezTo>
                  <a:cubicBezTo>
                    <a:pt x="11" y="59"/>
                    <a:pt x="11" y="57"/>
                    <a:pt x="11" y="57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8" y="53"/>
                    <a:pt x="7" y="52"/>
                  </a:cubicBezTo>
                  <a:cubicBezTo>
                    <a:pt x="7" y="51"/>
                    <a:pt x="7" y="50"/>
                    <a:pt x="8" y="49"/>
                  </a:cubicBezTo>
                  <a:cubicBezTo>
                    <a:pt x="8" y="48"/>
                    <a:pt x="7" y="46"/>
                    <a:pt x="7" y="45"/>
                  </a:cubicBezTo>
                  <a:cubicBezTo>
                    <a:pt x="15" y="27"/>
                    <a:pt x="28" y="22"/>
                    <a:pt x="28" y="22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6" y="27"/>
                    <a:pt x="25" y="27"/>
                  </a:cubicBezTo>
                  <a:cubicBezTo>
                    <a:pt x="24" y="26"/>
                    <a:pt x="23" y="26"/>
                    <a:pt x="23" y="26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1" y="30"/>
                    <a:pt x="21" y="31"/>
                  </a:cubicBezTo>
                  <a:cubicBezTo>
                    <a:pt x="21" y="32"/>
                    <a:pt x="21" y="33"/>
                    <a:pt x="21" y="33"/>
                  </a:cubicBezTo>
                  <a:cubicBezTo>
                    <a:pt x="21" y="33"/>
                    <a:pt x="24" y="33"/>
                    <a:pt x="24" y="32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5" y="28"/>
                    <a:pt x="30" y="29"/>
                  </a:cubicBezTo>
                  <a:cubicBezTo>
                    <a:pt x="35" y="29"/>
                    <a:pt x="33" y="33"/>
                    <a:pt x="35" y="34"/>
                  </a:cubicBezTo>
                  <a:cubicBezTo>
                    <a:pt x="37" y="34"/>
                    <a:pt x="33" y="37"/>
                    <a:pt x="33" y="39"/>
                  </a:cubicBezTo>
                  <a:cubicBezTo>
                    <a:pt x="32" y="40"/>
                    <a:pt x="31" y="37"/>
                    <a:pt x="31" y="37"/>
                  </a:cubicBezTo>
                  <a:cubicBezTo>
                    <a:pt x="31" y="37"/>
                    <a:pt x="32" y="35"/>
                    <a:pt x="30" y="35"/>
                  </a:cubicBezTo>
                  <a:cubicBezTo>
                    <a:pt x="28" y="35"/>
                    <a:pt x="26" y="39"/>
                    <a:pt x="27" y="38"/>
                  </a:cubicBezTo>
                  <a:cubicBezTo>
                    <a:pt x="28" y="38"/>
                    <a:pt x="30" y="40"/>
                    <a:pt x="29" y="41"/>
                  </a:cubicBezTo>
                  <a:cubicBezTo>
                    <a:pt x="29" y="42"/>
                    <a:pt x="29" y="42"/>
                    <a:pt x="28" y="44"/>
                  </a:cubicBezTo>
                  <a:cubicBezTo>
                    <a:pt x="27" y="46"/>
                    <a:pt x="25" y="48"/>
                    <a:pt x="25" y="48"/>
                  </a:cubicBezTo>
                  <a:cubicBezTo>
                    <a:pt x="25" y="48"/>
                    <a:pt x="24" y="47"/>
                    <a:pt x="24" y="48"/>
                  </a:cubicBezTo>
                  <a:cubicBezTo>
                    <a:pt x="25" y="49"/>
                    <a:pt x="24" y="52"/>
                    <a:pt x="24" y="53"/>
                  </a:cubicBezTo>
                  <a:cubicBezTo>
                    <a:pt x="24" y="54"/>
                    <a:pt x="22" y="52"/>
                    <a:pt x="21" y="50"/>
                  </a:cubicBezTo>
                  <a:cubicBezTo>
                    <a:pt x="21" y="48"/>
                    <a:pt x="19" y="49"/>
                    <a:pt x="18" y="50"/>
                  </a:cubicBezTo>
                  <a:cubicBezTo>
                    <a:pt x="17" y="50"/>
                    <a:pt x="15" y="49"/>
                    <a:pt x="15" y="48"/>
                  </a:cubicBezTo>
                  <a:cubicBezTo>
                    <a:pt x="15" y="47"/>
                    <a:pt x="11" y="50"/>
                    <a:pt x="10" y="51"/>
                  </a:cubicBezTo>
                  <a:cubicBezTo>
                    <a:pt x="9" y="52"/>
                    <a:pt x="9" y="53"/>
                    <a:pt x="11" y="52"/>
                  </a:cubicBezTo>
                  <a:cubicBezTo>
                    <a:pt x="13" y="52"/>
                    <a:pt x="14" y="52"/>
                    <a:pt x="14" y="54"/>
                  </a:cubicBezTo>
                  <a:cubicBezTo>
                    <a:pt x="13" y="55"/>
                    <a:pt x="12" y="54"/>
                    <a:pt x="12" y="55"/>
                  </a:cubicBezTo>
                  <a:cubicBezTo>
                    <a:pt x="12" y="56"/>
                    <a:pt x="14" y="57"/>
                    <a:pt x="14" y="59"/>
                  </a:cubicBezTo>
                  <a:cubicBezTo>
                    <a:pt x="14" y="60"/>
                    <a:pt x="18" y="59"/>
                    <a:pt x="20" y="58"/>
                  </a:cubicBezTo>
                  <a:cubicBezTo>
                    <a:pt x="21" y="58"/>
                    <a:pt x="24" y="57"/>
                    <a:pt x="25" y="59"/>
                  </a:cubicBezTo>
                  <a:cubicBezTo>
                    <a:pt x="25" y="60"/>
                    <a:pt x="29" y="61"/>
                    <a:pt x="30" y="61"/>
                  </a:cubicBezTo>
                  <a:cubicBezTo>
                    <a:pt x="32" y="62"/>
                    <a:pt x="35" y="62"/>
                    <a:pt x="36" y="64"/>
                  </a:cubicBezTo>
                  <a:cubicBezTo>
                    <a:pt x="38" y="65"/>
                    <a:pt x="35" y="68"/>
                    <a:pt x="35" y="69"/>
                  </a:cubicBezTo>
                  <a:cubicBezTo>
                    <a:pt x="35" y="70"/>
                    <a:pt x="33" y="73"/>
                    <a:pt x="33" y="75"/>
                  </a:cubicBezTo>
                  <a:cubicBezTo>
                    <a:pt x="32" y="76"/>
                    <a:pt x="31" y="77"/>
                    <a:pt x="30" y="78"/>
                  </a:cubicBezTo>
                  <a:cubicBezTo>
                    <a:pt x="29" y="78"/>
                    <a:pt x="29" y="80"/>
                    <a:pt x="29" y="80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9" y="83"/>
                    <a:pt x="29" y="86"/>
                    <a:pt x="30" y="87"/>
                  </a:cubicBezTo>
                  <a:cubicBezTo>
                    <a:pt x="30" y="88"/>
                    <a:pt x="27" y="94"/>
                    <a:pt x="27" y="94"/>
                  </a:cubicBezTo>
                  <a:cubicBezTo>
                    <a:pt x="26" y="94"/>
                    <a:pt x="25" y="92"/>
                    <a:pt x="24" y="90"/>
                  </a:cubicBezTo>
                  <a:cubicBezTo>
                    <a:pt x="23" y="89"/>
                    <a:pt x="23" y="88"/>
                    <a:pt x="23" y="86"/>
                  </a:cubicBezTo>
                  <a:cubicBezTo>
                    <a:pt x="23" y="84"/>
                    <a:pt x="21" y="83"/>
                    <a:pt x="21" y="82"/>
                  </a:cubicBezTo>
                  <a:cubicBezTo>
                    <a:pt x="20" y="81"/>
                    <a:pt x="19" y="80"/>
                    <a:pt x="19" y="79"/>
                  </a:cubicBezTo>
                  <a:cubicBezTo>
                    <a:pt x="19" y="78"/>
                    <a:pt x="17" y="76"/>
                    <a:pt x="17" y="76"/>
                  </a:cubicBezTo>
                  <a:cubicBezTo>
                    <a:pt x="17" y="76"/>
                    <a:pt x="13" y="74"/>
                    <a:pt x="12" y="74"/>
                  </a:cubicBezTo>
                  <a:close/>
                  <a:moveTo>
                    <a:pt x="45" y="106"/>
                  </a:moveTo>
                  <a:cubicBezTo>
                    <a:pt x="38" y="106"/>
                    <a:pt x="31" y="105"/>
                    <a:pt x="25" y="102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18" y="98"/>
                    <a:pt x="17" y="98"/>
                    <a:pt x="16" y="97"/>
                  </a:cubicBezTo>
                  <a:cubicBezTo>
                    <a:pt x="18" y="93"/>
                    <a:pt x="18" y="93"/>
                    <a:pt x="18" y="93"/>
                  </a:cubicBezTo>
                  <a:cubicBezTo>
                    <a:pt x="25" y="99"/>
                    <a:pt x="35" y="102"/>
                    <a:pt x="45" y="102"/>
                  </a:cubicBezTo>
                  <a:cubicBezTo>
                    <a:pt x="70" y="102"/>
                    <a:pt x="91" y="82"/>
                    <a:pt x="91" y="57"/>
                  </a:cubicBezTo>
                  <a:cubicBezTo>
                    <a:pt x="91" y="38"/>
                    <a:pt x="79" y="21"/>
                    <a:pt x="62" y="14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6" y="12"/>
                    <a:pt x="68" y="13"/>
                    <a:pt x="68" y="13"/>
                  </a:cubicBezTo>
                  <a:cubicBezTo>
                    <a:pt x="68" y="13"/>
                    <a:pt x="72" y="15"/>
                    <a:pt x="74" y="17"/>
                  </a:cubicBezTo>
                  <a:cubicBezTo>
                    <a:pt x="87" y="25"/>
                    <a:pt x="95" y="40"/>
                    <a:pt x="95" y="56"/>
                  </a:cubicBezTo>
                  <a:cubicBezTo>
                    <a:pt x="95" y="83"/>
                    <a:pt x="72" y="106"/>
                    <a:pt x="45" y="10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62360" tIns="81360" rIns="162360" bIns="8136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919880" y="294120"/>
            <a:ext cx="5754960" cy="700920"/>
          </a:xfrm>
          <a:prstGeom prst="rect">
            <a:avLst/>
          </a:prstGeom>
          <a:noFill/>
          <a:ln w="25560">
            <a:noFill/>
          </a:ln>
        </p:spPr>
        <p:txBody>
          <a:bodyPr lIns="118080" tIns="118080" rIns="118080" bIns="118080" anchor="t" anchorCtr="1">
            <a:noAutofit/>
          </a:bodyPr>
          <a:lstStyle/>
          <a:p>
            <a:pPr indent="0" algn="ctr">
              <a:lnSpc>
                <a:spcPct val="120000"/>
              </a:lnSpc>
              <a:buNone/>
            </a:pPr>
            <a:r>
              <a:rPr lang="es-419" sz="1600" b="1" strike="noStrike" spc="-1">
                <a:solidFill>
                  <a:srgbClr val="8D8D8D"/>
                </a:solidFill>
                <a:latin typeface="Microsoft Yahei"/>
                <a:ea typeface="Microsoft Yahei"/>
              </a:rPr>
              <a:t>ANEXOS — PARÁMETROS Y CASO DE USO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323;p23"/>
          <p:cNvSpPr/>
          <p:nvPr/>
        </p:nvSpPr>
        <p:spPr>
          <a:xfrm>
            <a:off x="7841880" y="1300680"/>
            <a:ext cx="249480" cy="249480"/>
          </a:xfrm>
          <a:custGeom>
            <a:avLst/>
            <a:gdLst>
              <a:gd name="textAreaLeft" fmla="*/ 105120 w 249480"/>
              <a:gd name="textAreaRight" fmla="*/ 144360 w 249480"/>
              <a:gd name="textAreaTop" fmla="*/ 0 h 249480"/>
              <a:gd name="textAreaBottom" fmla="*/ 249840 h 249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9110"/>
                </a:moveTo>
                <a:lnTo>
                  <a:pt x="9110" y="9110"/>
                </a:lnTo>
                <a:lnTo>
                  <a:pt x="9110" y="0"/>
                </a:lnTo>
                <a:lnTo>
                  <a:pt x="12490" y="0"/>
                </a:lnTo>
                <a:lnTo>
                  <a:pt x="12490" y="9110"/>
                </a:lnTo>
                <a:lnTo>
                  <a:pt x="21600" y="9110"/>
                </a:lnTo>
                <a:lnTo>
                  <a:pt x="21600" y="12490"/>
                </a:lnTo>
                <a:lnTo>
                  <a:pt x="12490" y="12490"/>
                </a:lnTo>
                <a:lnTo>
                  <a:pt x="12490" y="21600"/>
                </a:lnTo>
                <a:lnTo>
                  <a:pt x="9110" y="21600"/>
                </a:lnTo>
                <a:lnTo>
                  <a:pt x="9110" y="12490"/>
                </a:lnTo>
                <a:lnTo>
                  <a:pt x="0" y="12490"/>
                </a:lnTo>
                <a:close/>
              </a:path>
            </a:pathLst>
          </a:custGeom>
          <a:solidFill>
            <a:srgbClr val="A5A5A5">
              <a:alpha val="39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324;p23"/>
          <p:cNvSpPr txBox="1"/>
          <p:nvPr/>
        </p:nvSpPr>
        <p:spPr>
          <a:xfrm>
            <a:off x="5416200" y="1486800"/>
            <a:ext cx="3746520" cy="646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419" sz="3600" b="1" strike="noStrike" spc="-1">
                <a:solidFill>
                  <a:srgbClr val="003264"/>
                </a:solidFill>
                <a:latin typeface="Montserrat"/>
                <a:ea typeface="Montserrat"/>
              </a:rPr>
              <a:t>Parámetros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1" name="Google Shape;325;p23"/>
          <p:cNvCxnSpPr/>
          <p:nvPr/>
        </p:nvCxnSpPr>
        <p:spPr>
          <a:xfrm>
            <a:off x="4888440" y="1845360"/>
            <a:ext cx="162360" cy="360"/>
          </a:xfrm>
          <a:prstGeom prst="straightConnector1">
            <a:avLst/>
          </a:prstGeom>
          <a:ln w="28440">
            <a:solidFill>
              <a:srgbClr val="00B0F0"/>
            </a:solidFill>
            <a:miter/>
          </a:ln>
        </p:spPr>
      </p:cxnSp>
      <p:sp>
        <p:nvSpPr>
          <p:cNvPr id="252" name="Google Shape;326;p23"/>
          <p:cNvSpPr/>
          <p:nvPr/>
        </p:nvSpPr>
        <p:spPr>
          <a:xfrm>
            <a:off x="5416200" y="2385720"/>
            <a:ext cx="5650920" cy="3693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s-419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Learning rate: 1×10⁻³  |  Batch size: 32  |  Épocas: 150 (early stopping=15)
Optimizador: AdamW (β1=0.9, β2=0.999)
Regularización: Dropout=0.2, Weight decay=1×10⁻⁴
Framework: PyTorch v2.1.0  |  Semilla: 42
Caso de uso — Rol Compras:
Baseline: Compras → Listado → Proveedores → Pagos Pendientes (4 clics)
DQN adaptado: Compras → Pagos Pendientes → Listado → Proveedores (2 clics)
Ahorro: 50% reducción en ruta para la función más frecuente del rol.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Google Shape;327;p23"/>
          <p:cNvPicPr/>
          <p:nvPr/>
        </p:nvPicPr>
        <p:blipFill>
          <a:blip r:embed="rId2"/>
          <a:srcRect l="28334" r="22821"/>
          <a:stretch/>
        </p:blipFill>
        <p:spPr>
          <a:xfrm>
            <a:off x="786960" y="1021680"/>
            <a:ext cx="3785760" cy="5167440"/>
          </a:xfrm>
          <a:prstGeom prst="rect">
            <a:avLst/>
          </a:prstGeom>
          <a:ln w="2556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1246</Words>
  <Application>Microsoft Office PowerPoint</Application>
  <PresentationFormat>Personalizado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13</vt:i4>
      </vt:variant>
      <vt:variant>
        <vt:lpstr>Títulos de diapositiva</vt:lpstr>
      </vt:variant>
      <vt:variant>
        <vt:i4>13</vt:i4>
      </vt:variant>
    </vt:vector>
  </HeadingPairs>
  <TitlesOfParts>
    <vt:vector size="35" baseType="lpstr">
      <vt:lpstr>Microsoft Yahei</vt:lpstr>
      <vt:lpstr>Arial</vt:lpstr>
      <vt:lpstr>Calibri</vt:lpstr>
      <vt:lpstr>Impact</vt:lpstr>
      <vt:lpstr>Montserrat</vt:lpstr>
      <vt:lpstr>Roboto</vt:lpstr>
      <vt:lpstr>Symbol</vt:lpstr>
      <vt:lpstr>Times New Roman</vt:lpstr>
      <vt:lpstr>Wingdings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Adaptación Dinámica de Interfaces Empresariales con GRU y DQN bajo Restricciones RBAC</vt:lpstr>
      <vt:lpstr>Presentación de PowerPoint</vt:lpstr>
      <vt:lpstr>INTRODUCCIÓN</vt:lpstr>
      <vt:lpstr>INTRODUCCIÓN</vt:lpstr>
      <vt:lpstr>METODOLOGÍA — ARQUITECTURA DEL SISTEMA </vt:lpstr>
      <vt:lpstr>METODOLOGÍA</vt:lpstr>
      <vt:lpstr>METODOLOGÍA</vt:lpstr>
      <vt:lpstr>METODOLOGÍA</vt:lpstr>
      <vt:lpstr>RESULTADOS — COMPARATIVA POR ROL</vt:lpstr>
      <vt:lpstr>RESULTADOS</vt:lpstr>
      <vt:lpstr>RESULTADOS — MÉTRICAS CLAVE</vt:lpstr>
      <vt:lpstr>CONCLUSIÓN</vt:lpstr>
      <vt:lpstr>ANEXOS — PARÁMETROS Y CASO DE USO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Full of Water</cp:lastModifiedBy>
  <cp:revision>1</cp:revision>
  <dcterms:modified xsi:type="dcterms:W3CDTF">2026-06-24T03:25:16Z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Sistem Investigacion</dc:creator>
  <dc:description/>
  <dc:language>en-US</dc:language>
  <cp:lastModifiedBy>Investigación EP Sistemas Juliaca</cp:lastModifiedBy>
  <dcterms:modified xsi:type="dcterms:W3CDTF">2026-06-24T02:20:54Z</dcterms:modified>
  <cp:revision>18</cp:revision>
  <dc:subject/>
  <dc:title>TÍTULO DE LA INVESTIGACIÓN</dc:title>
</cp:coreProperties>
</file>